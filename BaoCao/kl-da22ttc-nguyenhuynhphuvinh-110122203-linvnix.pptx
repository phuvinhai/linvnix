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785" r:id="rId1"/>
  </p:sldMasterIdLst>
  <p:notesMasterIdLst>
    <p:notesMasterId r:id="rId18"/>
  </p:notesMasterIdLst>
  <p:sldIdLst>
    <p:sldId id="256" r:id="rId2"/>
    <p:sldId id="280" r:id="rId3"/>
    <p:sldId id="284" r:id="rId4"/>
    <p:sldId id="279" r:id="rId5"/>
    <p:sldId id="296" r:id="rId6"/>
    <p:sldId id="297" r:id="rId7"/>
    <p:sldId id="285" r:id="rId8"/>
    <p:sldId id="283" r:id="rId9"/>
    <p:sldId id="299" r:id="rId10"/>
    <p:sldId id="287" r:id="rId11"/>
    <p:sldId id="298" r:id="rId12"/>
    <p:sldId id="286" r:id="rId13"/>
    <p:sldId id="289" r:id="rId14"/>
    <p:sldId id="300" r:id="rId15"/>
    <p:sldId id="294" r:id="rId16"/>
    <p:sldId id="293" r:id="rId17"/>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8" userDrawn="1">
          <p15:clr>
            <a:srgbClr val="A4A3A4"/>
          </p15:clr>
        </p15:guide>
        <p15:guide id="2" pos="287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FBFC"/>
    <a:srgbClr val="3B82F6"/>
    <a:srgbClr val="F1F5F9"/>
    <a:srgbClr val="EFF6FF"/>
    <a:srgbClr val="DBEAFE"/>
    <a:srgbClr val="EDE9FE"/>
    <a:srgbClr val="0F172A"/>
    <a:srgbClr val="06B6D4"/>
    <a:srgbClr val="8B5CF6"/>
    <a:srgbClr val="CFFAF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4" d="100"/>
          <a:sy n="54" d="100"/>
        </p:scale>
        <p:origin x="754" y="29"/>
      </p:cViewPr>
      <p:guideLst>
        <p:guide orient="horz" pos="2188"/>
        <p:guide pos="2872"/>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3EFD42F7-718C-4B98-AAEC-167E6DDD60A7}" type="datetimeFigureOut">
              <a:rPr lang="en-US" smtClean="0"/>
              <a:pPr/>
              <a:t>7/7/2026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21B2AA4F-B828-4D7C-AFD3-893933DAFCB4}" type="slidenum">
              <a:rPr lang="en-US" smtClean="0"/>
              <a:pPr/>
              <a:t>‹#›</a:t>
            </a:fld>
            <a:endParaRPr 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Text Placeholder 2"/>
          <p:cNvSpPr>
            <a:spLocks noGrp="1"/>
          </p:cNvSpPr>
          <p:nvPr>
            <p:ph type="body" idx="3"/>
          </p:nvPr>
        </p:nvSpPr>
        <p:spPr/>
        <p:txBody>
          <a:bodyPr/>
          <a:lstStyle/>
          <a:p>
            <a:endParaRPr lang="en-GB" altLang="en-US"/>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93222-F9CF-616A-2B09-40CD10A33D77}"/>
              </a:ext>
            </a:extLst>
          </p:cNvPr>
          <p:cNvSpPr>
            <a:spLocks noGrp="1"/>
          </p:cNvSpPr>
          <p:nvPr>
            <p:ph type="ctrTitle"/>
          </p:nvPr>
        </p:nvSpPr>
        <p:spPr>
          <a:xfrm>
            <a:off x="2286000" y="1683545"/>
            <a:ext cx="13716000" cy="3581400"/>
          </a:xfrm>
        </p:spPr>
        <p:txBody>
          <a:bodyPr anchor="b"/>
          <a:lstStyle>
            <a:lvl1pPr algn="ctr">
              <a:defRPr sz="9000"/>
            </a:lvl1pPr>
          </a:lstStyle>
          <a:p>
            <a:r>
              <a:rPr lang="en-US"/>
              <a:t>Click to edit Master title style</a:t>
            </a:r>
          </a:p>
        </p:txBody>
      </p:sp>
      <p:sp>
        <p:nvSpPr>
          <p:cNvPr id="3" name="Subtitle 2">
            <a:extLst>
              <a:ext uri="{FF2B5EF4-FFF2-40B4-BE49-F238E27FC236}">
                <a16:creationId xmlns:a16="http://schemas.microsoft.com/office/drawing/2014/main" id="{647FEE88-51AF-8322-EAA5-0566098E95B1}"/>
              </a:ext>
            </a:extLst>
          </p:cNvPr>
          <p:cNvSpPr>
            <a:spLocks noGrp="1"/>
          </p:cNvSpPr>
          <p:nvPr>
            <p:ph type="subTitle" idx="1"/>
          </p:nvPr>
        </p:nvSpPr>
        <p:spPr>
          <a:xfrm>
            <a:off x="2286000" y="5403057"/>
            <a:ext cx="13716000" cy="2483643"/>
          </a:xfrm>
        </p:spPr>
        <p:txBody>
          <a:bodyPr/>
          <a:lstStyle>
            <a:lvl1pPr marL="0" indent="0" algn="ctr">
              <a:buNone/>
              <a:defRPr sz="3600"/>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US"/>
              <a:t>Click to edit Master subtitle style</a:t>
            </a:r>
          </a:p>
        </p:txBody>
      </p:sp>
      <p:sp>
        <p:nvSpPr>
          <p:cNvPr id="4" name="Date Placeholder 3">
            <a:extLst>
              <a:ext uri="{FF2B5EF4-FFF2-40B4-BE49-F238E27FC236}">
                <a16:creationId xmlns:a16="http://schemas.microsoft.com/office/drawing/2014/main" id="{28FCDD6B-C9DC-E61C-12B9-0375AFBC5D37}"/>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F00A87D1-6521-215F-322B-7D25849F798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DA91A5-8A96-0823-0BCF-07788CF40222}"/>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4989418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10EBA-2439-7E7C-EF57-F91FB86A4A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F8039E1-8A28-6E0F-21DA-F8D1C2B838E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6EB76FF-95F5-7FF7-572B-A9977866ED47}"/>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43116EF6-F708-C44A-502F-0FC350081F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5E573E-B9D8-7D27-8BAC-26150DDA44CE}"/>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6174446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DA2D5-EF96-1C8C-03B7-2C5D3075721C}"/>
              </a:ext>
            </a:extLst>
          </p:cNvPr>
          <p:cNvSpPr>
            <a:spLocks noGrp="1"/>
          </p:cNvSpPr>
          <p:nvPr>
            <p:ph type="title"/>
          </p:nvPr>
        </p:nvSpPr>
        <p:spPr>
          <a:xfrm>
            <a:off x="1247775" y="2564608"/>
            <a:ext cx="15773400" cy="4279106"/>
          </a:xfrm>
        </p:spPr>
        <p:txBody>
          <a:bodyPr anchor="b"/>
          <a:lstStyle>
            <a:lvl1pPr>
              <a:defRPr sz="9000"/>
            </a:lvl1pPr>
          </a:lstStyle>
          <a:p>
            <a:r>
              <a:rPr lang="en-US"/>
              <a:t>Click to edit Master title style</a:t>
            </a:r>
          </a:p>
        </p:txBody>
      </p:sp>
      <p:sp>
        <p:nvSpPr>
          <p:cNvPr id="3" name="Text Placeholder 2">
            <a:extLst>
              <a:ext uri="{FF2B5EF4-FFF2-40B4-BE49-F238E27FC236}">
                <a16:creationId xmlns:a16="http://schemas.microsoft.com/office/drawing/2014/main" id="{E50CC105-42A8-970A-A119-F12C053F62A5}"/>
              </a:ext>
            </a:extLst>
          </p:cNvPr>
          <p:cNvSpPr>
            <a:spLocks noGrp="1"/>
          </p:cNvSpPr>
          <p:nvPr>
            <p:ph type="body" idx="1"/>
          </p:nvPr>
        </p:nvSpPr>
        <p:spPr>
          <a:xfrm>
            <a:off x="1247775" y="6884195"/>
            <a:ext cx="15773400" cy="2250281"/>
          </a:xfrm>
        </p:spPr>
        <p:txBody>
          <a:bodyPr/>
          <a:lstStyle>
            <a:lvl1pPr marL="0" indent="0">
              <a:buNone/>
              <a:defRPr sz="3600">
                <a:solidFill>
                  <a:schemeClr val="tx1">
                    <a:tint val="75000"/>
                  </a:schemeClr>
                </a:solidFill>
              </a:defRPr>
            </a:lvl1pPr>
            <a:lvl2pPr marL="685800" indent="0">
              <a:buNone/>
              <a:defRPr sz="3000">
                <a:solidFill>
                  <a:schemeClr val="tx1">
                    <a:tint val="75000"/>
                  </a:schemeClr>
                </a:solidFill>
              </a:defRPr>
            </a:lvl2pPr>
            <a:lvl3pPr marL="1371600" indent="0">
              <a:buNone/>
              <a:defRPr sz="2700">
                <a:solidFill>
                  <a:schemeClr val="tx1">
                    <a:tint val="75000"/>
                  </a:schemeClr>
                </a:solidFill>
              </a:defRPr>
            </a:lvl3pPr>
            <a:lvl4pPr marL="2057400" indent="0">
              <a:buNone/>
              <a:defRPr sz="2400">
                <a:solidFill>
                  <a:schemeClr val="tx1">
                    <a:tint val="75000"/>
                  </a:schemeClr>
                </a:solidFill>
              </a:defRPr>
            </a:lvl4pPr>
            <a:lvl5pPr marL="2743200" indent="0">
              <a:buNone/>
              <a:defRPr sz="2400">
                <a:solidFill>
                  <a:schemeClr val="tx1">
                    <a:tint val="75000"/>
                  </a:schemeClr>
                </a:solidFill>
              </a:defRPr>
            </a:lvl5pPr>
            <a:lvl6pPr marL="3429000" indent="0">
              <a:buNone/>
              <a:defRPr sz="2400">
                <a:solidFill>
                  <a:schemeClr val="tx1">
                    <a:tint val="75000"/>
                  </a:schemeClr>
                </a:solidFill>
              </a:defRPr>
            </a:lvl6pPr>
            <a:lvl7pPr marL="4114800" indent="0">
              <a:buNone/>
              <a:defRPr sz="2400">
                <a:solidFill>
                  <a:schemeClr val="tx1">
                    <a:tint val="75000"/>
                  </a:schemeClr>
                </a:solidFill>
              </a:defRPr>
            </a:lvl7pPr>
            <a:lvl8pPr marL="4800600" indent="0">
              <a:buNone/>
              <a:defRPr sz="2400">
                <a:solidFill>
                  <a:schemeClr val="tx1">
                    <a:tint val="75000"/>
                  </a:schemeClr>
                </a:solidFill>
              </a:defRPr>
            </a:lvl8pPr>
            <a:lvl9pPr marL="5486400" indent="0">
              <a:buNone/>
              <a:defRPr sz="24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7E96A0F-0F2B-1700-807A-853115D94CAD}"/>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5ECFF58A-546A-F807-1187-580F008C0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C5FC146-45CF-6FF5-3EE8-0EE1E7C9C657}"/>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6720953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40627-0279-69FB-CE5A-92D9583D02B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568398-F82D-4CA4-A85A-26E18514E978}"/>
              </a:ext>
            </a:extLst>
          </p:cNvPr>
          <p:cNvSpPr>
            <a:spLocks noGrp="1"/>
          </p:cNvSpPr>
          <p:nvPr>
            <p:ph sz="half" idx="1"/>
          </p:nvPr>
        </p:nvSpPr>
        <p:spPr>
          <a:xfrm>
            <a:off x="1257300" y="2738438"/>
            <a:ext cx="7772400" cy="65270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7AB478A-670E-D909-CE48-6183EC7AC2B3}"/>
              </a:ext>
            </a:extLst>
          </p:cNvPr>
          <p:cNvSpPr>
            <a:spLocks noGrp="1"/>
          </p:cNvSpPr>
          <p:nvPr>
            <p:ph sz="half" idx="2"/>
          </p:nvPr>
        </p:nvSpPr>
        <p:spPr>
          <a:xfrm>
            <a:off x="9258300" y="2738438"/>
            <a:ext cx="7772400" cy="65270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442D4AA-2A31-3EB3-6843-70055F858116}"/>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6" name="Footer Placeholder 5">
            <a:extLst>
              <a:ext uri="{FF2B5EF4-FFF2-40B4-BE49-F238E27FC236}">
                <a16:creationId xmlns:a16="http://schemas.microsoft.com/office/drawing/2014/main" id="{FC378A41-DC1C-9255-F5C9-079A9DCB0A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3140AE-E6A1-3361-9B0D-ABB9113C8E9F}"/>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47910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53601-2B00-A44D-2921-85CE6C485DA3}"/>
              </a:ext>
            </a:extLst>
          </p:cNvPr>
          <p:cNvSpPr>
            <a:spLocks noGrp="1"/>
          </p:cNvSpPr>
          <p:nvPr>
            <p:ph type="title"/>
          </p:nvPr>
        </p:nvSpPr>
        <p:spPr>
          <a:xfrm>
            <a:off x="1259682" y="547688"/>
            <a:ext cx="15773400" cy="1988345"/>
          </a:xfrm>
        </p:spPr>
        <p:txBody>
          <a:bodyPr/>
          <a:lstStyle/>
          <a:p>
            <a:r>
              <a:rPr lang="en-US"/>
              <a:t>Click to edit Master title style</a:t>
            </a:r>
          </a:p>
        </p:txBody>
      </p:sp>
      <p:sp>
        <p:nvSpPr>
          <p:cNvPr id="3" name="Text Placeholder 2">
            <a:extLst>
              <a:ext uri="{FF2B5EF4-FFF2-40B4-BE49-F238E27FC236}">
                <a16:creationId xmlns:a16="http://schemas.microsoft.com/office/drawing/2014/main" id="{4B1FAA44-8CD7-1034-4D4F-313DC8F4AF86}"/>
              </a:ext>
            </a:extLst>
          </p:cNvPr>
          <p:cNvSpPr>
            <a:spLocks noGrp="1"/>
          </p:cNvSpPr>
          <p:nvPr>
            <p:ph type="body" idx="1"/>
          </p:nvPr>
        </p:nvSpPr>
        <p:spPr>
          <a:xfrm>
            <a:off x="1259683" y="2521745"/>
            <a:ext cx="7736681"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a:extLst>
              <a:ext uri="{FF2B5EF4-FFF2-40B4-BE49-F238E27FC236}">
                <a16:creationId xmlns:a16="http://schemas.microsoft.com/office/drawing/2014/main" id="{C164724D-2F3B-E5D9-73E9-B935029A5B6C}"/>
              </a:ext>
            </a:extLst>
          </p:cNvPr>
          <p:cNvSpPr>
            <a:spLocks noGrp="1"/>
          </p:cNvSpPr>
          <p:nvPr>
            <p:ph sz="half" idx="2"/>
          </p:nvPr>
        </p:nvSpPr>
        <p:spPr>
          <a:xfrm>
            <a:off x="1259683" y="3757613"/>
            <a:ext cx="7736681" cy="55268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D28EC4A-0F90-6B82-9D36-0A8A75496B9B}"/>
              </a:ext>
            </a:extLst>
          </p:cNvPr>
          <p:cNvSpPr>
            <a:spLocks noGrp="1"/>
          </p:cNvSpPr>
          <p:nvPr>
            <p:ph type="body" sz="quarter" idx="3"/>
          </p:nvPr>
        </p:nvSpPr>
        <p:spPr>
          <a:xfrm>
            <a:off x="9258300" y="2521745"/>
            <a:ext cx="7774782"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5">
            <a:extLst>
              <a:ext uri="{FF2B5EF4-FFF2-40B4-BE49-F238E27FC236}">
                <a16:creationId xmlns:a16="http://schemas.microsoft.com/office/drawing/2014/main" id="{C368B311-EFDA-F097-72CA-AA5E49E3F0FB}"/>
              </a:ext>
            </a:extLst>
          </p:cNvPr>
          <p:cNvSpPr>
            <a:spLocks noGrp="1"/>
          </p:cNvSpPr>
          <p:nvPr>
            <p:ph sz="quarter" idx="4"/>
          </p:nvPr>
        </p:nvSpPr>
        <p:spPr>
          <a:xfrm>
            <a:off x="9258300" y="3757613"/>
            <a:ext cx="7774782" cy="55268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BC7CAB3-297F-397A-6E17-81102A308A82}"/>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8" name="Footer Placeholder 7">
            <a:extLst>
              <a:ext uri="{FF2B5EF4-FFF2-40B4-BE49-F238E27FC236}">
                <a16:creationId xmlns:a16="http://schemas.microsoft.com/office/drawing/2014/main" id="{BCE3873C-306C-42D5-B795-5BD3F8B5AD7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9C9CD79-A17A-EE61-86B2-8938C30B283F}"/>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9612526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611B55-2C72-5E44-6A51-00441015569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00712BA-20AA-441F-A2B1-557ABAD7ECDA}"/>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4" name="Footer Placeholder 3">
            <a:extLst>
              <a:ext uri="{FF2B5EF4-FFF2-40B4-BE49-F238E27FC236}">
                <a16:creationId xmlns:a16="http://schemas.microsoft.com/office/drawing/2014/main" id="{31C6C80D-017C-3140-10EF-083D2E37533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B7C29EC-13F8-5704-C92D-73E169FA7E24}"/>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990499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1CB3EF1-38D3-768F-61C0-8689B135E8F4}"/>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3" name="Footer Placeholder 2">
            <a:extLst>
              <a:ext uri="{FF2B5EF4-FFF2-40B4-BE49-F238E27FC236}">
                <a16:creationId xmlns:a16="http://schemas.microsoft.com/office/drawing/2014/main" id="{C8D26FE5-21D2-3648-B90E-6CFACE78B9F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5886E6D-AEE6-D9A9-33E1-A7D20CC8FA3D}"/>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4172310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C357E-4A95-3E49-7EFB-447CAF76655E}"/>
              </a:ext>
            </a:extLst>
          </p:cNvPr>
          <p:cNvSpPr>
            <a:spLocks noGrp="1"/>
          </p:cNvSpPr>
          <p:nvPr>
            <p:ph type="title"/>
          </p:nvPr>
        </p:nvSpPr>
        <p:spPr>
          <a:xfrm>
            <a:off x="1259683" y="685800"/>
            <a:ext cx="5898356" cy="2400300"/>
          </a:xfrm>
        </p:spPr>
        <p:txBody>
          <a:bodyPr anchor="b"/>
          <a:lstStyle>
            <a:lvl1pPr>
              <a:defRPr sz="4800"/>
            </a:lvl1pPr>
          </a:lstStyle>
          <a:p>
            <a:r>
              <a:rPr lang="en-US"/>
              <a:t>Click to edit Master title style</a:t>
            </a:r>
          </a:p>
        </p:txBody>
      </p:sp>
      <p:sp>
        <p:nvSpPr>
          <p:cNvPr id="3" name="Content Placeholder 2">
            <a:extLst>
              <a:ext uri="{FF2B5EF4-FFF2-40B4-BE49-F238E27FC236}">
                <a16:creationId xmlns:a16="http://schemas.microsoft.com/office/drawing/2014/main" id="{7A5368E0-F5D6-9AA4-BF4D-D305CFB97705}"/>
              </a:ext>
            </a:extLst>
          </p:cNvPr>
          <p:cNvSpPr>
            <a:spLocks noGrp="1"/>
          </p:cNvSpPr>
          <p:nvPr>
            <p:ph idx="1"/>
          </p:nvPr>
        </p:nvSpPr>
        <p:spPr>
          <a:xfrm>
            <a:off x="7774782" y="1481138"/>
            <a:ext cx="9258300" cy="7310438"/>
          </a:xfrm>
        </p:spPr>
        <p:txBody>
          <a:bodyPr/>
          <a:lstStyle>
            <a:lvl1pPr>
              <a:defRPr sz="4800"/>
            </a:lvl1pPr>
            <a:lvl2pPr>
              <a:defRPr sz="4200"/>
            </a:lvl2pPr>
            <a:lvl3pPr>
              <a:defRPr sz="3600"/>
            </a:lvl3pPr>
            <a:lvl4pPr>
              <a:defRPr sz="3000"/>
            </a:lvl4pPr>
            <a:lvl5pPr>
              <a:defRPr sz="3000"/>
            </a:lvl5pPr>
            <a:lvl6pPr>
              <a:defRPr sz="3000"/>
            </a:lvl6pPr>
            <a:lvl7pPr>
              <a:defRPr sz="3000"/>
            </a:lvl7pPr>
            <a:lvl8pPr>
              <a:defRPr sz="3000"/>
            </a:lvl8pPr>
            <a:lvl9pPr>
              <a:defRPr sz="3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07BCC57-6826-7B4D-6822-E71585FA2D04}"/>
              </a:ext>
            </a:extLst>
          </p:cNvPr>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a:extLst>
              <a:ext uri="{FF2B5EF4-FFF2-40B4-BE49-F238E27FC236}">
                <a16:creationId xmlns:a16="http://schemas.microsoft.com/office/drawing/2014/main" id="{BC0F0922-2B48-243F-B31A-51BFF8E3569C}"/>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6" name="Footer Placeholder 5">
            <a:extLst>
              <a:ext uri="{FF2B5EF4-FFF2-40B4-BE49-F238E27FC236}">
                <a16:creationId xmlns:a16="http://schemas.microsoft.com/office/drawing/2014/main" id="{FBB2F95A-C487-0062-66FB-733ED1330F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325DC4A-FEED-211A-5735-991195A4A16F}"/>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41794624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72CA4-6F91-9EA7-15E0-13CA342ADAE6}"/>
              </a:ext>
            </a:extLst>
          </p:cNvPr>
          <p:cNvSpPr>
            <a:spLocks noGrp="1"/>
          </p:cNvSpPr>
          <p:nvPr>
            <p:ph type="title"/>
          </p:nvPr>
        </p:nvSpPr>
        <p:spPr>
          <a:xfrm>
            <a:off x="1259683" y="685800"/>
            <a:ext cx="5898356" cy="2400300"/>
          </a:xfrm>
        </p:spPr>
        <p:txBody>
          <a:bodyPr anchor="b"/>
          <a:lstStyle>
            <a:lvl1pPr>
              <a:defRPr sz="4800"/>
            </a:lvl1pPr>
          </a:lstStyle>
          <a:p>
            <a:r>
              <a:rPr lang="en-US"/>
              <a:t>Click to edit Master title style</a:t>
            </a:r>
          </a:p>
        </p:txBody>
      </p:sp>
      <p:sp>
        <p:nvSpPr>
          <p:cNvPr id="3" name="Picture Placeholder 2">
            <a:extLst>
              <a:ext uri="{FF2B5EF4-FFF2-40B4-BE49-F238E27FC236}">
                <a16:creationId xmlns:a16="http://schemas.microsoft.com/office/drawing/2014/main" id="{13DA5AA1-883A-C86C-9451-8957C2E186D7}"/>
              </a:ext>
            </a:extLst>
          </p:cNvPr>
          <p:cNvSpPr>
            <a:spLocks noGrp="1"/>
          </p:cNvSpPr>
          <p:nvPr>
            <p:ph type="pic" idx="1"/>
          </p:nvPr>
        </p:nvSpPr>
        <p:spPr>
          <a:xfrm>
            <a:off x="7774782" y="1481138"/>
            <a:ext cx="9258300" cy="7310438"/>
          </a:xfrm>
        </p:spPr>
        <p:txBody>
          <a:bodyPr/>
          <a:lstStyle>
            <a:lvl1pPr marL="0" indent="0">
              <a:buNone/>
              <a:defRPr sz="4800"/>
            </a:lvl1pPr>
            <a:lvl2pPr marL="685800" indent="0">
              <a:buNone/>
              <a:defRPr sz="4200"/>
            </a:lvl2pPr>
            <a:lvl3pPr marL="1371600" indent="0">
              <a:buNone/>
              <a:defRPr sz="3600"/>
            </a:lvl3pPr>
            <a:lvl4pPr marL="2057400" indent="0">
              <a:buNone/>
              <a:defRPr sz="3000"/>
            </a:lvl4pPr>
            <a:lvl5pPr marL="2743200" indent="0">
              <a:buNone/>
              <a:defRPr sz="3000"/>
            </a:lvl5pPr>
            <a:lvl6pPr marL="3429000" indent="0">
              <a:buNone/>
              <a:defRPr sz="3000"/>
            </a:lvl6pPr>
            <a:lvl7pPr marL="4114800" indent="0">
              <a:buNone/>
              <a:defRPr sz="3000"/>
            </a:lvl7pPr>
            <a:lvl8pPr marL="4800600" indent="0">
              <a:buNone/>
              <a:defRPr sz="3000"/>
            </a:lvl8pPr>
            <a:lvl9pPr marL="5486400" indent="0">
              <a:buNone/>
              <a:defRPr sz="3000"/>
            </a:lvl9pPr>
          </a:lstStyle>
          <a:p>
            <a:endParaRPr lang="en-US"/>
          </a:p>
        </p:txBody>
      </p:sp>
      <p:sp>
        <p:nvSpPr>
          <p:cNvPr id="4" name="Text Placeholder 3">
            <a:extLst>
              <a:ext uri="{FF2B5EF4-FFF2-40B4-BE49-F238E27FC236}">
                <a16:creationId xmlns:a16="http://schemas.microsoft.com/office/drawing/2014/main" id="{23F59157-C310-EADF-5860-A5CAB18FFFDF}"/>
              </a:ext>
            </a:extLst>
          </p:cNvPr>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a:extLst>
              <a:ext uri="{FF2B5EF4-FFF2-40B4-BE49-F238E27FC236}">
                <a16:creationId xmlns:a16="http://schemas.microsoft.com/office/drawing/2014/main" id="{F6C8F0B7-9721-C55A-7584-EAA53474BDE0}"/>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6" name="Footer Placeholder 5">
            <a:extLst>
              <a:ext uri="{FF2B5EF4-FFF2-40B4-BE49-F238E27FC236}">
                <a16:creationId xmlns:a16="http://schemas.microsoft.com/office/drawing/2014/main" id="{37595622-041C-8C0B-3121-FB64F292FA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478C03-0ABC-6EC2-9A84-88FF9DEDD9B1}"/>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4652365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450EC-A581-70C0-7AE4-AD912A16840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3291509-6533-AD47-AE3F-CBE2A4F81EA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487295-32C4-BE6F-12E3-A6B833E6278F}"/>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759647A2-0D2B-A4C2-0A57-55723AB2FB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130883-F135-4DD2-2459-B35CC91EF51E}"/>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4027656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31105C-CE83-9462-F403-B036CDDF586A}"/>
              </a:ext>
            </a:extLst>
          </p:cNvPr>
          <p:cNvSpPr>
            <a:spLocks noGrp="1"/>
          </p:cNvSpPr>
          <p:nvPr>
            <p:ph type="title" orient="vert"/>
          </p:nvPr>
        </p:nvSpPr>
        <p:spPr>
          <a:xfrm>
            <a:off x="13087350" y="547688"/>
            <a:ext cx="3943350" cy="871775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8CB6AB-3C9A-CE0E-6773-B3533514BDF6}"/>
              </a:ext>
            </a:extLst>
          </p:cNvPr>
          <p:cNvSpPr>
            <a:spLocks noGrp="1"/>
          </p:cNvSpPr>
          <p:nvPr>
            <p:ph type="body" orient="vert" idx="1"/>
          </p:nvPr>
        </p:nvSpPr>
        <p:spPr>
          <a:xfrm>
            <a:off x="1257300" y="547688"/>
            <a:ext cx="11601450" cy="871775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17DB42-6B08-9DFD-A1D5-FD0B6D1DBEB2}"/>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A95B3588-D771-AE35-3E0D-39A7CF425A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32B4FD-53F8-1E42-08E7-878CDE0FB58D}"/>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517703204"/>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01B9021-1974-30E6-43C1-F4D3C85DAA7C}"/>
              </a:ext>
            </a:extLst>
          </p:cNvPr>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E433AC52-5D95-CAD1-FA80-80BDF8ED7412}"/>
              </a:ext>
            </a:extLst>
          </p:cNvPr>
          <p:cNvSpPr>
            <a:spLocks noGrp="1"/>
          </p:cNvSpPr>
          <p:nvPr>
            <p:ph type="body" idx="1"/>
          </p:nvPr>
        </p:nvSpPr>
        <p:spPr>
          <a:xfrm>
            <a:off x="1257300" y="2738438"/>
            <a:ext cx="15773400" cy="652700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FC8F5062-DE7C-A041-E97E-0B2C715396A6}"/>
              </a:ext>
            </a:extLst>
          </p:cNvPr>
          <p:cNvSpPr>
            <a:spLocks noGrp="1"/>
          </p:cNvSpPr>
          <p:nvPr>
            <p:ph type="dt" sz="half" idx="2"/>
          </p:nvPr>
        </p:nvSpPr>
        <p:spPr>
          <a:xfrm>
            <a:off x="1257300" y="9534526"/>
            <a:ext cx="4114800" cy="547688"/>
          </a:xfrm>
          <a:prstGeom prst="rect">
            <a:avLst/>
          </a:prstGeom>
        </p:spPr>
        <p:txBody>
          <a:bodyPr vert="horz" lIns="91440" tIns="45720" rIns="91440" bIns="45720" rtlCol="0" anchor="ctr"/>
          <a:lstStyle>
            <a:lvl1pPr algn="l">
              <a:defRPr sz="1800">
                <a:solidFill>
                  <a:schemeClr val="tx1">
                    <a:tint val="75000"/>
                  </a:schemeClr>
                </a:solidFill>
                <a:latin typeface="Arial" panose="020B0604020202020204" pitchFamily="34" charset="0"/>
              </a:defRPr>
            </a:lvl1pPr>
          </a:lstStyle>
          <a:p>
            <a:fld id="{1D8BD707-D9CF-40AE-B4C6-C98DA3205C09}" type="datetimeFigureOut">
              <a:rPr lang="en-US" smtClean="0"/>
              <a:pPr/>
              <a:t>7/7/2026</a:t>
            </a:fld>
            <a:endParaRPr lang="en-US" dirty="0"/>
          </a:p>
        </p:txBody>
      </p:sp>
      <p:sp>
        <p:nvSpPr>
          <p:cNvPr id="5" name="Footer Placeholder 4">
            <a:extLst>
              <a:ext uri="{FF2B5EF4-FFF2-40B4-BE49-F238E27FC236}">
                <a16:creationId xmlns:a16="http://schemas.microsoft.com/office/drawing/2014/main" id="{E4F3A831-BFCD-2FFB-D4F9-225F00D4BC16}"/>
              </a:ext>
            </a:extLst>
          </p:cNvPr>
          <p:cNvSpPr>
            <a:spLocks noGrp="1"/>
          </p:cNvSpPr>
          <p:nvPr>
            <p:ph type="ftr" sz="quarter" idx="3"/>
          </p:nvPr>
        </p:nvSpPr>
        <p:spPr>
          <a:xfrm>
            <a:off x="6057900" y="9534526"/>
            <a:ext cx="6172200" cy="547688"/>
          </a:xfrm>
          <a:prstGeom prst="rect">
            <a:avLst/>
          </a:prstGeom>
        </p:spPr>
        <p:txBody>
          <a:bodyPr vert="horz" lIns="91440" tIns="45720" rIns="91440" bIns="45720" rtlCol="0" anchor="ctr"/>
          <a:lstStyle>
            <a:lvl1pPr algn="ctr">
              <a:defRPr sz="1800">
                <a:solidFill>
                  <a:schemeClr val="tx1">
                    <a:tint val="75000"/>
                  </a:schemeClr>
                </a:solidFill>
                <a:latin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AC60FAF4-D2DE-D7B7-F90F-F574722C110C}"/>
              </a:ext>
            </a:extLst>
          </p:cNvPr>
          <p:cNvSpPr>
            <a:spLocks noGrp="1"/>
          </p:cNvSpPr>
          <p:nvPr>
            <p:ph type="sldNum" sz="quarter" idx="4"/>
          </p:nvPr>
        </p:nvSpPr>
        <p:spPr>
          <a:xfrm>
            <a:off x="12915900" y="9534526"/>
            <a:ext cx="4114800" cy="547688"/>
          </a:xfrm>
          <a:prstGeom prst="rect">
            <a:avLst/>
          </a:prstGeom>
        </p:spPr>
        <p:txBody>
          <a:bodyPr vert="horz" lIns="91440" tIns="45720" rIns="91440" bIns="45720" rtlCol="0" anchor="ctr"/>
          <a:lstStyle>
            <a:lvl1pPr algn="r">
              <a:defRPr sz="1800">
                <a:solidFill>
                  <a:schemeClr val="tx1">
                    <a:tint val="75000"/>
                  </a:schemeClr>
                </a:solidFill>
                <a:latin typeface="Arial" panose="020B0604020202020204" pitchFamily="34" charset="0"/>
              </a:defRPr>
            </a:lvl1pPr>
          </a:lstStyle>
          <a:p>
            <a:fld id="{B6F15528-21DE-4FAA-801E-634DDDAF4B2B}" type="slidenum">
              <a:rPr lang="en-US" smtClean="0"/>
              <a:pPr/>
              <a:t>‹#›</a:t>
            </a:fld>
            <a:endParaRPr lang="en-US" dirty="0"/>
          </a:p>
        </p:txBody>
      </p:sp>
    </p:spTree>
    <p:extLst>
      <p:ext uri="{BB962C8B-B14F-4D97-AF65-F5344CB8AC3E}">
        <p14:creationId xmlns:p14="http://schemas.microsoft.com/office/powerpoint/2010/main" val="2243208275"/>
      </p:ext>
    </p:extLst>
  </p:cSld>
  <p:clrMap bg1="lt1" tx1="dk1" bg2="lt2" tx2="dk2" accent1="accent1" accent2="accent2" accent3="accent3" accent4="accent4" accent5="accent5" accent6="accent6" hlink="hlink" folHlink="folHlink"/>
  <p:sldLayoutIdLst>
    <p:sldLayoutId id="2147483786" r:id="rId1"/>
    <p:sldLayoutId id="2147483787" r:id="rId2"/>
    <p:sldLayoutId id="2147483788" r:id="rId3"/>
    <p:sldLayoutId id="2147483789" r:id="rId4"/>
    <p:sldLayoutId id="2147483790" r:id="rId5"/>
    <p:sldLayoutId id="2147483791" r:id="rId6"/>
    <p:sldLayoutId id="2147483792" r:id="rId7"/>
    <p:sldLayoutId id="2147483793" r:id="rId8"/>
    <p:sldLayoutId id="2147483794" r:id="rId9"/>
    <p:sldLayoutId id="2147483795" r:id="rId10"/>
    <p:sldLayoutId id="2147483796" r:id="rId11"/>
  </p:sldLayoutIdLst>
  <p:txStyles>
    <p:titleStyle>
      <a:lvl1pPr algn="l" defTabSz="1371600" rtl="0" eaLnBrk="1" latinLnBrk="0" hangingPunct="1">
        <a:lnSpc>
          <a:spcPct val="90000"/>
        </a:lnSpc>
        <a:spcBef>
          <a:spcPct val="0"/>
        </a:spcBef>
        <a:buNone/>
        <a:defRPr sz="6600" kern="1200">
          <a:solidFill>
            <a:schemeClr val="tx1"/>
          </a:solidFill>
          <a:latin typeface="Arial" panose="020B0604020202020204" pitchFamily="34" charset="0"/>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4200" kern="1200">
          <a:solidFill>
            <a:schemeClr val="tx1"/>
          </a:solidFill>
          <a:latin typeface="Arial" panose="020B0604020202020204" pitchFamily="34" charset="0"/>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Arial" panose="020B0604020202020204" pitchFamily="34" charset="0"/>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Arial" panose="020B0604020202020204" pitchFamily="34" charset="0"/>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Arial" panose="020B0604020202020204" pitchFamily="34" charset="0"/>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Arial" panose="020B0604020202020204" pitchFamily="34" charset="0"/>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7.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8.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9.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4.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6.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54" name="TextBox 54"/>
          <p:cNvSpPr txBox="1"/>
          <p:nvPr/>
        </p:nvSpPr>
        <p:spPr>
          <a:xfrm>
            <a:off x="7452674" y="1448693"/>
            <a:ext cx="4521200" cy="269240"/>
          </a:xfrm>
          <a:prstGeom prst="rect">
            <a:avLst/>
          </a:prstGeom>
        </p:spPr>
        <p:txBody>
          <a:bodyPr wrap="square" lIns="0" tIns="0" rIns="0" bIns="0" rtlCol="0" anchor="t">
            <a:spAutoFit/>
          </a:bodyPr>
          <a:lstStyle/>
          <a:p>
            <a:pPr algn="l">
              <a:lnSpc>
                <a:spcPts val="2100"/>
              </a:lnSpc>
            </a:pPr>
            <a:r>
              <a:rPr lang="vi-VN" altLang="en-GB" sz="2000"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BÁO CÁO ĐỒ ÁN TỐT NGHIỆP</a:t>
            </a:r>
          </a:p>
        </p:txBody>
      </p:sp>
      <p:sp>
        <p:nvSpPr>
          <p:cNvPr id="56" name="TextBox 56"/>
          <p:cNvSpPr txBox="1"/>
          <p:nvPr/>
        </p:nvSpPr>
        <p:spPr>
          <a:xfrm>
            <a:off x="5029200" y="2271289"/>
            <a:ext cx="9063990" cy="3313856"/>
          </a:xfrm>
          <a:prstGeom prst="rect">
            <a:avLst/>
          </a:prstGeom>
        </p:spPr>
        <p:txBody>
          <a:bodyPr wrap="square" lIns="0" tIns="0" rIns="0" bIns="0" rtlCol="0" anchor="t">
            <a:spAutoFit/>
          </a:bodyPr>
          <a:lstStyle/>
          <a:p>
            <a:pPr algn="ctr">
              <a:lnSpc>
                <a:spcPts val="8855"/>
              </a:lnSpc>
            </a:pPr>
            <a:r>
              <a:rPr lang="vi-VN"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 xml:space="preserve">ỨNG DỤNG HỖ TRỢ </a:t>
            </a:r>
            <a:endParaRPr lang="en-US"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endParaRPr>
          </a:p>
          <a:p>
            <a:pPr algn="ctr">
              <a:lnSpc>
                <a:spcPts val="8855"/>
              </a:lnSpc>
            </a:pPr>
            <a:r>
              <a:rPr lang="vi-VN"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 xml:space="preserve">DẠY HỌC TIẾNG VIỆT </a:t>
            </a:r>
            <a:endParaRPr lang="en-US"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endParaRPr>
          </a:p>
          <a:p>
            <a:pPr algn="ctr">
              <a:lnSpc>
                <a:spcPts val="8855"/>
              </a:lnSpc>
            </a:pPr>
            <a:r>
              <a:rPr lang="vi-VN"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VỚI TRÍ TUỆ NHÂN TẠO</a:t>
            </a:r>
          </a:p>
        </p:txBody>
      </p:sp>
      <p:sp>
        <p:nvSpPr>
          <p:cNvPr id="63" name="TextBox 63"/>
          <p:cNvSpPr txBox="1"/>
          <p:nvPr/>
        </p:nvSpPr>
        <p:spPr>
          <a:xfrm>
            <a:off x="7775575" y="7350646"/>
            <a:ext cx="3799198" cy="1103764"/>
          </a:xfrm>
          <a:prstGeom prst="rect">
            <a:avLst/>
          </a:prstGeom>
        </p:spPr>
        <p:txBody>
          <a:bodyPr wrap="square" lIns="0" tIns="0" rIns="0" bIns="0" rtlCol="0" anchor="t">
            <a:spAutoFit/>
          </a:bodyPr>
          <a:lstStyle/>
          <a:p>
            <a:pPr algn="ctr">
              <a:lnSpc>
                <a:spcPts val="2190"/>
              </a:lnSpc>
            </a:pPr>
            <a:r>
              <a:rPr lang="vi-VN" altLang="en-US"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Sinh viên thực hiện:</a:t>
            </a:r>
          </a:p>
          <a:p>
            <a:pPr algn="ctr">
              <a:lnSpc>
                <a:spcPts val="2190"/>
              </a:lnSpc>
            </a:pPr>
            <a:r>
              <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Họ Tên:</a:t>
            </a:r>
            <a:r>
              <a:rPr lang="en-US"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 xml:space="preserve"> Nguyễn Huỳnh </a:t>
            </a:r>
            <a:r>
              <a:rPr lang="en-US" altLang="en-US" dirty="0" err="1">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Phú</a:t>
            </a:r>
            <a:r>
              <a:rPr lang="en-US"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 xml:space="preserve"> Vinh</a:t>
            </a:r>
            <a:endPar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endParaRPr>
          </a:p>
          <a:p>
            <a:pPr algn="ctr">
              <a:lnSpc>
                <a:spcPts val="2190"/>
              </a:lnSpc>
            </a:pPr>
            <a:r>
              <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Lớp:</a:t>
            </a:r>
            <a:r>
              <a:rPr lang="en-US"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 xml:space="preserve"> DA22TTC</a:t>
            </a:r>
            <a:endPar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endParaRPr>
          </a:p>
          <a:p>
            <a:pPr algn="ctr">
              <a:lnSpc>
                <a:spcPts val="2190"/>
              </a:lnSpc>
            </a:pPr>
            <a:r>
              <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MSSV:</a:t>
            </a:r>
            <a:r>
              <a:rPr lang="en-US"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 xml:space="preserve"> 110122203</a:t>
            </a:r>
            <a:endPar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endParaRPr>
          </a:p>
        </p:txBody>
      </p:sp>
      <p:sp>
        <p:nvSpPr>
          <p:cNvPr id="70" name="TextBox 63"/>
          <p:cNvSpPr txBox="1"/>
          <p:nvPr/>
        </p:nvSpPr>
        <p:spPr>
          <a:xfrm>
            <a:off x="7892415" y="6345123"/>
            <a:ext cx="3337560" cy="546303"/>
          </a:xfrm>
          <a:prstGeom prst="rect">
            <a:avLst/>
          </a:prstGeom>
        </p:spPr>
        <p:txBody>
          <a:bodyPr wrap="square" lIns="0" tIns="0" rIns="0" bIns="0" rtlCol="0" anchor="t">
            <a:spAutoFit/>
          </a:bodyPr>
          <a:lstStyle/>
          <a:p>
            <a:pPr algn="ctr">
              <a:lnSpc>
                <a:spcPts val="2190"/>
              </a:lnSpc>
            </a:pPr>
            <a:r>
              <a:rPr lang="en-GB" altLang="vi-VN"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Gi</a:t>
            </a:r>
            <a:r>
              <a:rPr lang="vi-VN" altLang="en-GB"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ảng viên hướng dẫn</a:t>
            </a:r>
            <a:endParaRPr lang="vi-VN" altLang="en-US"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endParaRPr>
          </a:p>
          <a:p>
            <a:pPr algn="ctr">
              <a:lnSpc>
                <a:spcPts val="2190"/>
              </a:lnSpc>
            </a:pPr>
            <a:r>
              <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TS. Nguyễn Bảo Ân</a:t>
            </a:r>
          </a:p>
        </p:txBody>
      </p:sp>
      <p:grpSp>
        <p:nvGrpSpPr>
          <p:cNvPr id="98" name="Group 97"/>
          <p:cNvGrpSpPr/>
          <p:nvPr/>
        </p:nvGrpSpPr>
        <p:grpSpPr>
          <a:xfrm>
            <a:off x="-334514" y="8897718"/>
            <a:ext cx="17593814" cy="1800241"/>
            <a:chOff x="-527" y="14012"/>
            <a:chExt cx="27707" cy="2835"/>
          </a:xfrm>
        </p:grpSpPr>
        <p:grpSp>
          <p:nvGrpSpPr>
            <p:cNvPr id="92" name="Group 23"/>
            <p:cNvGrpSpPr/>
            <p:nvPr/>
          </p:nvGrpSpPr>
          <p:grpSpPr>
            <a:xfrm>
              <a:off x="-527" y="14012"/>
              <a:ext cx="27707" cy="2835"/>
              <a:chOff x="-22" y="-57150"/>
              <a:chExt cx="4633784" cy="474130"/>
            </a:xfrm>
          </p:grpSpPr>
          <p:sp>
            <p:nvSpPr>
              <p:cNvPr id="93" name="Freeform 24"/>
              <p:cNvSpPr/>
              <p:nvPr/>
            </p:nvSpPr>
            <p:spPr>
              <a:xfrm>
                <a:off x="-22" y="4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94"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95" name="TextBox 57"/>
            <p:cNvSpPr txBox="1"/>
            <p:nvPr/>
          </p:nvSpPr>
          <p:spPr>
            <a:xfrm>
              <a:off x="1664" y="14940"/>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96" name="TextBox 40"/>
            <p:cNvSpPr txBox="1"/>
            <p:nvPr/>
          </p:nvSpPr>
          <p:spPr>
            <a:xfrm>
              <a:off x="24974" y="14951"/>
              <a:ext cx="1384" cy="407"/>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01</a:t>
              </a:r>
            </a:p>
          </p:txBody>
        </p:sp>
      </p:grpSp>
      <p:grpSp>
        <p:nvGrpSpPr>
          <p:cNvPr id="105" name="Group 104"/>
          <p:cNvGrpSpPr/>
          <p:nvPr/>
        </p:nvGrpSpPr>
        <p:grpSpPr>
          <a:xfrm>
            <a:off x="16383000" y="383540"/>
            <a:ext cx="1520190" cy="782955"/>
            <a:chOff x="25800" y="604"/>
            <a:chExt cx="2394" cy="1233"/>
          </a:xfrm>
        </p:grpSpPr>
        <p:grpSp>
          <p:nvGrpSpPr>
            <p:cNvPr id="102" name="Group 101"/>
            <p:cNvGrpSpPr/>
            <p:nvPr/>
          </p:nvGrpSpPr>
          <p:grpSpPr>
            <a:xfrm>
              <a:off x="25800" y="604"/>
              <a:ext cx="2394" cy="1233"/>
              <a:chOff x="8279827" y="265057"/>
              <a:chExt cx="1648297" cy="863121"/>
            </a:xfrm>
          </p:grpSpPr>
          <p:pic>
            <p:nvPicPr>
              <p:cNvPr id="103" name="Picture 102" descr="tvu"/>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104" name="Picture 103" descr="A logo with a black background  Description automatically generated"/>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19" name="TextBox 19"/>
          <p:cNvSpPr txBox="1"/>
          <p:nvPr/>
        </p:nvSpPr>
        <p:spPr>
          <a:xfrm>
            <a:off x="1056232" y="1726189"/>
            <a:ext cx="8115300" cy="927818"/>
          </a:xfrm>
          <a:prstGeom prst="rect">
            <a:avLst/>
          </a:prstGeom>
        </p:spPr>
        <p:txBody>
          <a:bodyPr lIns="0" tIns="0" rIns="0" bIns="0" rtlCol="0" anchor="t">
            <a:spAutoFit/>
          </a:bodyPr>
          <a:lstStyle/>
          <a:p>
            <a:pPr algn="l">
              <a:lnSpc>
                <a:spcPts val="7700"/>
              </a:lnSpc>
            </a:pPr>
            <a:r>
              <a:rPr lang="vi-VN" altLang="en-US" sz="6415"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Nội dung</a:t>
            </a:r>
          </a:p>
        </p:txBody>
      </p:sp>
      <p:grpSp>
        <p:nvGrpSpPr>
          <p:cNvPr id="21" name="Group 21"/>
          <p:cNvGrpSpPr/>
          <p:nvPr/>
        </p:nvGrpSpPr>
        <p:grpSpPr>
          <a:xfrm>
            <a:off x="918855" y="3633223"/>
            <a:ext cx="4299884" cy="3264332"/>
            <a:chOff x="0" y="0"/>
            <a:chExt cx="1225758" cy="930555"/>
          </a:xfrm>
        </p:grpSpPr>
        <p:sp>
          <p:nvSpPr>
            <p:cNvPr id="22" name="Freeform 22"/>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EEF2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23" name="TextBox 23"/>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grpSp>
        <p:nvGrpSpPr>
          <p:cNvPr id="24" name="Group 24"/>
          <p:cNvGrpSpPr/>
          <p:nvPr/>
        </p:nvGrpSpPr>
        <p:grpSpPr>
          <a:xfrm>
            <a:off x="6084982" y="3700036"/>
            <a:ext cx="4299884" cy="3264332"/>
            <a:chOff x="0" y="0"/>
            <a:chExt cx="1225758" cy="930555"/>
          </a:xfrm>
        </p:grpSpPr>
        <p:sp>
          <p:nvSpPr>
            <p:cNvPr id="25" name="Freeform 25"/>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F5F3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26" name="TextBox 26"/>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grpSp>
        <p:nvGrpSpPr>
          <p:cNvPr id="27" name="Group 27"/>
          <p:cNvGrpSpPr/>
          <p:nvPr/>
        </p:nvGrpSpPr>
        <p:grpSpPr>
          <a:xfrm>
            <a:off x="11397783" y="3700036"/>
            <a:ext cx="4299884" cy="3264332"/>
            <a:chOff x="0" y="0"/>
            <a:chExt cx="1225758" cy="930555"/>
          </a:xfrm>
        </p:grpSpPr>
        <p:sp>
          <p:nvSpPr>
            <p:cNvPr id="28" name="Freeform 28"/>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ECFE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29" name="TextBox 29"/>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30" name="TextBox 30"/>
          <p:cNvSpPr txBox="1"/>
          <p:nvPr/>
        </p:nvSpPr>
        <p:spPr>
          <a:xfrm>
            <a:off x="1297464" y="4968752"/>
            <a:ext cx="3542665" cy="1327992"/>
          </a:xfrm>
          <a:prstGeom prst="rect">
            <a:avLst/>
          </a:prstGeom>
        </p:spPr>
        <p:txBody>
          <a:bodyPr wrap="square" lIns="0" tIns="0" rIns="0" bIns="0" rtlCol="0" anchor="t">
            <a:spAutoFit/>
          </a:bodyPr>
          <a:lstStyle/>
          <a:p>
            <a:pPr>
              <a:lnSpc>
                <a:spcPct val="150000"/>
              </a:lnSpc>
            </a:pPr>
            <a:r>
              <a:rPr lang="vi-VN" sz="2000" dirty="0">
                <a:solidFill>
                  <a:srgbClr val="0F172A"/>
                </a:solidFill>
                <a:latin typeface="Arial" panose="020B0604020202020204" pitchFamily="34" charset="0"/>
                <a:cs typeface="Arial" panose="020B0604020202020204" pitchFamily="34" charset="0"/>
                <a:sym typeface="+mn-ea"/>
              </a:rPr>
              <a:t>Đề tài, tiếng Việt và CEFR, nền tảng AI.</a:t>
            </a:r>
          </a:p>
        </p:txBody>
      </p:sp>
      <p:sp>
        <p:nvSpPr>
          <p:cNvPr id="31" name="TextBox 31"/>
          <p:cNvSpPr txBox="1"/>
          <p:nvPr/>
        </p:nvSpPr>
        <p:spPr>
          <a:xfrm>
            <a:off x="1371600" y="3883876"/>
            <a:ext cx="2236970" cy="1076960"/>
          </a:xfrm>
          <a:prstGeom prst="rect">
            <a:avLst/>
          </a:prstGeom>
        </p:spPr>
        <p:txBody>
          <a:bodyPr lIns="0" tIns="0" rIns="0" bIns="0" rtlCol="0" anchor="t">
            <a:spAutoFit/>
          </a:bodyPr>
          <a:lstStyle/>
          <a:p>
            <a:pPr algn="l">
              <a:lnSpc>
                <a:spcPts val="8400"/>
              </a:lnSpc>
            </a:pPr>
            <a:r>
              <a:rPr lang="vi-VN" altLang="en-US" sz="7000" b="1" dirty="0">
                <a:solidFill>
                  <a:srgbClr val="4F46E5"/>
                </a:solidFill>
                <a:latin typeface="Arial" panose="020B0604020202020204" pitchFamily="34" charset="0"/>
                <a:ea typeface="Poppins Bold" panose="00000800000000000000"/>
                <a:cs typeface="Arial" panose="020B0604020202020204" pitchFamily="34" charset="0"/>
                <a:sym typeface="Poppins Bold" panose="00000800000000000000"/>
              </a:rPr>
              <a:t>01</a:t>
            </a:r>
          </a:p>
        </p:txBody>
      </p:sp>
      <p:sp>
        <p:nvSpPr>
          <p:cNvPr id="32" name="TextBox 32"/>
          <p:cNvSpPr txBox="1"/>
          <p:nvPr/>
        </p:nvSpPr>
        <p:spPr>
          <a:xfrm>
            <a:off x="2490085" y="4285318"/>
            <a:ext cx="1854200" cy="368935"/>
          </a:xfrm>
          <a:prstGeom prst="rect">
            <a:avLst/>
          </a:prstGeom>
        </p:spPr>
        <p:txBody>
          <a:bodyPr wrap="square" lIns="0" tIns="0" rIns="0" bIns="0" rtlCol="0" anchor="t">
            <a:spAutoFit/>
          </a:bodyPr>
          <a:lstStyle/>
          <a:p>
            <a:pPr algn="l">
              <a:lnSpc>
                <a:spcPct val="100000"/>
              </a:lnSpc>
            </a:pPr>
            <a:r>
              <a:rPr lang="vi-VN" altLang="en-US"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Tổng quan</a:t>
            </a:r>
            <a:endParaRPr lang="vi-VN" altLang="en-GB"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endParaRPr>
          </a:p>
        </p:txBody>
      </p:sp>
      <p:sp>
        <p:nvSpPr>
          <p:cNvPr id="33" name="TextBox 33"/>
          <p:cNvSpPr txBox="1"/>
          <p:nvPr/>
        </p:nvSpPr>
        <p:spPr>
          <a:xfrm>
            <a:off x="6506927" y="3883876"/>
            <a:ext cx="2013185" cy="1076960"/>
          </a:xfrm>
          <a:prstGeom prst="rect">
            <a:avLst/>
          </a:prstGeom>
        </p:spPr>
        <p:txBody>
          <a:bodyPr lIns="0" tIns="0" rIns="0" bIns="0" rtlCol="0" anchor="t">
            <a:spAutoFit/>
          </a:bodyPr>
          <a:lstStyle/>
          <a:p>
            <a:pPr algn="l">
              <a:lnSpc>
                <a:spcPts val="8400"/>
              </a:lnSpc>
            </a:pPr>
            <a:r>
              <a:rPr lang="vi-VN" altLang="en-US" sz="7000" b="1" dirty="0">
                <a:solidFill>
                  <a:srgbClr val="7C3AED"/>
                </a:solidFill>
                <a:latin typeface="Arial" panose="020B0604020202020204" pitchFamily="34" charset="0"/>
                <a:ea typeface="Poppins Bold" panose="00000800000000000000"/>
                <a:cs typeface="Arial" panose="020B0604020202020204" pitchFamily="34" charset="0"/>
                <a:sym typeface="Poppins Bold" panose="00000800000000000000"/>
              </a:rPr>
              <a:t>02</a:t>
            </a:r>
          </a:p>
        </p:txBody>
      </p:sp>
      <p:sp>
        <p:nvSpPr>
          <p:cNvPr id="34" name="TextBox 34"/>
          <p:cNvSpPr txBox="1"/>
          <p:nvPr/>
        </p:nvSpPr>
        <p:spPr>
          <a:xfrm>
            <a:off x="7717243" y="4147749"/>
            <a:ext cx="2400000" cy="485518"/>
          </a:xfrm>
          <a:prstGeom prst="rect">
            <a:avLst/>
          </a:prstGeom>
        </p:spPr>
        <p:txBody>
          <a:bodyPr wrap="square" lIns="0" tIns="0" rIns="0" bIns="0" rtlCol="0" anchor="t">
            <a:spAutoFit/>
          </a:bodyPr>
          <a:lstStyle/>
          <a:p>
            <a:pPr algn="l">
              <a:lnSpc>
                <a:spcPct val="150000"/>
              </a:lnSpc>
            </a:pPr>
            <a:r>
              <a:rPr lang="vi-VN"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Thiết kế hệ thống</a:t>
            </a:r>
          </a:p>
        </p:txBody>
      </p:sp>
      <p:sp>
        <p:nvSpPr>
          <p:cNvPr id="35" name="TextBox 35"/>
          <p:cNvSpPr txBox="1"/>
          <p:nvPr/>
        </p:nvSpPr>
        <p:spPr>
          <a:xfrm>
            <a:off x="6506927" y="5027136"/>
            <a:ext cx="3725545" cy="866327"/>
          </a:xfrm>
          <a:prstGeom prst="rect">
            <a:avLst/>
          </a:prstGeom>
        </p:spPr>
        <p:txBody>
          <a:bodyPr wrap="square" lIns="0" tIns="0" rIns="0" bIns="0" rtlCol="0" anchor="t">
            <a:spAutoFit/>
          </a:bodyPr>
          <a:lstStyle/>
          <a:p>
            <a:pPr algn="l">
              <a:lnSpc>
                <a:spcPct val="150000"/>
              </a:lnSpc>
            </a:pPr>
            <a:r>
              <a:rPr lang="vi-VN" sz="2000" dirty="0">
                <a:solidFill>
                  <a:srgbClr val="0F172A"/>
                </a:solidFill>
                <a:latin typeface="Arial" panose="020B0604020202020204" pitchFamily="34" charset="0"/>
                <a:cs typeface="Arial" panose="020B0604020202020204" pitchFamily="34" charset="0"/>
              </a:rPr>
              <a:t>Kiến trúc, đối tượng sử dụng, 4 tính năng AI, CSDL, triển khai.</a:t>
            </a:r>
          </a:p>
        </p:txBody>
      </p:sp>
      <p:sp>
        <p:nvSpPr>
          <p:cNvPr id="36" name="TextBox 36"/>
          <p:cNvSpPr txBox="1"/>
          <p:nvPr/>
        </p:nvSpPr>
        <p:spPr>
          <a:xfrm>
            <a:off x="11887200" y="3857522"/>
            <a:ext cx="2409425" cy="1076960"/>
          </a:xfrm>
          <a:prstGeom prst="rect">
            <a:avLst/>
          </a:prstGeom>
        </p:spPr>
        <p:txBody>
          <a:bodyPr lIns="0" tIns="0" rIns="0" bIns="0" rtlCol="0" anchor="t">
            <a:spAutoFit/>
          </a:bodyPr>
          <a:lstStyle/>
          <a:p>
            <a:pPr algn="l">
              <a:lnSpc>
                <a:spcPts val="8400"/>
              </a:lnSpc>
            </a:pPr>
            <a:r>
              <a:rPr lang="vi-VN" altLang="en-US" sz="7000" b="1" dirty="0">
                <a:solidFill>
                  <a:srgbClr val="0891B2"/>
                </a:solidFill>
                <a:latin typeface="Arial" panose="020B0604020202020204" pitchFamily="34" charset="0"/>
                <a:ea typeface="Poppins Bold" panose="00000800000000000000"/>
                <a:cs typeface="Arial" panose="020B0604020202020204" pitchFamily="34" charset="0"/>
                <a:sym typeface="Poppins Bold" panose="00000800000000000000"/>
              </a:rPr>
              <a:t>03</a:t>
            </a:r>
          </a:p>
        </p:txBody>
      </p:sp>
      <p:sp>
        <p:nvSpPr>
          <p:cNvPr id="38" name="TextBox 38"/>
          <p:cNvSpPr txBox="1"/>
          <p:nvPr/>
        </p:nvSpPr>
        <p:spPr>
          <a:xfrm>
            <a:off x="11931049" y="4968752"/>
            <a:ext cx="3594100" cy="866327"/>
          </a:xfrm>
          <a:prstGeom prst="rect">
            <a:avLst/>
          </a:prstGeom>
        </p:spPr>
        <p:txBody>
          <a:bodyPr wrap="square" lIns="0" tIns="0" rIns="0" bIns="0" rtlCol="0" anchor="t">
            <a:spAutoFit/>
          </a:bodyPr>
          <a:lstStyle/>
          <a:p>
            <a:pPr algn="l">
              <a:lnSpc>
                <a:spcPct val="150000"/>
              </a:lnSpc>
            </a:pPr>
            <a:r>
              <a:rPr lang="vi-VN" sz="2000" dirty="0">
                <a:solidFill>
                  <a:srgbClr val="0F172A"/>
                </a:solidFill>
                <a:latin typeface="Arial" panose="020B0604020202020204" pitchFamily="34" charset="0"/>
                <a:cs typeface="Arial" panose="020B0604020202020204" pitchFamily="34" charset="0"/>
              </a:rPr>
              <a:t>Kết quả, hướng phát triển, demo.</a:t>
            </a:r>
          </a:p>
        </p:txBody>
      </p:sp>
      <p:sp>
        <p:nvSpPr>
          <p:cNvPr id="63" name="TextBox 34"/>
          <p:cNvSpPr txBox="1"/>
          <p:nvPr/>
        </p:nvSpPr>
        <p:spPr>
          <a:xfrm>
            <a:off x="13091913" y="4263935"/>
            <a:ext cx="2409424" cy="369332"/>
          </a:xfrm>
          <a:prstGeom prst="rect">
            <a:avLst/>
          </a:prstGeom>
        </p:spPr>
        <p:txBody>
          <a:bodyPr wrap="square" lIns="0" tIns="0" rIns="0" bIns="0" rtlCol="0" anchor="t">
            <a:spAutoFit/>
          </a:bodyPr>
          <a:lstStyle/>
          <a:p>
            <a:pPr algn="l">
              <a:lnSpc>
                <a:spcPct val="100000"/>
              </a:lnSpc>
            </a:pPr>
            <a:r>
              <a:rPr lang="vi-VN" altLang="en-US"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 xml:space="preserve">Kết quả </a:t>
            </a:r>
            <a:r>
              <a:rPr lang="en-US" altLang="en-US" sz="2400" dirty="0" err="1">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và</a:t>
            </a:r>
            <a:r>
              <a:rPr lang="vi-VN" altLang="en-US"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 xml:space="preserve"> Demo</a:t>
            </a:r>
          </a:p>
        </p:txBody>
      </p:sp>
      <p:grpSp>
        <p:nvGrpSpPr>
          <p:cNvPr id="70" name="Group 69"/>
          <p:cNvGrpSpPr/>
          <p:nvPr/>
        </p:nvGrpSpPr>
        <p:grpSpPr>
          <a:xfrm>
            <a:off x="-304800" y="9114790"/>
            <a:ext cx="17564099" cy="1583055"/>
            <a:chOff x="-527" y="14354"/>
            <a:chExt cx="27707" cy="2493"/>
          </a:xfrm>
        </p:grpSpPr>
        <p:grpSp>
          <p:nvGrpSpPr>
            <p:cNvPr id="64" name="Group 23"/>
            <p:cNvGrpSpPr/>
            <p:nvPr/>
          </p:nvGrpSpPr>
          <p:grpSpPr>
            <a:xfrm>
              <a:off x="-527" y="14354"/>
              <a:ext cx="27707" cy="2493"/>
              <a:chOff x="0" y="0"/>
              <a:chExt cx="4633762" cy="416940"/>
            </a:xfrm>
          </p:grpSpPr>
          <p:sp>
            <p:nvSpPr>
              <p:cNvPr id="65"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66"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a:t>
              </a:r>
              <a:r>
                <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2</a:t>
              </a:r>
            </a:p>
          </p:txBody>
        </p:sp>
      </p:grpSp>
      <p:grpSp>
        <p:nvGrpSpPr>
          <p:cNvPr id="2" name="Group 1">
            <a:extLst>
              <a:ext uri="{FF2B5EF4-FFF2-40B4-BE49-F238E27FC236}">
                <a16:creationId xmlns:a16="http://schemas.microsoft.com/office/drawing/2014/main" id="{AE5CD46B-DD9D-AC0B-564F-4A351BE83DCF}"/>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59AAA1C0-6A15-5089-2CB9-28619832EFBF}"/>
                </a:ext>
              </a:extLst>
            </p:cNvPr>
            <p:cNvGrpSpPr/>
            <p:nvPr/>
          </p:nvGrpSpPr>
          <p:grpSpPr>
            <a:xfrm>
              <a:off x="25800" y="604"/>
              <a:ext cx="2394" cy="1233"/>
              <a:chOff x="8279827" y="265057"/>
              <a:chExt cx="1648297" cy="863121"/>
            </a:xfrm>
          </p:grpSpPr>
          <p:pic>
            <p:nvPicPr>
              <p:cNvPr id="5" name="Picture 4" descr="tvu">
                <a:extLst>
                  <a:ext uri="{FF2B5EF4-FFF2-40B4-BE49-F238E27FC236}">
                    <a16:creationId xmlns:a16="http://schemas.microsoft.com/office/drawing/2014/main" id="{CD46AA21-2261-BDD5-5FBB-E969EBCEB5A2}"/>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6" name="Picture 5" descr="A logo with a black background  Description automatically generated">
                <a:extLst>
                  <a:ext uri="{FF2B5EF4-FFF2-40B4-BE49-F238E27FC236}">
                    <a16:creationId xmlns:a16="http://schemas.microsoft.com/office/drawing/2014/main" id="{1C9C3397-7E38-DCC6-09A5-D112D9A0FDC9}"/>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01 · TỔNG QUAN</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Tổng quan đề tài</a:t>
            </a:r>
          </a:p>
        </p:txBody>
      </p:sp>
      <p:sp>
        <p:nvSpPr>
          <p:cNvPr id="303" name="Bullets"/>
          <p:cNvSpPr txBox="1"/>
          <p:nvPr/>
        </p:nvSpPr>
        <p:spPr>
          <a:xfrm>
            <a:off x="1176337" y="2960000"/>
            <a:ext cx="1608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400" dirty="0">
                <a:solidFill>
                  <a:srgbClr val="1F2937"/>
                </a:solidFill>
                <a:latin typeface="Arial" panose="020B0604020202020204" pitchFamily="34" charset="0"/>
                <a:cs typeface="Arial" panose="020B0604020202020204" pitchFamily="34" charset="0"/>
                <a:sym typeface="Poppins" panose="00000500000000000000"/>
              </a:rPr>
              <a:t>Học liệu số tiếng Việt còn ít, học viên khó luyện giao tiếp thật.</a:t>
            </a:r>
          </a:p>
          <a:p>
            <a:pPr marL="457200" indent="-457200" algn="l">
              <a:lnSpc>
                <a:spcPct val="118000"/>
              </a:lnSpc>
              <a:spcBef>
                <a:spcPts val="500"/>
              </a:spcBef>
              <a:spcAft>
                <a:spcPts val="500"/>
              </a:spcAft>
              <a:buFont typeface="Arial"/>
              <a:buAutoNum type="arabicPeriod"/>
            </a:pPr>
            <a:r>
              <a:rPr lang="vi-VN" sz="2400" dirty="0">
                <a:solidFill>
                  <a:srgbClr val="1F2937"/>
                </a:solidFill>
                <a:latin typeface="Arial" panose="020B0604020202020204" pitchFamily="34" charset="0"/>
                <a:cs typeface="Arial" panose="020B0604020202020204" pitchFamily="34" charset="0"/>
                <a:sym typeface="Poppins" panose="00000500000000000000"/>
              </a:rPr>
              <a:t>Mục tiêu: nền tảng học tiếng Việt theo cấp độ, có AI hỗ trợ đúng ngữ cảnh.</a:t>
            </a:r>
          </a:p>
          <a:p>
            <a:pPr marL="457200" indent="-457200" algn="l">
              <a:lnSpc>
                <a:spcPct val="118000"/>
              </a:lnSpc>
              <a:spcBef>
                <a:spcPts val="500"/>
              </a:spcBef>
              <a:spcAft>
                <a:spcPts val="500"/>
              </a:spcAft>
              <a:buFont typeface="Arial"/>
              <a:buAutoNum type="arabicPeriod"/>
            </a:pPr>
            <a:r>
              <a:rPr lang="vi-VN" sz="2400" dirty="0">
                <a:solidFill>
                  <a:srgbClr val="1F2937"/>
                </a:solidFill>
                <a:latin typeface="Arial" panose="020B0604020202020204" pitchFamily="34" charset="0"/>
                <a:cs typeface="Arial" panose="020B0604020202020204" pitchFamily="34" charset="0"/>
                <a:sym typeface="Poppins" panose="00000500000000000000"/>
              </a:rPr>
              <a:t>3 thành phần: Ứng dụng di động, Trang quản trị, Backend dùng chung.</a:t>
            </a:r>
          </a:p>
          <a:p>
            <a:pPr marL="457200" indent="-457200" algn="l">
              <a:lnSpc>
                <a:spcPct val="118000"/>
              </a:lnSpc>
              <a:spcBef>
                <a:spcPts val="500"/>
              </a:spcBef>
              <a:spcAft>
                <a:spcPts val="500"/>
              </a:spcAft>
              <a:buFont typeface="Arial"/>
              <a:buAutoNum type="arabicPeriod"/>
            </a:pPr>
            <a:r>
              <a:rPr lang="vi-VN" sz="2400" dirty="0">
                <a:solidFill>
                  <a:srgbClr val="1F2937"/>
                </a:solidFill>
                <a:latin typeface="Arial" panose="020B0604020202020204" pitchFamily="34" charset="0"/>
                <a:cs typeface="Arial" panose="020B0604020202020204" pitchFamily="34" charset="0"/>
                <a:sym typeface="Poppins" panose="00000500000000000000"/>
              </a:rPr>
              <a:t>Công nghệ: Flutter, React, NestJS, PostgreSQL, Redis.</a:t>
            </a:r>
          </a:p>
        </p:txBody>
      </p:sp>
      <p:grpSp>
        <p:nvGrpSpPr>
          <p:cNvPr id="3" name="Group 2">
            <a:extLst>
              <a:ext uri="{FF2B5EF4-FFF2-40B4-BE49-F238E27FC236}">
                <a16:creationId xmlns:a16="http://schemas.microsoft.com/office/drawing/2014/main" id="{CEE0BC2B-7537-577E-5EC7-A4C075ED0CDC}"/>
              </a:ext>
            </a:extLst>
          </p:cNvPr>
          <p:cNvGrpSpPr/>
          <p:nvPr/>
        </p:nvGrpSpPr>
        <p:grpSpPr>
          <a:xfrm>
            <a:off x="1056640" y="383540"/>
            <a:ext cx="16846550" cy="782955"/>
            <a:chOff x="1664" y="604"/>
            <a:chExt cx="26530" cy="1233"/>
          </a:xfrm>
        </p:grpSpPr>
        <p:grpSp>
          <p:nvGrpSpPr>
            <p:cNvPr id="5" name="Group 4">
              <a:extLst>
                <a:ext uri="{FF2B5EF4-FFF2-40B4-BE49-F238E27FC236}">
                  <a16:creationId xmlns:a16="http://schemas.microsoft.com/office/drawing/2014/main" id="{F0946A7D-A184-8B82-F91A-A6638CEB5AB6}"/>
                </a:ext>
              </a:extLst>
            </p:cNvPr>
            <p:cNvGrpSpPr/>
            <p:nvPr/>
          </p:nvGrpSpPr>
          <p:grpSpPr>
            <a:xfrm>
              <a:off x="25800" y="604"/>
              <a:ext cx="2394" cy="1233"/>
              <a:chOff x="8279827" y="265057"/>
              <a:chExt cx="1648297" cy="863121"/>
            </a:xfrm>
          </p:grpSpPr>
          <p:pic>
            <p:nvPicPr>
              <p:cNvPr id="6" name="Picture 5" descr="tvu">
                <a:extLst>
                  <a:ext uri="{FF2B5EF4-FFF2-40B4-BE49-F238E27FC236}">
                    <a16:creationId xmlns:a16="http://schemas.microsoft.com/office/drawing/2014/main" id="{F2086814-483A-BC70-9A76-42A01D067606}"/>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7" name="Picture 6" descr="A logo with a black background  Description automatically generated">
                <a:extLst>
                  <a:ext uri="{FF2B5EF4-FFF2-40B4-BE49-F238E27FC236}">
                    <a16:creationId xmlns:a16="http://schemas.microsoft.com/office/drawing/2014/main" id="{24C45110-2F1C-3616-1324-87651E9FE4A3}"/>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a:t>
              </a:r>
              <a:r>
                <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3</a:t>
              </a: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01 · TỔNG QUAN</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Đặc trưng tiếng Việt và khung CEFR</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CEFR chia 6 bậc A1-C2, Việt Nam có Thông tư 17/2015 tương ứng.</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6 thanh điệu, đổi thanh là đổi nghĩa: "ma, má, mà, mả, mã, mạ".</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3 vùng phương ngữ Bắc, Trung, Nam, khác nhau chủ yếu ở phát âm.</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Người học hay sai: thanh điệu, phụ âm cuối, loại từ, trật tự từ.</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[Bảng 6 thanh điệu / bản đồ 3 vùng phương ngữ]</a:t>
            </a:r>
          </a:p>
        </p:txBody>
      </p:sp>
      <p:grpSp>
        <p:nvGrpSpPr>
          <p:cNvPr id="2" name="Group 1">
            <a:extLst>
              <a:ext uri="{FF2B5EF4-FFF2-40B4-BE49-F238E27FC236}">
                <a16:creationId xmlns:a16="http://schemas.microsoft.com/office/drawing/2014/main" id="{16CD1226-2FF7-6F9F-406E-15CE4E8DD35A}"/>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453C5D4B-A3F4-F49D-63C7-6A432AE3D4BB}"/>
                </a:ext>
              </a:extLst>
            </p:cNvPr>
            <p:cNvGrpSpPr/>
            <p:nvPr/>
          </p:nvGrpSpPr>
          <p:grpSpPr>
            <a:xfrm>
              <a:off x="25800" y="604"/>
              <a:ext cx="2394" cy="1233"/>
              <a:chOff x="8279827" y="265057"/>
              <a:chExt cx="1648297" cy="863121"/>
            </a:xfrm>
          </p:grpSpPr>
          <p:pic>
            <p:nvPicPr>
              <p:cNvPr id="23" name="Picture 22" descr="tvu">
                <a:extLst>
                  <a:ext uri="{FF2B5EF4-FFF2-40B4-BE49-F238E27FC236}">
                    <a16:creationId xmlns:a16="http://schemas.microsoft.com/office/drawing/2014/main" id="{04FDFF8B-0F68-46B9-06FE-3733ECBD95A8}"/>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4" name="Picture 23" descr="A logo with a black background  Description automatically generated">
                <a:extLst>
                  <a:ext uri="{FF2B5EF4-FFF2-40B4-BE49-F238E27FC236}">
                    <a16:creationId xmlns:a16="http://schemas.microsoft.com/office/drawing/2014/main" id="{BD562C87-2E29-06B0-A23E-EEFBC96E41D4}"/>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p:cNvGrpSpPr/>
          <p:nvPr/>
        </p:nvGrpSpPr>
        <p:grpSpPr>
          <a:xfrm>
            <a:off x="-334645" y="9114790"/>
            <a:ext cx="17593945" cy="1583055"/>
            <a:chOff x="-527" y="14354"/>
            <a:chExt cx="27707" cy="2493"/>
          </a:xfrm>
        </p:grpSpPr>
        <p:grpSp>
          <p:nvGrpSpPr>
            <p:cNvPr id="5" name="Group 23"/>
            <p:cNvGrpSpPr/>
            <p:nvPr/>
          </p:nvGrpSpPr>
          <p:grpSpPr>
            <a:xfrm>
              <a:off x="-527" y="14354"/>
              <a:ext cx="27707" cy="2493"/>
              <a:chOff x="0" y="0"/>
              <a:chExt cx="4633762" cy="416940"/>
            </a:xfrm>
          </p:grpSpPr>
          <p:sp>
            <p:nvSpPr>
              <p:cNvPr id="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a:t>
              </a:r>
              <a:r>
                <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4</a:t>
              </a: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4954E1C0-B9EF-C1B9-4828-A8D0A7A7CD5E}"/>
            </a:ext>
          </a:extLst>
        </p:cNvPr>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01 · TỔNG QUAN</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AI Agent và vòng ReAct</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Chatbot chỉ trả lời bằng dữ liệu đã học, không đọc được dữ liệu người dùng.</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Agent được cấp công cụ, tự chọn gọi công cụ khi cần dữ liệu thật.</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ReAct: Suy luận → Gọi công cụ → Quan sát kết quả → lặp cho tới khi trả lời.</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Là nền cho Trợ lý AI, biết tra đúng tiến độ của từng học viên.</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[Sơ đồ vòng lặp ReAct: Suy luận → Gọi công cụ → Quan sát]</a:t>
            </a:r>
          </a:p>
        </p:txBody>
      </p:sp>
      <p:grpSp>
        <p:nvGrpSpPr>
          <p:cNvPr id="2" name="Group 1">
            <a:extLst>
              <a:ext uri="{FF2B5EF4-FFF2-40B4-BE49-F238E27FC236}">
                <a16:creationId xmlns:a16="http://schemas.microsoft.com/office/drawing/2014/main" id="{CD5943F1-70CD-A557-F19C-88B41253526B}"/>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98325306-1A6B-806B-71DF-D2E55762780A}"/>
                </a:ext>
              </a:extLst>
            </p:cNvPr>
            <p:cNvGrpSpPr/>
            <p:nvPr/>
          </p:nvGrpSpPr>
          <p:grpSpPr>
            <a:xfrm>
              <a:off x="25800" y="604"/>
              <a:ext cx="2394" cy="1233"/>
              <a:chOff x="8279827" y="265057"/>
              <a:chExt cx="1648297" cy="863121"/>
            </a:xfrm>
          </p:grpSpPr>
          <p:pic>
            <p:nvPicPr>
              <p:cNvPr id="23" name="Picture 22" descr="tvu">
                <a:extLst>
                  <a:ext uri="{FF2B5EF4-FFF2-40B4-BE49-F238E27FC236}">
                    <a16:creationId xmlns:a16="http://schemas.microsoft.com/office/drawing/2014/main" id="{C5946B59-89F3-A115-DD66-C70BD6DE66F4}"/>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4" name="Picture 23" descr="A logo with a black background  Description automatically generated">
                <a:extLst>
                  <a:ext uri="{FF2B5EF4-FFF2-40B4-BE49-F238E27FC236}">
                    <a16:creationId xmlns:a16="http://schemas.microsoft.com/office/drawing/2014/main" id="{3A28ADCD-4FEB-8CEB-F0BF-73CF4C171451}"/>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a:extLst>
              <a:ext uri="{FF2B5EF4-FFF2-40B4-BE49-F238E27FC236}">
                <a16:creationId xmlns:a16="http://schemas.microsoft.com/office/drawing/2014/main" id="{FF922C5F-689A-006E-052E-D6A45F3BBB8E}"/>
              </a:ext>
            </a:extLst>
          </p:cNvPr>
          <p:cNvGrpSpPr/>
          <p:nvPr/>
        </p:nvGrpSpPr>
        <p:grpSpPr>
          <a:xfrm>
            <a:off x="-334645" y="9114790"/>
            <a:ext cx="17593945" cy="1583055"/>
            <a:chOff x="-527" y="14354"/>
            <a:chExt cx="27707" cy="2493"/>
          </a:xfrm>
        </p:grpSpPr>
        <p:grpSp>
          <p:nvGrpSpPr>
            <p:cNvPr id="5" name="Group 23">
              <a:extLst>
                <a:ext uri="{FF2B5EF4-FFF2-40B4-BE49-F238E27FC236}">
                  <a16:creationId xmlns:a16="http://schemas.microsoft.com/office/drawing/2014/main" id="{C24848E3-AAD9-E713-6730-E653F8C59BF0}"/>
                </a:ext>
              </a:extLst>
            </p:cNvPr>
            <p:cNvGrpSpPr/>
            <p:nvPr/>
          </p:nvGrpSpPr>
          <p:grpSpPr>
            <a:xfrm>
              <a:off x="-527" y="14354"/>
              <a:ext cx="27707" cy="2493"/>
              <a:chOff x="0" y="0"/>
              <a:chExt cx="4633762" cy="416940"/>
            </a:xfrm>
          </p:grpSpPr>
          <p:sp>
            <p:nvSpPr>
              <p:cNvPr id="6" name="Freeform 24">
                <a:extLst>
                  <a:ext uri="{FF2B5EF4-FFF2-40B4-BE49-F238E27FC236}">
                    <a16:creationId xmlns:a16="http://schemas.microsoft.com/office/drawing/2014/main" id="{186B15F5-B464-407A-CE80-94375E4C2EBB}"/>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7" name="TextBox 25">
                <a:extLst>
                  <a:ext uri="{FF2B5EF4-FFF2-40B4-BE49-F238E27FC236}">
                    <a16:creationId xmlns:a16="http://schemas.microsoft.com/office/drawing/2014/main" id="{9649C63F-DA16-7E70-4684-393E627C626B}"/>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a:extLst>
                <a:ext uri="{FF2B5EF4-FFF2-40B4-BE49-F238E27FC236}">
                  <a16:creationId xmlns:a16="http://schemas.microsoft.com/office/drawing/2014/main" id="{0200A71D-F3D4-7E5E-0CC2-B93F1FD0531D}"/>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a:extLst>
                <a:ext uri="{FF2B5EF4-FFF2-40B4-BE49-F238E27FC236}">
                  <a16:creationId xmlns:a16="http://schemas.microsoft.com/office/drawing/2014/main" id="{CD0AA6B4-77DB-1219-25E1-8D4AC274B1E9}"/>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05</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extLst>
      <p:ext uri="{BB962C8B-B14F-4D97-AF65-F5344CB8AC3E}">
        <p14:creationId xmlns:p14="http://schemas.microsoft.com/office/powerpoint/2010/main" val="633369329"/>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E2A0677E-CD7F-5C9D-9833-E374DE44131B}"/>
            </a:ext>
          </a:extLst>
        </p:cNvPr>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Kiến trúc tổng thể hệ thống</a:t>
            </a:r>
          </a:p>
        </p:txBody>
      </p:sp>
      <p:sp>
        <p:nvSpPr>
          <p:cNvPr id="303" name="Bullets"/>
          <p:cNvSpPr txBox="1"/>
          <p:nvPr/>
        </p:nvSpPr>
        <p:spPr>
          <a:xfrm>
            <a:off x="1176337" y="2760000"/>
            <a:ext cx="7739063"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Mô hình client-server, 3 tầng: Client, Server, Data và dịch vụ ngoài.</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Client: mobile Flutter, admin React, đều có thư viện quản lý trạng thái và bộ nhớ đệm dữ liệu.</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Server: NestJS chạy trên Bun, các lớp trung gian lo xác thực, kiểm tra dữ liệu vào, gắn log.</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Data và dịch vụ ngoài: PostgreSQL, Redis, Google OAuth, nhà cung cấp AI.</a:t>
            </a:r>
          </a:p>
        </p:txBody>
      </p:sp>
      <p:grpSp>
        <p:nvGrpSpPr>
          <p:cNvPr id="2" name="Group 1">
            <a:extLst>
              <a:ext uri="{FF2B5EF4-FFF2-40B4-BE49-F238E27FC236}">
                <a16:creationId xmlns:a16="http://schemas.microsoft.com/office/drawing/2014/main" id="{43DFE20F-553C-9CD4-6A2A-7BACC426390A}"/>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5348D21B-F92D-0E11-8519-0078E256E55C}"/>
                </a:ext>
              </a:extLst>
            </p:cNvPr>
            <p:cNvGrpSpPr/>
            <p:nvPr/>
          </p:nvGrpSpPr>
          <p:grpSpPr>
            <a:xfrm>
              <a:off x="25800" y="604"/>
              <a:ext cx="2394" cy="1233"/>
              <a:chOff x="8279827" y="265057"/>
              <a:chExt cx="1648297" cy="863121"/>
            </a:xfrm>
          </p:grpSpPr>
          <p:pic>
            <p:nvPicPr>
              <p:cNvPr id="23" name="Picture 22" descr="tvu">
                <a:extLst>
                  <a:ext uri="{FF2B5EF4-FFF2-40B4-BE49-F238E27FC236}">
                    <a16:creationId xmlns:a16="http://schemas.microsoft.com/office/drawing/2014/main" id="{1FB51DBF-EE7D-4368-64A4-29C9856192BF}"/>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4" name="Picture 23" descr="A logo with a black background  Description automatically generated">
                <a:extLst>
                  <a:ext uri="{FF2B5EF4-FFF2-40B4-BE49-F238E27FC236}">
                    <a16:creationId xmlns:a16="http://schemas.microsoft.com/office/drawing/2014/main" id="{0BE59667-C045-A841-FCE8-A66C74A7EE70}"/>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a:extLst>
              <a:ext uri="{FF2B5EF4-FFF2-40B4-BE49-F238E27FC236}">
                <a16:creationId xmlns:a16="http://schemas.microsoft.com/office/drawing/2014/main" id="{EDEA84CD-3AEE-3403-ECCC-C63623AE4C36}"/>
              </a:ext>
            </a:extLst>
          </p:cNvPr>
          <p:cNvGrpSpPr/>
          <p:nvPr/>
        </p:nvGrpSpPr>
        <p:grpSpPr>
          <a:xfrm>
            <a:off x="-334645" y="9114790"/>
            <a:ext cx="17593945" cy="1583055"/>
            <a:chOff x="-527" y="14354"/>
            <a:chExt cx="27707" cy="2493"/>
          </a:xfrm>
        </p:grpSpPr>
        <p:grpSp>
          <p:nvGrpSpPr>
            <p:cNvPr id="5" name="Group 23">
              <a:extLst>
                <a:ext uri="{FF2B5EF4-FFF2-40B4-BE49-F238E27FC236}">
                  <a16:creationId xmlns:a16="http://schemas.microsoft.com/office/drawing/2014/main" id="{75BA024C-F1CF-A1D8-EF6A-2EB0BFAED638}"/>
                </a:ext>
              </a:extLst>
            </p:cNvPr>
            <p:cNvGrpSpPr/>
            <p:nvPr/>
          </p:nvGrpSpPr>
          <p:grpSpPr>
            <a:xfrm>
              <a:off x="-527" y="14354"/>
              <a:ext cx="27707" cy="2493"/>
              <a:chOff x="0" y="0"/>
              <a:chExt cx="4633762" cy="416940"/>
            </a:xfrm>
          </p:grpSpPr>
          <p:sp>
            <p:nvSpPr>
              <p:cNvPr id="6" name="Freeform 24">
                <a:extLst>
                  <a:ext uri="{FF2B5EF4-FFF2-40B4-BE49-F238E27FC236}">
                    <a16:creationId xmlns:a16="http://schemas.microsoft.com/office/drawing/2014/main" id="{AB575C93-C01E-F018-31AE-F9B2D1EDDDB1}"/>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7" name="TextBox 25">
                <a:extLst>
                  <a:ext uri="{FF2B5EF4-FFF2-40B4-BE49-F238E27FC236}">
                    <a16:creationId xmlns:a16="http://schemas.microsoft.com/office/drawing/2014/main" id="{2DBCAFA8-373A-A44A-F73E-780CCD0FCFAF}"/>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a:extLst>
                <a:ext uri="{FF2B5EF4-FFF2-40B4-BE49-F238E27FC236}">
                  <a16:creationId xmlns:a16="http://schemas.microsoft.com/office/drawing/2014/main" id="{70338316-D601-4D4D-A6D4-3E05426EA773}"/>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a:extLst>
                <a:ext uri="{FF2B5EF4-FFF2-40B4-BE49-F238E27FC236}">
                  <a16:creationId xmlns:a16="http://schemas.microsoft.com/office/drawing/2014/main" id="{1A5540F9-0849-79F9-C733-11C6916F01E2}"/>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06</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pic>
        <p:nvPicPr>
          <p:cNvPr id="3" name="Picture 2">
            <a:extLst>
              <a:ext uri="{FF2B5EF4-FFF2-40B4-BE49-F238E27FC236}">
                <a16:creationId xmlns:a16="http://schemas.microsoft.com/office/drawing/2014/main" id="{DDD36D43-8757-98B1-7DFA-652A35B29C07}"/>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975803" y="1232727"/>
            <a:ext cx="8854997" cy="7824274"/>
          </a:xfrm>
          <a:prstGeom prst="rect">
            <a:avLst/>
          </a:prstGeom>
          <a:noFill/>
          <a:ln>
            <a:noFill/>
          </a:ln>
        </p:spPr>
      </p:pic>
    </p:spTree>
    <p:extLst>
      <p:ext uri="{BB962C8B-B14F-4D97-AF65-F5344CB8AC3E}">
        <p14:creationId xmlns:p14="http://schemas.microsoft.com/office/powerpoint/2010/main" val="3243854087"/>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Tác nhân và ca sử dụng</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2 tác nhân: Học viên (ứng dụng di động), Quản trị viên (trang quản trị).</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9 ca của Học viên: đăng ký/đăng nhập, đặt mục tiêu ngày, học bài, hỏi Trợ lý AI, làm bài tập, sinh bài tập tùy chỉnh, khám phá ảnh, lưu từ vựng cá nhân, hội thoại mô phỏng.</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3 ca của Quản trị viên: soạn khóa học/chủ đề/bài học, soạn từ vựng/ngữ pháp/bài tập, quản lý tình huống mô phỏng.</a:t>
            </a:r>
          </a:p>
        </p:txBody>
      </p:sp>
      <p:grpSp>
        <p:nvGrpSpPr>
          <p:cNvPr id="3" name="Group 2">
            <a:extLst>
              <a:ext uri="{FF2B5EF4-FFF2-40B4-BE49-F238E27FC236}">
                <a16:creationId xmlns:a16="http://schemas.microsoft.com/office/drawing/2014/main" id="{1EB4B62E-AC1F-D428-2144-C0A210B36C30}"/>
              </a:ext>
            </a:extLst>
          </p:cNvPr>
          <p:cNvGrpSpPr/>
          <p:nvPr/>
        </p:nvGrpSpPr>
        <p:grpSpPr>
          <a:xfrm>
            <a:off x="1056640" y="383540"/>
            <a:ext cx="16846550" cy="782955"/>
            <a:chOff x="1664" y="604"/>
            <a:chExt cx="26530" cy="1233"/>
          </a:xfrm>
        </p:grpSpPr>
        <p:grpSp>
          <p:nvGrpSpPr>
            <p:cNvPr id="19" name="Group 18">
              <a:extLst>
                <a:ext uri="{FF2B5EF4-FFF2-40B4-BE49-F238E27FC236}">
                  <a16:creationId xmlns:a16="http://schemas.microsoft.com/office/drawing/2014/main" id="{35B894B1-2E43-A44F-1E21-D506DC27C21E}"/>
                </a:ext>
              </a:extLst>
            </p:cNvPr>
            <p:cNvGrpSpPr/>
            <p:nvPr/>
          </p:nvGrpSpPr>
          <p:grpSpPr>
            <a:xfrm>
              <a:off x="25800" y="604"/>
              <a:ext cx="2394" cy="1233"/>
              <a:chOff x="8279827" y="265057"/>
              <a:chExt cx="1648297" cy="863121"/>
            </a:xfrm>
          </p:grpSpPr>
          <p:pic>
            <p:nvPicPr>
              <p:cNvPr id="20" name="Picture 19" descr="tvu">
                <a:extLst>
                  <a:ext uri="{FF2B5EF4-FFF2-40B4-BE49-F238E27FC236}">
                    <a16:creationId xmlns:a16="http://schemas.microsoft.com/office/drawing/2014/main" id="{71FBE57E-7286-2913-0C4B-B09977245FF7}"/>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1" name="Picture 20" descr="A logo with a black background  Description automatically generated">
                <a:extLst>
                  <a:ext uri="{FF2B5EF4-FFF2-40B4-BE49-F238E27FC236}">
                    <a16:creationId xmlns:a16="http://schemas.microsoft.com/office/drawing/2014/main" id="{C88352EE-DFC7-21E1-8E0A-C76536F5DD70}"/>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07</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pic>
        <p:nvPicPr>
          <p:cNvPr id="2" name="Picture 1">
            <a:extLst>
              <a:ext uri="{FF2B5EF4-FFF2-40B4-BE49-F238E27FC236}">
                <a16:creationId xmlns:a16="http://schemas.microsoft.com/office/drawing/2014/main" id="{DF37ADA1-2F66-D8AE-9594-78CB3B508ACB}"/>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9666812" y="1372880"/>
            <a:ext cx="7772400" cy="7684120"/>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Hệ thống Trợ lý AI</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Học viên gõ câu hỏi, hệ thống gắn kèm ngữ cảnh màn hình đang xem vào AI.</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Lượt AI đầu tiên tự quyết có gọi công cụ hay không, tối đa gọi liên tục 10 lượt.</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9 công cụ chỉ đọc, tự khóa theo đúng người đang hỏi: Báo trạng thái, Hồ sơ học viên, Tiến độ học, Kết quả bài tập gần đây, Từ đã lưu, Tra từ vựng, Tra ngữ pháp, Tìm bài học, Chi tiết bài học.</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Nhiều công cụ chạy lần lượt, gộp hết kết quả rồi AI mới viết trả lời.</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Đang làm bài tập, AI nhìn trạng thái để chọn cách hướng dẫn: chưa trả lời thì gợi ý cách nghĩ, trả lời sai thì nhận xét góp ý, không nói thẳng đáp án.</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[Hình 3.3 — Sơ đồ tuần tự một lượt hỏi Trợ lý AI]</a:t>
            </a:r>
          </a:p>
        </p:txBody>
      </p:sp>
      <p:grpSp>
        <p:nvGrpSpPr>
          <p:cNvPr id="2" name="Group 1">
            <a:extLst>
              <a:ext uri="{FF2B5EF4-FFF2-40B4-BE49-F238E27FC236}">
                <a16:creationId xmlns:a16="http://schemas.microsoft.com/office/drawing/2014/main" id="{17B17025-0271-62DF-077A-31028C36104D}"/>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9B664550-3036-6AFB-F04F-B975E938EF16}"/>
                </a:ext>
              </a:extLst>
            </p:cNvPr>
            <p:cNvGrpSpPr/>
            <p:nvPr/>
          </p:nvGrpSpPr>
          <p:grpSpPr>
            <a:xfrm>
              <a:off x="25800" y="604"/>
              <a:ext cx="2394" cy="1233"/>
              <a:chOff x="8279827" y="265057"/>
              <a:chExt cx="1648297" cy="863121"/>
            </a:xfrm>
          </p:grpSpPr>
          <p:pic>
            <p:nvPicPr>
              <p:cNvPr id="5" name="Picture 4" descr="tvu">
                <a:extLst>
                  <a:ext uri="{FF2B5EF4-FFF2-40B4-BE49-F238E27FC236}">
                    <a16:creationId xmlns:a16="http://schemas.microsoft.com/office/drawing/2014/main" id="{26E6424B-BE81-52E2-BC70-BA9BFEA21C02}"/>
                  </a:ext>
                </a:extLst>
              </p:cNvPr>
              <p:cNvPicPr>
                <a:picLocks noChangeAspect="1"/>
              </p:cNvPicPr>
              <p:nvPr/>
            </p:nvPicPr>
            <p:blipFill>
              <a:blip r:embed="rId3"/>
              <a:srcRect l="20639" t="20611" r="20250" b="20046"/>
              <a:stretch>
                <a:fillRect/>
              </a:stretch>
            </p:blipFill>
            <p:spPr>
              <a:xfrm>
                <a:off x="8279827" y="265057"/>
                <a:ext cx="850479" cy="853652"/>
              </a:xfrm>
              <a:prstGeom prst="rect">
                <a:avLst/>
              </a:prstGeom>
            </p:spPr>
          </p:pic>
          <p:pic>
            <p:nvPicPr>
              <p:cNvPr id="6" name="Picture 5" descr="A logo with a black background  Description automatically generated">
                <a:extLst>
                  <a:ext uri="{FF2B5EF4-FFF2-40B4-BE49-F238E27FC236}">
                    <a16:creationId xmlns:a16="http://schemas.microsoft.com/office/drawing/2014/main" id="{145D9183-3E66-6706-C997-ED8FD90DF6F5}"/>
                  </a:ext>
                </a:extLst>
              </p:cNvPr>
              <p:cNvPicPr>
                <a:picLocks noChangeAspect="1"/>
              </p:cNvPicPr>
              <p:nvPr/>
            </p:nvPicPr>
            <p:blipFill rotWithShape="1">
              <a:blip r:embed="rId4">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p:cNvGrpSpPr/>
          <p:nvPr/>
        </p:nvGrpSpPr>
        <p:grpSpPr>
          <a:xfrm>
            <a:off x="-334645" y="9114790"/>
            <a:ext cx="17593945" cy="1583055"/>
            <a:chOff x="-527" y="14354"/>
            <a:chExt cx="27707" cy="2493"/>
          </a:xfrm>
        </p:grpSpPr>
        <p:grpSp>
          <p:nvGrpSpPr>
            <p:cNvPr id="66" name="Group 23"/>
            <p:cNvGrpSpPr/>
            <p:nvPr/>
          </p:nvGrpSpPr>
          <p:grpSpPr>
            <a:xfrm>
              <a:off x="-527" y="14354"/>
              <a:ext cx="27707" cy="2493"/>
              <a:chOff x="0" y="0"/>
              <a:chExt cx="4633762" cy="416940"/>
            </a:xfrm>
          </p:grpSpPr>
          <p:sp>
            <p:nvSpPr>
              <p:cNvPr id="67"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68"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9"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71"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08</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8E933979-316F-83D1-0DE7-2E9FBD4EB108}"/>
            </a:ext>
          </a:extLst>
        </p:cNvPr>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Hệ thống Hội thoại mô phỏng</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Mỗi lượt học viên nói, hệ thống gọi AI đúng một lần, AI tự chọn nhân vật nào cần trả lời theo đúng thứ tự hội thoại.</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Ngay sau câu học viên, AI chấm lỗi chính tả và ngữ pháp ngay trong câu, ghi đoạn sai, đoạn sửa, loại lỗi và góp ý.</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Phiên kết thúc vì 1 trong 4 lý do, mỗi lý do có hướng dẫn chấm điểm riêng: hoàn thành trọn vẹn, sai quá nhiều liên tục, dùng lời không phù hợp, dùng lời xúc phạm.</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Điểm từng tiêu chí do AI chấm theo thang 0 đến 100, hệ thống đối chiếu lại tên tiêu chí rồi tính tổng theo trọng số.</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[Hình 3.4 — Sơ đồ tuần tự Hội thoại mô phỏng]</a:t>
            </a:r>
          </a:p>
        </p:txBody>
      </p:sp>
      <p:grpSp>
        <p:nvGrpSpPr>
          <p:cNvPr id="2" name="Group 1">
            <a:extLst>
              <a:ext uri="{FF2B5EF4-FFF2-40B4-BE49-F238E27FC236}">
                <a16:creationId xmlns:a16="http://schemas.microsoft.com/office/drawing/2014/main" id="{2B54D45E-5DAD-5890-8581-051885DC43BB}"/>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90A0FC80-42AE-2036-F3DB-61441BC24281}"/>
                </a:ext>
              </a:extLst>
            </p:cNvPr>
            <p:cNvGrpSpPr/>
            <p:nvPr/>
          </p:nvGrpSpPr>
          <p:grpSpPr>
            <a:xfrm>
              <a:off x="25800" y="604"/>
              <a:ext cx="2394" cy="1233"/>
              <a:chOff x="8279827" y="265057"/>
              <a:chExt cx="1648297" cy="863121"/>
            </a:xfrm>
          </p:grpSpPr>
          <p:pic>
            <p:nvPicPr>
              <p:cNvPr id="8" name="Picture 7" descr="tvu">
                <a:extLst>
                  <a:ext uri="{FF2B5EF4-FFF2-40B4-BE49-F238E27FC236}">
                    <a16:creationId xmlns:a16="http://schemas.microsoft.com/office/drawing/2014/main" id="{8220CA00-A877-3166-E1A4-6922123FE6CB}"/>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9" name="Picture 8" descr="A logo with a black background  Description automatically generated">
                <a:extLst>
                  <a:ext uri="{FF2B5EF4-FFF2-40B4-BE49-F238E27FC236}">
                    <a16:creationId xmlns:a16="http://schemas.microsoft.com/office/drawing/2014/main" id="{DACDCAEB-DF81-A625-2115-1944329C0DAC}"/>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a:extLst>
              <a:ext uri="{FF2B5EF4-FFF2-40B4-BE49-F238E27FC236}">
                <a16:creationId xmlns:a16="http://schemas.microsoft.com/office/drawing/2014/main" id="{7EEB4568-ED47-84DC-D8E2-AFCF79ED4271}"/>
              </a:ext>
            </a:extLst>
          </p:cNvPr>
          <p:cNvGrpSpPr/>
          <p:nvPr/>
        </p:nvGrpSpPr>
        <p:grpSpPr>
          <a:xfrm>
            <a:off x="-334645" y="9114790"/>
            <a:ext cx="17593945" cy="1583055"/>
            <a:chOff x="-527" y="14354"/>
            <a:chExt cx="27707" cy="2493"/>
          </a:xfrm>
        </p:grpSpPr>
        <p:grpSp>
          <p:nvGrpSpPr>
            <p:cNvPr id="45" name="Group 23">
              <a:extLst>
                <a:ext uri="{FF2B5EF4-FFF2-40B4-BE49-F238E27FC236}">
                  <a16:creationId xmlns:a16="http://schemas.microsoft.com/office/drawing/2014/main" id="{A01E889A-FB07-94F2-32C0-F9F6657F296B}"/>
                </a:ext>
              </a:extLst>
            </p:cNvPr>
            <p:cNvGrpSpPr/>
            <p:nvPr/>
          </p:nvGrpSpPr>
          <p:grpSpPr>
            <a:xfrm>
              <a:off x="-527" y="14354"/>
              <a:ext cx="27707" cy="2493"/>
              <a:chOff x="0" y="0"/>
              <a:chExt cx="4633762" cy="416940"/>
            </a:xfrm>
          </p:grpSpPr>
          <p:sp>
            <p:nvSpPr>
              <p:cNvPr id="46" name="Freeform 24">
                <a:extLst>
                  <a:ext uri="{FF2B5EF4-FFF2-40B4-BE49-F238E27FC236}">
                    <a16:creationId xmlns:a16="http://schemas.microsoft.com/office/drawing/2014/main" id="{0F8D4645-D566-2A86-C9D2-ECE44F719C7A}"/>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a:extLst>
                  <a:ext uri="{FF2B5EF4-FFF2-40B4-BE49-F238E27FC236}">
                    <a16:creationId xmlns:a16="http://schemas.microsoft.com/office/drawing/2014/main" id="{7E0D2C64-4A8C-709D-405E-477D21AED0CC}"/>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a:extLst>
                <a:ext uri="{FF2B5EF4-FFF2-40B4-BE49-F238E27FC236}">
                  <a16:creationId xmlns:a16="http://schemas.microsoft.com/office/drawing/2014/main" id="{FFD9F851-3384-7F56-A1C4-E42722EAD247}"/>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a:extLst>
                <a:ext uri="{FF2B5EF4-FFF2-40B4-BE49-F238E27FC236}">
                  <a16:creationId xmlns:a16="http://schemas.microsoft.com/office/drawing/2014/main" id="{9F6B10AB-E814-2D60-DF0B-41C2F370DDDD}"/>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09</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extLst>
      <p:ext uri="{BB962C8B-B14F-4D97-AF65-F5344CB8AC3E}">
        <p14:creationId xmlns:p14="http://schemas.microsoft.com/office/powerpoint/2010/main" val="401080301"/>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Hệ thống Khám phá ảnh</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Học viên gửi 1 đến 5 ảnh kèm một câu hỏi, định dạng jpeg, png hoặc webp.</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Ảnh chỉ đưa cho AI đọc và không lưu vào hệ thống.</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Câu trả lời của AI đúng theo một khuôn định sẵn là buộc phải có danh sách từ vựng thấy được trong ảnh đi kèm và hiển thị ra giao diện cho học viên.</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Từ vựng không tự lưu, học viên bấm chọn từng từ để lưu.</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[Sơ đồ luồng Khám phá ảnh — 3 khối nối tiếp]</a:t>
            </a:r>
          </a:p>
        </p:txBody>
      </p:sp>
      <p:grpSp>
        <p:nvGrpSpPr>
          <p:cNvPr id="2" name="Group 1">
            <a:extLst>
              <a:ext uri="{FF2B5EF4-FFF2-40B4-BE49-F238E27FC236}">
                <a16:creationId xmlns:a16="http://schemas.microsoft.com/office/drawing/2014/main" id="{6655DA6D-5B91-FC54-4086-55A55E352E53}"/>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764C3BAA-E2CF-1AEE-FDAF-0EA82FB31952}"/>
                </a:ext>
              </a:extLst>
            </p:cNvPr>
            <p:cNvGrpSpPr/>
            <p:nvPr/>
          </p:nvGrpSpPr>
          <p:grpSpPr>
            <a:xfrm>
              <a:off x="25800" y="604"/>
              <a:ext cx="2394" cy="1233"/>
              <a:chOff x="8279827" y="265057"/>
              <a:chExt cx="1648297" cy="863121"/>
            </a:xfrm>
          </p:grpSpPr>
          <p:pic>
            <p:nvPicPr>
              <p:cNvPr id="8" name="Picture 7" descr="tvu">
                <a:extLst>
                  <a:ext uri="{FF2B5EF4-FFF2-40B4-BE49-F238E27FC236}">
                    <a16:creationId xmlns:a16="http://schemas.microsoft.com/office/drawing/2014/main" id="{CEB6A331-8503-4D23-6B1F-3685ACBA59A5}"/>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9" name="Picture 8" descr="A logo with a black background  Description automatically generated">
                <a:extLst>
                  <a:ext uri="{FF2B5EF4-FFF2-40B4-BE49-F238E27FC236}">
                    <a16:creationId xmlns:a16="http://schemas.microsoft.com/office/drawing/2014/main" id="{743B3547-37B5-EB39-BFFE-40C22A92434B}"/>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10</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C2E571BB-2BDF-F11C-7A99-919DFFB5F623}"/>
            </a:ext>
          </a:extLst>
        </p:cNvPr>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Hệ thống Sinh bài tập tùy chỉnh</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Học viên chọn tối đa 30 câu, chọn 1 hoặc nhiều dạng trong 5 dạng: trắc nghiệm, điền vào chỗ trống, ghép cặp, sắp xếp, dịch câu (không có dạng nghe và nói), chọn ôn từ vựng, ngữ pháp hay cả hai, ghi thêm yêu cầu riêng không quá 500 chữ.</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Bắt buộc chọn đúng một phạm vi: một bài học, một chủ đề, hoặc cả một khóa học. Ôn theo chủ đề hoặc khóa học thì phải học xong ít nhất một phần trong đó.</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Hệ thống tự gom từ vựng, ngữ pháp và nội dung học viên đã hoàn thành trong phạm vi đó, AI chỉ được ra đề trong phần này.</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Mỗi câu AI soạn ra phải kiểm tra đủ đáp án và đúng định dạng trước khi lưu, sai thì tự tạo lại.</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[Sơ đồ luồng Sinh bài tập — 4 khối nối tiếp]</a:t>
            </a:r>
          </a:p>
        </p:txBody>
      </p:sp>
      <p:grpSp>
        <p:nvGrpSpPr>
          <p:cNvPr id="2" name="Group 1">
            <a:extLst>
              <a:ext uri="{FF2B5EF4-FFF2-40B4-BE49-F238E27FC236}">
                <a16:creationId xmlns:a16="http://schemas.microsoft.com/office/drawing/2014/main" id="{2C30D17F-3EA2-DC29-4CE7-CDFB9F76B419}"/>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C0299AE7-F556-C2A7-F789-EC53AA0D4C82}"/>
                </a:ext>
              </a:extLst>
            </p:cNvPr>
            <p:cNvGrpSpPr/>
            <p:nvPr/>
          </p:nvGrpSpPr>
          <p:grpSpPr>
            <a:xfrm>
              <a:off x="25800" y="604"/>
              <a:ext cx="2394" cy="1233"/>
              <a:chOff x="8279827" y="265057"/>
              <a:chExt cx="1648297" cy="863121"/>
            </a:xfrm>
          </p:grpSpPr>
          <p:pic>
            <p:nvPicPr>
              <p:cNvPr id="8" name="Picture 7" descr="tvu">
                <a:extLst>
                  <a:ext uri="{FF2B5EF4-FFF2-40B4-BE49-F238E27FC236}">
                    <a16:creationId xmlns:a16="http://schemas.microsoft.com/office/drawing/2014/main" id="{4FC44016-A34A-30B7-4CEA-A6E1E14EF7F3}"/>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9" name="Picture 8" descr="A logo with a black background  Description automatically generated">
                <a:extLst>
                  <a:ext uri="{FF2B5EF4-FFF2-40B4-BE49-F238E27FC236}">
                    <a16:creationId xmlns:a16="http://schemas.microsoft.com/office/drawing/2014/main" id="{44A037FB-FA58-DB80-F944-9ADF4D3BCF67}"/>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a:extLst>
              <a:ext uri="{FF2B5EF4-FFF2-40B4-BE49-F238E27FC236}">
                <a16:creationId xmlns:a16="http://schemas.microsoft.com/office/drawing/2014/main" id="{BA237E5C-1430-8BA9-8366-0497886A3051}"/>
              </a:ext>
            </a:extLst>
          </p:cNvPr>
          <p:cNvGrpSpPr/>
          <p:nvPr/>
        </p:nvGrpSpPr>
        <p:grpSpPr>
          <a:xfrm>
            <a:off x="-334645" y="9114790"/>
            <a:ext cx="17593945" cy="1583055"/>
            <a:chOff x="-527" y="14354"/>
            <a:chExt cx="27707" cy="2493"/>
          </a:xfrm>
        </p:grpSpPr>
        <p:grpSp>
          <p:nvGrpSpPr>
            <p:cNvPr id="45" name="Group 23">
              <a:extLst>
                <a:ext uri="{FF2B5EF4-FFF2-40B4-BE49-F238E27FC236}">
                  <a16:creationId xmlns:a16="http://schemas.microsoft.com/office/drawing/2014/main" id="{03F6D9AB-7F8C-1B5A-BED2-E6783373D2C0}"/>
                </a:ext>
              </a:extLst>
            </p:cNvPr>
            <p:cNvGrpSpPr/>
            <p:nvPr/>
          </p:nvGrpSpPr>
          <p:grpSpPr>
            <a:xfrm>
              <a:off x="-527" y="14354"/>
              <a:ext cx="27707" cy="2493"/>
              <a:chOff x="0" y="0"/>
              <a:chExt cx="4633762" cy="416940"/>
            </a:xfrm>
          </p:grpSpPr>
          <p:sp>
            <p:nvSpPr>
              <p:cNvPr id="46" name="Freeform 24">
                <a:extLst>
                  <a:ext uri="{FF2B5EF4-FFF2-40B4-BE49-F238E27FC236}">
                    <a16:creationId xmlns:a16="http://schemas.microsoft.com/office/drawing/2014/main" id="{99F7B025-1472-2A8D-C05D-7DAE50D83C3B}"/>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a:extLst>
                  <a:ext uri="{FF2B5EF4-FFF2-40B4-BE49-F238E27FC236}">
                    <a16:creationId xmlns:a16="http://schemas.microsoft.com/office/drawing/2014/main" id="{BE8A6273-22C3-AFFA-F516-2EF644C763C8}"/>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a:extLst>
                <a:ext uri="{FF2B5EF4-FFF2-40B4-BE49-F238E27FC236}">
                  <a16:creationId xmlns:a16="http://schemas.microsoft.com/office/drawing/2014/main" id="{91D2BB96-2CF8-419E-FE60-AC1A50EE0735}"/>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a:extLst>
                <a:ext uri="{FF2B5EF4-FFF2-40B4-BE49-F238E27FC236}">
                  <a16:creationId xmlns:a16="http://schemas.microsoft.com/office/drawing/2014/main" id="{E36C75F3-9815-3000-DCFC-B22889A182C4}"/>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11</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extLst>
      <p:ext uri="{BB962C8B-B14F-4D97-AF65-F5344CB8AC3E}">
        <p14:creationId xmlns:p14="http://schemas.microsoft.com/office/powerpoint/2010/main" val="1847564049"/>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Thiết kế cơ sở dữ liệu</a:t>
            </a:r>
          </a:p>
        </p:txBody>
      </p:sp>
      <p:sp>
        <p:nvSpPr>
          <p:cNvPr id="303" name="Bullets"/>
          <p:cNvSpPr txBox="1"/>
          <p:nvPr/>
        </p:nvSpPr>
        <p:spPr>
          <a:xfrm>
            <a:off x="1176337" y="2760000"/>
            <a:ext cx="1608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PostgreSQL, 27 bảng, gom theo 6 nhóm nghiệp vụ.</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6 nhóm: Tài khoản và Xác thực, Học liệu, Luyện tập, Tiến trình và Mục tiêu, Tương tác AI, Hội thoại mô phỏng.</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Bảng nào cũng có id, thời điểm tạo, sửa và cờ xóa mềm.</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Cấu hình bài tập và kết quả AI lưu dạng JSON để thêm dạng câu hỏi mới mà không phải sửa lại cấu trúc bảng.</a:t>
            </a:r>
          </a:p>
        </p:txBody>
      </p:sp>
      <p:sp>
        <p:nvSpPr>
          <p:cNvPr id="304" name="ImgPlaceholder"/>
          <p:cNvSpPr txBox="1"/>
          <p:nvPr/>
        </p:nvSpPr>
        <p:spPr>
          <a:xfrm>
            <a:off x="1176337" y="4838700"/>
            <a:ext cx="16080000" cy="36113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[Hình 3.5 — ERD toàn bộ hệ thống, 6 nhóm nghiệp vụ]</a:t>
            </a:r>
          </a:p>
        </p:txBody>
      </p:sp>
      <p:grpSp>
        <p:nvGrpSpPr>
          <p:cNvPr id="5" name="Group 4">
            <a:extLst>
              <a:ext uri="{FF2B5EF4-FFF2-40B4-BE49-F238E27FC236}">
                <a16:creationId xmlns:a16="http://schemas.microsoft.com/office/drawing/2014/main" id="{A94798C8-A427-4D8E-9BE1-8C4424E160F1}"/>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1EEC6BAE-044E-5431-F11E-1D5372B9B29B}"/>
                </a:ext>
              </a:extLst>
            </p:cNvPr>
            <p:cNvGrpSpPr/>
            <p:nvPr/>
          </p:nvGrpSpPr>
          <p:grpSpPr>
            <a:xfrm>
              <a:off x="25800" y="604"/>
              <a:ext cx="2394" cy="1233"/>
              <a:chOff x="8279827" y="265057"/>
              <a:chExt cx="1648297" cy="863121"/>
            </a:xfrm>
          </p:grpSpPr>
          <p:pic>
            <p:nvPicPr>
              <p:cNvPr id="8" name="Picture 7" descr="tvu">
                <a:extLst>
                  <a:ext uri="{FF2B5EF4-FFF2-40B4-BE49-F238E27FC236}">
                    <a16:creationId xmlns:a16="http://schemas.microsoft.com/office/drawing/2014/main" id="{CD0E6070-7EE4-E372-71E7-83DFD69545CE}"/>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9" name="Picture 8" descr="A logo with a black background  Description automatically generated">
                <a:extLst>
                  <a:ext uri="{FF2B5EF4-FFF2-40B4-BE49-F238E27FC236}">
                    <a16:creationId xmlns:a16="http://schemas.microsoft.com/office/drawing/2014/main" id="{B54B6705-A416-F9A7-C0F7-661AC38B3DE4}"/>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12</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Triển khai hệ thống</a:t>
            </a:r>
          </a:p>
        </p:txBody>
      </p:sp>
      <p:sp>
        <p:nvSpPr>
          <p:cNvPr id="303" name="Bullets"/>
          <p:cNvSpPr txBox="1"/>
          <p:nvPr/>
        </p:nvSpPr>
        <p:spPr>
          <a:xfrm>
            <a:off x="1176337" y="2960000"/>
            <a:ext cx="5529263"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Cục bộ: Docker Compose gồm PostgreSQL 16, Redis 7, Backend.</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Production: Backend trên Hugging Face Spaces (Docker Space, HTTPS).</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CSDL chuyển sang CockroachDB Serverless, cache/queue dùng Aiven for Valkey.</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Admin build web tĩnh</a:t>
            </a:r>
            <a:r>
              <a:rPr lang="en-US" sz="2100" dirty="0">
                <a:solidFill>
                  <a:srgbClr val="1F2937"/>
                </a:solidFill>
                <a:latin typeface="Arial" panose="020B0604020202020204" pitchFamily="34" charset="0"/>
                <a:cs typeface="Arial" panose="020B0604020202020204" pitchFamily="34" charset="0"/>
                <a:sym typeface="Poppins" panose="00000500000000000000"/>
              </a:rPr>
              <a:t xml:space="preserve"> </a:t>
            </a:r>
            <a:r>
              <a:rPr lang="en-US" sz="2100" dirty="0" err="1">
                <a:solidFill>
                  <a:srgbClr val="1F2937"/>
                </a:solidFill>
                <a:latin typeface="Arial" panose="020B0604020202020204" pitchFamily="34" charset="0"/>
                <a:cs typeface="Arial" panose="020B0604020202020204" pitchFamily="34" charset="0"/>
                <a:sym typeface="Poppins" panose="00000500000000000000"/>
              </a:rPr>
              <a:t>deloy</a:t>
            </a:r>
            <a:r>
              <a:rPr lang="en-US" sz="2100" dirty="0">
                <a:solidFill>
                  <a:srgbClr val="1F2937"/>
                </a:solidFill>
                <a:latin typeface="Arial" panose="020B0604020202020204" pitchFamily="34" charset="0"/>
                <a:cs typeface="Arial" panose="020B0604020202020204" pitchFamily="34" charset="0"/>
                <a:sym typeface="Poppins" panose="00000500000000000000"/>
              </a:rPr>
              <a:t xml:space="preserve"> </a:t>
            </a:r>
            <a:r>
              <a:rPr lang="en-US" sz="2100" dirty="0" err="1">
                <a:solidFill>
                  <a:srgbClr val="1F2937"/>
                </a:solidFill>
                <a:latin typeface="Arial" panose="020B0604020202020204" pitchFamily="34" charset="0"/>
                <a:cs typeface="Arial" panose="020B0604020202020204" pitchFamily="34" charset="0"/>
                <a:sym typeface="Poppins" panose="00000500000000000000"/>
              </a:rPr>
              <a:t>lên</a:t>
            </a:r>
            <a:r>
              <a:rPr lang="en-US" sz="2100" dirty="0">
                <a:solidFill>
                  <a:srgbClr val="1F2937"/>
                </a:solidFill>
                <a:latin typeface="Arial" panose="020B0604020202020204" pitchFamily="34" charset="0"/>
                <a:cs typeface="Arial" panose="020B0604020202020204" pitchFamily="34" charset="0"/>
                <a:sym typeface="Poppins" panose="00000500000000000000"/>
              </a:rPr>
              <a:t xml:space="preserve"> Cloudflare Pages</a:t>
            </a:r>
            <a:r>
              <a:rPr lang="vi-VN" sz="2100" dirty="0">
                <a:solidFill>
                  <a:srgbClr val="1F2937"/>
                </a:solidFill>
                <a:latin typeface="Arial" panose="020B0604020202020204" pitchFamily="34" charset="0"/>
                <a:cs typeface="Arial" panose="020B0604020202020204" pitchFamily="34" charset="0"/>
                <a:sym typeface="Poppins" panose="00000500000000000000"/>
              </a:rPr>
              <a:t xml:space="preserve">, di động biên dịch </a:t>
            </a:r>
            <a:r>
              <a:rPr lang="en-US" sz="2100" dirty="0">
                <a:solidFill>
                  <a:srgbClr val="1F2937"/>
                </a:solidFill>
                <a:latin typeface="Arial" panose="020B0604020202020204" pitchFamily="34" charset="0"/>
                <a:cs typeface="Arial" panose="020B0604020202020204" pitchFamily="34" charset="0"/>
                <a:sym typeface="Poppins" panose="00000500000000000000"/>
              </a:rPr>
              <a:t xml:space="preserve">file </a:t>
            </a:r>
            <a:r>
              <a:rPr lang="vi-VN" sz="2100" dirty="0">
                <a:solidFill>
                  <a:srgbClr val="1F2937"/>
                </a:solidFill>
                <a:latin typeface="Arial" panose="020B0604020202020204" pitchFamily="34" charset="0"/>
                <a:cs typeface="Arial" panose="020B0604020202020204" pitchFamily="34" charset="0"/>
                <a:sym typeface="Poppins" panose="00000500000000000000"/>
              </a:rPr>
              <a:t>.apk cho Android.</a:t>
            </a:r>
          </a:p>
        </p:txBody>
      </p:sp>
      <p:grpSp>
        <p:nvGrpSpPr>
          <p:cNvPr id="2" name="Group 1">
            <a:extLst>
              <a:ext uri="{FF2B5EF4-FFF2-40B4-BE49-F238E27FC236}">
                <a16:creationId xmlns:a16="http://schemas.microsoft.com/office/drawing/2014/main" id="{A5A9E5C2-4F10-EC58-22BF-C2BFF24CFB49}"/>
              </a:ext>
            </a:extLst>
          </p:cNvPr>
          <p:cNvGrpSpPr/>
          <p:nvPr/>
        </p:nvGrpSpPr>
        <p:grpSpPr>
          <a:xfrm>
            <a:off x="1056640" y="383540"/>
            <a:ext cx="16846550" cy="782955"/>
            <a:chOff x="1664" y="604"/>
            <a:chExt cx="26530" cy="1233"/>
          </a:xfrm>
        </p:grpSpPr>
        <p:grpSp>
          <p:nvGrpSpPr>
            <p:cNvPr id="5" name="Group 4">
              <a:extLst>
                <a:ext uri="{FF2B5EF4-FFF2-40B4-BE49-F238E27FC236}">
                  <a16:creationId xmlns:a16="http://schemas.microsoft.com/office/drawing/2014/main" id="{9CB093FE-535E-F749-FD09-DA4FD346A868}"/>
                </a:ext>
              </a:extLst>
            </p:cNvPr>
            <p:cNvGrpSpPr/>
            <p:nvPr/>
          </p:nvGrpSpPr>
          <p:grpSpPr>
            <a:xfrm>
              <a:off x="25800" y="604"/>
              <a:ext cx="2394" cy="1233"/>
              <a:chOff x="8279827" y="265057"/>
              <a:chExt cx="1648297" cy="863121"/>
            </a:xfrm>
          </p:grpSpPr>
          <p:pic>
            <p:nvPicPr>
              <p:cNvPr id="6" name="Picture 5" descr="tvu">
                <a:extLst>
                  <a:ext uri="{FF2B5EF4-FFF2-40B4-BE49-F238E27FC236}">
                    <a16:creationId xmlns:a16="http://schemas.microsoft.com/office/drawing/2014/main" id="{DAF2901C-4FB9-7401-3D2D-69AA96126300}"/>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7" name="Picture 6" descr="A logo with a black background  Description automatically generated">
                <a:extLst>
                  <a:ext uri="{FF2B5EF4-FFF2-40B4-BE49-F238E27FC236}">
                    <a16:creationId xmlns:a16="http://schemas.microsoft.com/office/drawing/2014/main" id="{D5E5FB17-1B7E-40F6-F312-95E7C82FFA39}"/>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07"/>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13</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pic>
        <p:nvPicPr>
          <p:cNvPr id="3" name="Picture 2">
            <a:extLst>
              <a:ext uri="{FF2B5EF4-FFF2-40B4-BE49-F238E27FC236}">
                <a16:creationId xmlns:a16="http://schemas.microsoft.com/office/drawing/2014/main" id="{B56CD300-9A31-88D1-5A59-5805B708D66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05600" y="1472210"/>
            <a:ext cx="11375613" cy="7584790"/>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184380D2-B059-B804-02E9-F57E23F98A14}"/>
            </a:ext>
          </a:extLst>
        </p:cNvPr>
        <p:cNvGrpSpPr/>
        <p:nvPr/>
      </p:nvGrpSpPr>
      <p:grpSpPr>
        <a:xfrm>
          <a:off x="0" y="0"/>
          <a:ext cx="0" cy="0"/>
          <a:chOff x="0" y="0"/>
          <a:chExt cx="0" cy="0"/>
        </a:xfrm>
      </p:grpSpPr>
      <p:grpSp>
        <p:nvGrpSpPr>
          <p:cNvPr id="10" name="Group 27">
            <a:extLst>
              <a:ext uri="{FF2B5EF4-FFF2-40B4-BE49-F238E27FC236}">
                <a16:creationId xmlns:a16="http://schemas.microsoft.com/office/drawing/2014/main" id="{C0F347EE-5DDC-3C3D-1F29-96B8523FA7FE}"/>
              </a:ext>
            </a:extLst>
          </p:cNvPr>
          <p:cNvGrpSpPr/>
          <p:nvPr/>
        </p:nvGrpSpPr>
        <p:grpSpPr>
          <a:xfrm>
            <a:off x="9290475" y="2861712"/>
            <a:ext cx="8002800" cy="3693994"/>
            <a:chOff x="0" y="0"/>
            <a:chExt cx="1225758" cy="930555"/>
          </a:xfrm>
        </p:grpSpPr>
        <p:sp>
          <p:nvSpPr>
            <p:cNvPr id="11" name="Freeform 28">
              <a:extLst>
                <a:ext uri="{FF2B5EF4-FFF2-40B4-BE49-F238E27FC236}">
                  <a16:creationId xmlns:a16="http://schemas.microsoft.com/office/drawing/2014/main" id="{573417CE-49E2-DBDC-519F-AC35F0AB414A}"/>
                </a:ext>
              </a:extLst>
            </p:cNvPr>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ECFE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12" name="TextBox 29">
              <a:extLst>
                <a:ext uri="{FF2B5EF4-FFF2-40B4-BE49-F238E27FC236}">
                  <a16:creationId xmlns:a16="http://schemas.microsoft.com/office/drawing/2014/main" id="{3899170D-39F1-4B0B-5163-E03185B39B55}"/>
                </a:ext>
              </a:extLst>
            </p:cNvPr>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grpSp>
        <p:nvGrpSpPr>
          <p:cNvPr id="3" name="Group 21">
            <a:extLst>
              <a:ext uri="{FF2B5EF4-FFF2-40B4-BE49-F238E27FC236}">
                <a16:creationId xmlns:a16="http://schemas.microsoft.com/office/drawing/2014/main" id="{E286069F-D75F-8DD9-BD75-949148FCBDF6}"/>
              </a:ext>
            </a:extLst>
          </p:cNvPr>
          <p:cNvGrpSpPr/>
          <p:nvPr/>
        </p:nvGrpSpPr>
        <p:grpSpPr>
          <a:xfrm>
            <a:off x="994726" y="2861712"/>
            <a:ext cx="8149274" cy="3729587"/>
            <a:chOff x="0" y="0"/>
            <a:chExt cx="1225758" cy="930555"/>
          </a:xfrm>
        </p:grpSpPr>
        <p:sp>
          <p:nvSpPr>
            <p:cNvPr id="8" name="Freeform 22">
              <a:extLst>
                <a:ext uri="{FF2B5EF4-FFF2-40B4-BE49-F238E27FC236}">
                  <a16:creationId xmlns:a16="http://schemas.microsoft.com/office/drawing/2014/main" id="{10F1B194-8892-66E1-9F8A-39E6C7C206EC}"/>
                </a:ext>
              </a:extLst>
            </p:cNvPr>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EEF2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9" name="TextBox 23">
              <a:extLst>
                <a:ext uri="{FF2B5EF4-FFF2-40B4-BE49-F238E27FC236}">
                  <a16:creationId xmlns:a16="http://schemas.microsoft.com/office/drawing/2014/main" id="{6C1BFC32-BF37-6286-F159-40FC568298A9}"/>
                </a:ext>
              </a:extLst>
            </p:cNvPr>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03 · KẾT QUẢ VÀ DEMO</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Kết quả và hướng phát triển</a:t>
            </a:r>
          </a:p>
        </p:txBody>
      </p:sp>
      <p:sp>
        <p:nvSpPr>
          <p:cNvPr id="303" name="ColHeader"/>
          <p:cNvSpPr txBox="1"/>
          <p:nvPr/>
        </p:nvSpPr>
        <p:spPr>
          <a:xfrm>
            <a:off x="3429000" y="3125237"/>
            <a:ext cx="3124200" cy="430887"/>
          </a:xfrm>
          <a:prstGeom prst="rect">
            <a:avLst/>
          </a:prstGeom>
        </p:spPr>
        <p:txBody>
          <a:bodyPr wrap="square" lIns="0" tIns="0" rIns="0" bIns="0" rtlCol="0" anchor="t">
            <a:spAutoFit/>
          </a:bodyPr>
          <a:lstStyle/>
          <a:p>
            <a:pPr algn="l">
              <a:lnSpc>
                <a:spcPct val="100000"/>
              </a:lnSpc>
            </a:pPr>
            <a:r>
              <a:rPr lang="vi-VN" sz="2800" b="1" dirty="0">
                <a:solidFill>
                  <a:srgbClr val="4F46E5"/>
                </a:solidFill>
                <a:latin typeface="Arial" panose="020B0604020202020204" pitchFamily="34" charset="0"/>
                <a:ea typeface="Poppins Bold" panose="00000800000000000000"/>
                <a:cs typeface="Arial" panose="020B0604020202020204" pitchFamily="34" charset="0"/>
                <a:sym typeface="Poppins Bold" panose="00000800000000000000"/>
              </a:rPr>
              <a:t>Kết quả đạt được</a:t>
            </a:r>
          </a:p>
        </p:txBody>
      </p:sp>
      <p:sp>
        <p:nvSpPr>
          <p:cNvPr id="304" name="Bullets"/>
          <p:cNvSpPr txBox="1"/>
          <p:nvPr/>
        </p:nvSpPr>
        <p:spPr>
          <a:xfrm>
            <a:off x="1281164" y="3901448"/>
            <a:ext cx="7600000" cy="1800044"/>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Hoàn thiện 3 thành phần: di động, quản trị, backend.</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Học liệu đầy đủ 6 cấp độ A1-C2.</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Tích hợp 4 tính năng AI: Trợ lý AI, Khám phá ảnh, Hội thoại mô phỏng, Sinh bài tập tùy chỉnh.</a:t>
            </a:r>
          </a:p>
        </p:txBody>
      </p:sp>
      <p:sp>
        <p:nvSpPr>
          <p:cNvPr id="305" name="ColHeader"/>
          <p:cNvSpPr txBox="1"/>
          <p:nvPr/>
        </p:nvSpPr>
        <p:spPr>
          <a:xfrm>
            <a:off x="11890800" y="3099838"/>
            <a:ext cx="2968200" cy="430887"/>
          </a:xfrm>
          <a:prstGeom prst="rect">
            <a:avLst/>
          </a:prstGeom>
        </p:spPr>
        <p:txBody>
          <a:bodyPr wrap="square" lIns="0" tIns="0" rIns="0" bIns="0" rtlCol="0" anchor="t">
            <a:spAutoFit/>
          </a:bodyPr>
          <a:lstStyle/>
          <a:p>
            <a:pPr algn="l">
              <a:lnSpc>
                <a:spcPct val="100000"/>
              </a:lnSpc>
            </a:pPr>
            <a:r>
              <a:rPr lang="vi-VN" sz="2800" b="1" dirty="0">
                <a:solidFill>
                  <a:srgbClr val="0891B2"/>
                </a:solidFill>
                <a:latin typeface="Arial" panose="020B0604020202020204" pitchFamily="34" charset="0"/>
                <a:ea typeface="Poppins Bold" panose="00000800000000000000"/>
                <a:cs typeface="Arial" panose="020B0604020202020204" pitchFamily="34" charset="0"/>
                <a:sym typeface="Poppins Bold" panose="00000800000000000000"/>
              </a:rPr>
              <a:t>Hướng phát triển</a:t>
            </a:r>
          </a:p>
        </p:txBody>
      </p:sp>
      <p:sp>
        <p:nvSpPr>
          <p:cNvPr id="306" name="Bullets"/>
          <p:cNvSpPr txBox="1"/>
          <p:nvPr/>
        </p:nvSpPr>
        <p:spPr>
          <a:xfrm>
            <a:off x="9548329" y="3748591"/>
            <a:ext cx="7600000" cy="2447008"/>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Mở rộng học liệu B1-C2, thêm tình huống mô phỏng gắn đời sống Việt Nam.</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 xml:space="preserve">Đánh giá phát âm, </a:t>
            </a:r>
            <a:r>
              <a:rPr lang="en-US" sz="2000" dirty="0" err="1">
                <a:solidFill>
                  <a:srgbClr val="1F2937"/>
                </a:solidFill>
                <a:latin typeface="Arial" panose="020B0604020202020204" pitchFamily="34" charset="0"/>
                <a:cs typeface="Arial" panose="020B0604020202020204" pitchFamily="34" charset="0"/>
                <a:sym typeface="Poppins" panose="00000500000000000000"/>
              </a:rPr>
              <a:t>tổng</a:t>
            </a:r>
            <a:r>
              <a:rPr lang="en-US" sz="2000" dirty="0">
                <a:solidFill>
                  <a:srgbClr val="1F2937"/>
                </a:solidFill>
                <a:latin typeface="Arial" panose="020B0604020202020204" pitchFamily="34" charset="0"/>
                <a:cs typeface="Arial" panose="020B0604020202020204" pitchFamily="34" charset="0"/>
                <a:sym typeface="Poppins" panose="00000500000000000000"/>
              </a:rPr>
              <a:t xml:space="preserve"> </a:t>
            </a:r>
            <a:r>
              <a:rPr lang="en-US" sz="2000" dirty="0" err="1">
                <a:solidFill>
                  <a:srgbClr val="1F2937"/>
                </a:solidFill>
                <a:latin typeface="Arial" panose="020B0604020202020204" pitchFamily="34" charset="0"/>
                <a:cs typeface="Arial" panose="020B0604020202020204" pitchFamily="34" charset="0"/>
                <a:sym typeface="Poppins" panose="00000500000000000000"/>
              </a:rPr>
              <a:t>hợp</a:t>
            </a:r>
            <a:r>
              <a:rPr lang="en-US" sz="2000" dirty="0">
                <a:solidFill>
                  <a:srgbClr val="1F2937"/>
                </a:solidFill>
                <a:latin typeface="Arial" panose="020B0604020202020204" pitchFamily="34" charset="0"/>
                <a:cs typeface="Arial" panose="020B0604020202020204" pitchFamily="34" charset="0"/>
                <a:sym typeface="Poppins" panose="00000500000000000000"/>
              </a:rPr>
              <a:t xml:space="preserve"> </a:t>
            </a:r>
            <a:r>
              <a:rPr lang="en-US" sz="2000" dirty="0" err="1">
                <a:solidFill>
                  <a:srgbClr val="1F2937"/>
                </a:solidFill>
                <a:latin typeface="Arial" panose="020B0604020202020204" pitchFamily="34" charset="0"/>
                <a:cs typeface="Arial" panose="020B0604020202020204" pitchFamily="34" charset="0"/>
                <a:sym typeface="Poppins" panose="00000500000000000000"/>
              </a:rPr>
              <a:t>lỗi</a:t>
            </a:r>
            <a:r>
              <a:rPr lang="en-US" sz="2000" dirty="0">
                <a:solidFill>
                  <a:srgbClr val="1F2937"/>
                </a:solidFill>
                <a:latin typeface="Arial" panose="020B0604020202020204" pitchFamily="34" charset="0"/>
                <a:cs typeface="Arial" panose="020B0604020202020204" pitchFamily="34" charset="0"/>
                <a:sym typeface="Poppins" panose="00000500000000000000"/>
              </a:rPr>
              <a:t xml:space="preserve"> </a:t>
            </a:r>
            <a:r>
              <a:rPr lang="en-US" sz="2000" dirty="0" err="1">
                <a:solidFill>
                  <a:srgbClr val="1F2937"/>
                </a:solidFill>
                <a:latin typeface="Arial" panose="020B0604020202020204" pitchFamily="34" charset="0"/>
                <a:cs typeface="Arial" panose="020B0604020202020204" pitchFamily="34" charset="0"/>
                <a:sym typeface="Poppins" panose="00000500000000000000"/>
              </a:rPr>
              <a:t>sai</a:t>
            </a:r>
            <a:r>
              <a:rPr lang="vi-VN" sz="2000" dirty="0">
                <a:solidFill>
                  <a:srgbClr val="1F2937"/>
                </a:solidFill>
                <a:latin typeface="Arial" panose="020B0604020202020204" pitchFamily="34" charset="0"/>
                <a:cs typeface="Arial" panose="020B0604020202020204" pitchFamily="34" charset="0"/>
                <a:sym typeface="Poppins" panose="00000500000000000000"/>
              </a:rPr>
              <a:t>, gợi ý lộ trình học theo điểm yếu.</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Học ngoại tuyến, biểu đồ thống kê cho quản trị</a:t>
            </a:r>
            <a:r>
              <a:rPr lang="en-US" sz="2000" dirty="0">
                <a:solidFill>
                  <a:srgbClr val="1F2937"/>
                </a:solidFill>
                <a:latin typeface="Arial" panose="020B0604020202020204" pitchFamily="34" charset="0"/>
                <a:cs typeface="Arial" panose="020B0604020202020204" pitchFamily="34" charset="0"/>
                <a:sym typeface="Poppins" panose="00000500000000000000"/>
              </a:rPr>
              <a:t>.</a:t>
            </a:r>
            <a:endParaRPr lang="vi-VN" sz="2000" dirty="0">
              <a:solidFill>
                <a:srgbClr val="1F2937"/>
              </a:solidFill>
              <a:latin typeface="Arial" panose="020B0604020202020204" pitchFamily="34" charset="0"/>
              <a:cs typeface="Arial" panose="020B0604020202020204" pitchFamily="34" charset="0"/>
              <a:sym typeface="Poppins" panose="00000500000000000000"/>
            </a:endParaRPr>
          </a:p>
        </p:txBody>
      </p:sp>
      <p:grpSp>
        <p:nvGrpSpPr>
          <p:cNvPr id="2" name="Group 1">
            <a:extLst>
              <a:ext uri="{FF2B5EF4-FFF2-40B4-BE49-F238E27FC236}">
                <a16:creationId xmlns:a16="http://schemas.microsoft.com/office/drawing/2014/main" id="{22DA0C8D-49B1-90F8-1050-26C3E87E965A}"/>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510BD7E7-C5B6-4514-1597-BB41DD5A2F4B}"/>
                </a:ext>
              </a:extLst>
            </p:cNvPr>
            <p:cNvGrpSpPr/>
            <p:nvPr/>
          </p:nvGrpSpPr>
          <p:grpSpPr>
            <a:xfrm>
              <a:off x="25800" y="604"/>
              <a:ext cx="2394" cy="1233"/>
              <a:chOff x="8279827" y="265057"/>
              <a:chExt cx="1648297" cy="863121"/>
            </a:xfrm>
          </p:grpSpPr>
          <p:pic>
            <p:nvPicPr>
              <p:cNvPr id="23" name="Picture 22" descr="tvu">
                <a:extLst>
                  <a:ext uri="{FF2B5EF4-FFF2-40B4-BE49-F238E27FC236}">
                    <a16:creationId xmlns:a16="http://schemas.microsoft.com/office/drawing/2014/main" id="{D73EB5D5-DDC4-B0BA-5DD1-1E77D0909FA1}"/>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4" name="Picture 23" descr="A logo with a black background  Description automatically generated">
                <a:extLst>
                  <a:ext uri="{FF2B5EF4-FFF2-40B4-BE49-F238E27FC236}">
                    <a16:creationId xmlns:a16="http://schemas.microsoft.com/office/drawing/2014/main" id="{223D5E62-F3FA-9251-5F99-28F16DE08FF0}"/>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a:extLst>
              <a:ext uri="{FF2B5EF4-FFF2-40B4-BE49-F238E27FC236}">
                <a16:creationId xmlns:a16="http://schemas.microsoft.com/office/drawing/2014/main" id="{9A370A93-A8DF-386C-5105-3D5E03DB7006}"/>
              </a:ext>
            </a:extLst>
          </p:cNvPr>
          <p:cNvGrpSpPr/>
          <p:nvPr/>
        </p:nvGrpSpPr>
        <p:grpSpPr>
          <a:xfrm>
            <a:off x="-334645" y="9114790"/>
            <a:ext cx="17593945" cy="1583055"/>
            <a:chOff x="-527" y="14354"/>
            <a:chExt cx="27707" cy="2493"/>
          </a:xfrm>
        </p:grpSpPr>
        <p:grpSp>
          <p:nvGrpSpPr>
            <p:cNvPr id="5" name="Group 23">
              <a:extLst>
                <a:ext uri="{FF2B5EF4-FFF2-40B4-BE49-F238E27FC236}">
                  <a16:creationId xmlns:a16="http://schemas.microsoft.com/office/drawing/2014/main" id="{A7CF8AB7-E846-34ED-E4E3-E5E06ED98D61}"/>
                </a:ext>
              </a:extLst>
            </p:cNvPr>
            <p:cNvGrpSpPr/>
            <p:nvPr/>
          </p:nvGrpSpPr>
          <p:grpSpPr>
            <a:xfrm>
              <a:off x="-527" y="14354"/>
              <a:ext cx="27707" cy="2493"/>
              <a:chOff x="0" y="0"/>
              <a:chExt cx="4633762" cy="416940"/>
            </a:xfrm>
          </p:grpSpPr>
          <p:sp>
            <p:nvSpPr>
              <p:cNvPr id="6" name="Freeform 24">
                <a:extLst>
                  <a:ext uri="{FF2B5EF4-FFF2-40B4-BE49-F238E27FC236}">
                    <a16:creationId xmlns:a16="http://schemas.microsoft.com/office/drawing/2014/main" id="{1646CAB2-5010-0E90-068A-579D435B1E4A}"/>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7" name="TextBox 25">
                <a:extLst>
                  <a:ext uri="{FF2B5EF4-FFF2-40B4-BE49-F238E27FC236}">
                    <a16:creationId xmlns:a16="http://schemas.microsoft.com/office/drawing/2014/main" id="{F8A309AB-DAA4-8966-C29F-26B8793F9DF0}"/>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a:extLst>
                <a:ext uri="{FF2B5EF4-FFF2-40B4-BE49-F238E27FC236}">
                  <a16:creationId xmlns:a16="http://schemas.microsoft.com/office/drawing/2014/main" id="{890737C5-6A09-18AB-6498-59D76216A88C}"/>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a:extLst>
                <a:ext uri="{FF2B5EF4-FFF2-40B4-BE49-F238E27FC236}">
                  <a16:creationId xmlns:a16="http://schemas.microsoft.com/office/drawing/2014/main" id="{C08D0A26-C0E7-AB27-7D56-ED8AB8CE35FC}"/>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14</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extLst>
      <p:ext uri="{BB962C8B-B14F-4D97-AF65-F5344CB8AC3E}">
        <p14:creationId xmlns:p14="http://schemas.microsoft.com/office/powerpoint/2010/main" val="2945771163"/>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07"/>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15</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
        <p:nvSpPr>
          <p:cNvPr id="4" name="Text Box 3"/>
          <p:cNvSpPr txBox="1"/>
          <p:nvPr/>
        </p:nvSpPr>
        <p:spPr>
          <a:xfrm>
            <a:off x="7274560" y="2019300"/>
            <a:ext cx="2374265" cy="862737"/>
          </a:xfrm>
          <a:prstGeom prst="rect">
            <a:avLst/>
          </a:prstGeom>
          <a:noFill/>
        </p:spPr>
        <p:txBody>
          <a:bodyPr wrap="square" rtlCol="0" anchor="t">
            <a:spAutoFit/>
          </a:bodyPr>
          <a:lstStyle/>
          <a:p>
            <a:pPr algn="l">
              <a:lnSpc>
                <a:spcPts val="6365"/>
              </a:lnSpc>
            </a:pPr>
            <a:r>
              <a:rPr lang="vi-VN" altLang="en-GB" sz="5305" b="1" dirty="0">
                <a:solidFill>
                  <a:srgbClr val="242424"/>
                </a:solidFill>
                <a:latin typeface="Arial" panose="020B0604020202020204" pitchFamily="34" charset="0"/>
                <a:ea typeface="Poppins Bold" panose="00000800000000000000"/>
                <a:cs typeface="Arial" panose="020B0604020202020204" pitchFamily="34" charset="0"/>
                <a:sym typeface="Poppins Bold" panose="00000800000000000000"/>
              </a:rPr>
              <a:t>Demo</a:t>
            </a:r>
          </a:p>
        </p:txBody>
      </p:sp>
      <p:sp>
        <p:nvSpPr>
          <p:cNvPr id="39" name="TextBox 39"/>
          <p:cNvSpPr txBox="1"/>
          <p:nvPr/>
        </p:nvSpPr>
        <p:spPr>
          <a:xfrm rot="-5400000">
            <a:off x="7951755" y="6717622"/>
            <a:ext cx="178626" cy="78242"/>
          </a:xfrm>
          <a:prstGeom prst="rect">
            <a:avLst/>
          </a:prstGeom>
        </p:spPr>
        <p:txBody>
          <a:bodyPr lIns="50800" tIns="50800" rIns="50800" bIns="50800" rtlCol="0" anchor="ctr"/>
          <a:lstStyle/>
          <a:p>
            <a:pPr algn="ctr">
              <a:lnSpc>
                <a:spcPts val="2355"/>
              </a:lnSpc>
            </a:pPr>
            <a:r>
              <a:rPr lang="vi-VN"/>
              <a:t xml:space="preserve"> </a:t>
            </a:r>
          </a:p>
        </p:txBody>
      </p:sp>
      <p:sp>
        <p:nvSpPr>
          <p:cNvPr id="8" name="Freeform 8" descr="3d illustration of a computer monitor"/>
          <p:cNvSpPr/>
          <p:nvPr/>
        </p:nvSpPr>
        <p:spPr>
          <a:xfrm>
            <a:off x="6629400" y="3482975"/>
            <a:ext cx="3796665" cy="3362960"/>
          </a:xfrm>
          <a:custGeom>
            <a:avLst/>
            <a:gdLst/>
            <a:ahLst/>
            <a:cxnLst/>
            <a:rect l="l" t="t" r="r" b="b"/>
            <a:pathLst>
              <a:path w="2134233" h="1890228">
                <a:moveTo>
                  <a:pt x="0" y="0"/>
                </a:moveTo>
                <a:lnTo>
                  <a:pt x="2134234" y="0"/>
                </a:lnTo>
                <a:lnTo>
                  <a:pt x="2134234" y="1890228"/>
                </a:lnTo>
                <a:lnTo>
                  <a:pt x="0" y="1890228"/>
                </a:lnTo>
                <a:lnTo>
                  <a:pt x="0" y="0"/>
                </a:lnTo>
                <a:close/>
              </a:path>
            </a:pathLst>
          </a:custGeom>
          <a:blipFill>
            <a:blip r:embed="rId2"/>
            <a:stretch>
              <a:fillRect/>
            </a:stretch>
          </a:blipFill>
        </p:spPr>
        <p:txBody>
          <a:bodyPr/>
          <a:lstStyle/>
          <a:p>
            <a:endParaRPr lang="en-US" dirty="0">
              <a:latin typeface="Arial" panose="020B0604020202020204" pitchFamily="34" charset="0"/>
            </a:endParaRPr>
          </a:p>
        </p:txBody>
      </p:sp>
      <p:grpSp>
        <p:nvGrpSpPr>
          <p:cNvPr id="5" name="Group 4">
            <a:extLst>
              <a:ext uri="{FF2B5EF4-FFF2-40B4-BE49-F238E27FC236}">
                <a16:creationId xmlns:a16="http://schemas.microsoft.com/office/drawing/2014/main" id="{31BAF928-7E9E-321A-B82D-220F147C28D7}"/>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9206660A-11CF-C72B-3F80-02629D8CF866}"/>
                </a:ext>
              </a:extLst>
            </p:cNvPr>
            <p:cNvGrpSpPr/>
            <p:nvPr/>
          </p:nvGrpSpPr>
          <p:grpSpPr>
            <a:xfrm>
              <a:off x="25800" y="604"/>
              <a:ext cx="2394" cy="1233"/>
              <a:chOff x="8279827" y="265057"/>
              <a:chExt cx="1648297" cy="863121"/>
            </a:xfrm>
          </p:grpSpPr>
          <p:pic>
            <p:nvPicPr>
              <p:cNvPr id="9" name="Picture 8" descr="tvu">
                <a:extLst>
                  <a:ext uri="{FF2B5EF4-FFF2-40B4-BE49-F238E27FC236}">
                    <a16:creationId xmlns:a16="http://schemas.microsoft.com/office/drawing/2014/main" id="{8BFDC481-7CC0-C8AF-A921-167A0E30C95D}"/>
                  </a:ext>
                </a:extLst>
              </p:cNvPr>
              <p:cNvPicPr>
                <a:picLocks noChangeAspect="1"/>
              </p:cNvPicPr>
              <p:nvPr/>
            </p:nvPicPr>
            <p:blipFill>
              <a:blip r:embed="rId3"/>
              <a:srcRect l="20639" t="20611" r="20250" b="20046"/>
              <a:stretch>
                <a:fillRect/>
              </a:stretch>
            </p:blipFill>
            <p:spPr>
              <a:xfrm>
                <a:off x="8279827" y="265057"/>
                <a:ext cx="850479" cy="853652"/>
              </a:xfrm>
              <a:prstGeom prst="rect">
                <a:avLst/>
              </a:prstGeom>
            </p:spPr>
          </p:pic>
          <p:pic>
            <p:nvPicPr>
              <p:cNvPr id="10" name="Picture 9" descr="A logo with a black background  Description automatically generated">
                <a:extLst>
                  <a:ext uri="{FF2B5EF4-FFF2-40B4-BE49-F238E27FC236}">
                    <a16:creationId xmlns:a16="http://schemas.microsoft.com/office/drawing/2014/main" id="{27544C5C-2C5A-4038-0B76-5881F3CC9CEB}"/>
                  </a:ext>
                </a:extLst>
              </p:cNvPr>
              <p:cNvPicPr>
                <a:picLocks noChangeAspect="1"/>
              </p:cNvPicPr>
              <p:nvPr/>
            </p:nvPicPr>
            <p:blipFill rotWithShape="1">
              <a:blip r:embed="rId4">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5" name="TextBox 25"/>
          <p:cNvSpPr txBox="1"/>
          <p:nvPr/>
        </p:nvSpPr>
        <p:spPr>
          <a:xfrm>
            <a:off x="834977" y="3418547"/>
            <a:ext cx="16868861" cy="1204945"/>
          </a:xfrm>
          <a:prstGeom prst="rect">
            <a:avLst/>
          </a:prstGeom>
        </p:spPr>
        <p:txBody>
          <a:bodyPr wrap="square" lIns="0" tIns="0" rIns="0" bIns="0" rtlCol="0" anchor="t">
            <a:spAutoFit/>
          </a:bodyPr>
          <a:lstStyle/>
          <a:p>
            <a:pPr algn="ctr">
              <a:lnSpc>
                <a:spcPts val="10000"/>
              </a:lnSpc>
            </a:pPr>
            <a:r>
              <a:rPr lang="vi-VN" altLang="en-US" sz="8330" b="1" dirty="0">
                <a:solidFill>
                  <a:srgbClr val="242424"/>
                </a:solidFill>
                <a:latin typeface="Arial" panose="020B0604020202020204" pitchFamily="34" charset="0"/>
                <a:ea typeface="Poppins Bold" panose="00000800000000000000"/>
                <a:cs typeface="Arial" panose="020B0604020202020204" pitchFamily="34" charset="0"/>
                <a:sym typeface="Poppins Bold" panose="00000800000000000000"/>
              </a:rPr>
              <a:t>Cảm ơn</a:t>
            </a:r>
          </a:p>
        </p:txBody>
      </p:sp>
      <p:sp>
        <p:nvSpPr>
          <p:cNvPr id="26" name="TextBox 26"/>
          <p:cNvSpPr txBox="1"/>
          <p:nvPr/>
        </p:nvSpPr>
        <p:spPr>
          <a:xfrm>
            <a:off x="927687" y="4856608"/>
            <a:ext cx="16776151" cy="282129"/>
          </a:xfrm>
          <a:prstGeom prst="rect">
            <a:avLst/>
          </a:prstGeom>
        </p:spPr>
        <p:txBody>
          <a:bodyPr wrap="square" lIns="0" tIns="0" rIns="0" bIns="0" rtlCol="0" anchor="t">
            <a:spAutoFit/>
          </a:bodyPr>
          <a:lstStyle/>
          <a:p>
            <a:pPr algn="ctr">
              <a:lnSpc>
                <a:spcPts val="2220"/>
              </a:lnSpc>
            </a:pPr>
            <a:r>
              <a:rPr lang="vi-VN" altLang="en-US" sz="2000" dirty="0">
                <a:solidFill>
                  <a:srgbClr val="242424"/>
                </a:solidFill>
                <a:latin typeface="Arial" panose="020B0604020202020204" pitchFamily="34" charset="0"/>
                <a:ea typeface="Poppins" panose="00000500000000000000"/>
                <a:cs typeface="Arial" panose="020B0604020202020204" pitchFamily="34" charset="0"/>
                <a:sym typeface="Poppins" panose="00000500000000000000"/>
              </a:rPr>
              <a:t>Cảm ơn Thầy và các bạn đã lắng nghe.</a:t>
            </a:r>
          </a:p>
        </p:txBody>
      </p:sp>
      <p:grpSp>
        <p:nvGrpSpPr>
          <p:cNvPr id="59" name="Group 58"/>
          <p:cNvGrpSpPr/>
          <p:nvPr/>
        </p:nvGrpSpPr>
        <p:grpSpPr>
          <a:xfrm>
            <a:off x="-334646" y="9114790"/>
            <a:ext cx="17545051" cy="1583055"/>
            <a:chOff x="-527" y="14354"/>
            <a:chExt cx="27707" cy="2493"/>
          </a:xfrm>
        </p:grpSpPr>
        <p:grpSp>
          <p:nvGrpSpPr>
            <p:cNvPr id="60" name="Group 23"/>
            <p:cNvGrpSpPr/>
            <p:nvPr/>
          </p:nvGrpSpPr>
          <p:grpSpPr>
            <a:xfrm>
              <a:off x="-527" y="14354"/>
              <a:ext cx="27707" cy="2493"/>
              <a:chOff x="0" y="0"/>
              <a:chExt cx="4633762" cy="416940"/>
            </a:xfrm>
          </p:grpSpPr>
          <p:sp>
            <p:nvSpPr>
              <p:cNvPr id="61"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62"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3"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4" name="TextBox 40"/>
            <p:cNvSpPr txBox="1"/>
            <p:nvPr/>
          </p:nvSpPr>
          <p:spPr>
            <a:xfrm>
              <a:off x="24974" y="14951"/>
              <a:ext cx="1384" cy="407"/>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16</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grpSp>
        <p:nvGrpSpPr>
          <p:cNvPr id="2" name="Group 1">
            <a:extLst>
              <a:ext uri="{FF2B5EF4-FFF2-40B4-BE49-F238E27FC236}">
                <a16:creationId xmlns:a16="http://schemas.microsoft.com/office/drawing/2014/main" id="{A104C16C-5B43-2A00-24F2-EA42292D9D39}"/>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6321CAE9-9B0F-CD26-A55E-3A93D6884C92}"/>
                </a:ext>
              </a:extLst>
            </p:cNvPr>
            <p:cNvGrpSpPr/>
            <p:nvPr/>
          </p:nvGrpSpPr>
          <p:grpSpPr>
            <a:xfrm>
              <a:off x="25800" y="604"/>
              <a:ext cx="2394" cy="1233"/>
              <a:chOff x="8279827" y="265057"/>
              <a:chExt cx="1648297" cy="863121"/>
            </a:xfrm>
          </p:grpSpPr>
          <p:pic>
            <p:nvPicPr>
              <p:cNvPr id="5" name="Picture 4" descr="tvu">
                <a:extLst>
                  <a:ext uri="{FF2B5EF4-FFF2-40B4-BE49-F238E27FC236}">
                    <a16:creationId xmlns:a16="http://schemas.microsoft.com/office/drawing/2014/main" id="{BEB51FDA-44AE-D097-BE14-621806F65B9C}"/>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6" name="Picture 5" descr="A logo with a black background  Description automatically generated">
                <a:extLst>
                  <a:ext uri="{FF2B5EF4-FFF2-40B4-BE49-F238E27FC236}">
                    <a16:creationId xmlns:a16="http://schemas.microsoft.com/office/drawing/2014/main" id="{C4E192E2-8875-0524-512A-C70A7F5AA6D1}"/>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F46E5"/>
      </a:accent1>
      <a:accent2>
        <a:srgbClr val="ED7D31"/>
      </a:accent2>
      <a:accent3>
        <a:srgbClr val="A5A5A5"/>
      </a:accent3>
      <a:accent4>
        <a:srgbClr val="FFC000"/>
      </a:accent4>
      <a:accent5>
        <a:srgbClr val="4F46E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F46E5"/>
      </a:accent1>
      <a:accent2>
        <a:srgbClr val="ED7D31"/>
      </a:accent2>
      <a:accent3>
        <a:srgbClr val="A5A5A5"/>
      </a:accent3>
      <a:accent4>
        <a:srgbClr val="FFC000"/>
      </a:accent4>
      <a:accent5>
        <a:srgbClr val="4F46E5"/>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320</TotalTime>
  <Words>1466</Words>
  <Application>Microsoft Office PowerPoint</Application>
  <PresentationFormat>Custom</PresentationFormat>
  <Paragraphs>141</Paragraphs>
  <Slides>16</Slides>
  <Notes>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16</vt:i4>
      </vt:variant>
    </vt:vector>
  </HeadingPairs>
  <TitlesOfParts>
    <vt:vector size="18"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Tomi Sakae</cp:lastModifiedBy>
  <cp:revision>342</cp:revision>
  <dcterms:created xsi:type="dcterms:W3CDTF">2006-08-16T00:00:00Z</dcterms:created>
  <dcterms:modified xsi:type="dcterms:W3CDTF">2026-07-07T02:29:11Z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A74E385F96EA4A34BC3B6B617110F23A_13</vt:lpwstr>
  </property>
  <property fmtid="{D5CDD505-2E9C-101B-9397-08002B2CF9AE}" pid="3" name="KSOProductBuildVer">
    <vt:lpwstr>2057-12.2.0.19805</vt:lpwstr>
  </property>
</Properties>
</file>