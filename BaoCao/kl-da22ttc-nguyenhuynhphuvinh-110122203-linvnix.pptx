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85" r:id="rId1"/>
  </p:sldMasterIdLst>
  <p:notesMasterIdLst>
    <p:notesMasterId r:id="rId18"/>
  </p:notesMasterIdLst>
  <p:sldIdLst>
    <p:sldId id="256" r:id="rId2"/>
    <p:sldId id="280" r:id="rId3"/>
    <p:sldId id="284" r:id="rId4"/>
    <p:sldId id="279" r:id="rId5"/>
    <p:sldId id="296" r:id="rId6"/>
    <p:sldId id="297" r:id="rId7"/>
    <p:sldId id="285" r:id="rId8"/>
    <p:sldId id="283" r:id="rId9"/>
    <p:sldId id="299" r:id="rId10"/>
    <p:sldId id="287" r:id="rId11"/>
    <p:sldId id="298" r:id="rId12"/>
    <p:sldId id="286" r:id="rId13"/>
    <p:sldId id="289" r:id="rId14"/>
    <p:sldId id="300" r:id="rId15"/>
    <p:sldId id="294" r:id="rId16"/>
    <p:sldId id="293" r:id="rId17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8" userDrawn="1">
          <p15:clr>
            <a:srgbClr val="A4A3A4"/>
          </p15:clr>
        </p15:guide>
        <p15:guide id="2" pos="28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BFC"/>
    <a:srgbClr val="3B82F6"/>
    <a:srgbClr val="F1F5F9"/>
    <a:srgbClr val="EFF6FF"/>
    <a:srgbClr val="DBEAFE"/>
    <a:srgbClr val="EDE9FE"/>
    <a:srgbClr val="0F172A"/>
    <a:srgbClr val="06B6D4"/>
    <a:srgbClr val="8B5CF6"/>
    <a:srgbClr val="CFF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29"/>
      </p:cViewPr>
      <p:guideLst>
        <p:guide orient="horz" pos="2188"/>
        <p:guide pos="28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EFD42F7-718C-4B98-AAEC-167E6DDD60A7}" type="datetimeFigureOut">
              <a:rPr lang="en-US" smtClean="0"/>
              <a:pPr/>
              <a:t>7/7/2026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21B2AA4F-B828-4D7C-AFD3-893933DAFCB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93222-F9CF-616A-2B09-40CD10A33D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FEE88-51AF-8322-EAA5-0566098E95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CDD6B-C9DC-E61C-12B9-0375AFBC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A87D1-6521-215F-322B-7D25849F7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DA91A5-8A96-0823-0BCF-07788CF40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941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10EBA-2439-7E7C-EF57-F91FB86A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039E1-8A28-6E0F-21DA-F8D1C2B83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B76FF-95F5-7FF7-572B-A9977866E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6EF6-F708-C44A-502F-0FC350081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573E-B9D8-7D27-8BAC-26150DDA4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44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DA2D5-EF96-1C8C-03B7-2C5D30757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CC105-42A8-970A-A119-F12C053F6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96A0F-0F2B-1700-807A-853115D9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FF58A-546A-F807-1187-580F008C0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FC146-45CF-6FF5-3EE8-0EE1E7C9C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95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40627-0279-69FB-CE5A-92D9583D0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68398-F82D-4CA4-A85A-26E18514E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AB478A-670E-D909-CE48-6183EC7AC2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2D4AA-2A31-3EB3-6843-70055F85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78A41-DC1C-9255-F5C9-079A9DCB0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140AE-E6A1-3361-9B0D-ABB9113C8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0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53601-2B00-A44D-2921-85CE6C485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AA44-8CD7-1034-4D4F-313DC8F4A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4724D-2F3B-E5D9-73E9-B935029A5B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28EC4A-0F90-6B82-9D36-0A8A75496B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8B311-EFDA-F097-72CA-AA5E49E3F0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C7CAB3-297F-397A-6E17-81102A30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E3873C-306C-42D5-B795-5BD3F8B5A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C9CD79-A17A-EE61-86B2-8938C30B2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52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11B55-2C72-5E44-6A51-004410155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0712BA-20AA-441F-A2B1-557ABAD7E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C6C80D-017C-3140-10EF-083D2E375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7C29EC-13F8-5704-C92D-73E169FA7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499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CB3EF1-38D3-768F-61C0-8689B135E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D26FE5-21D2-3648-B90E-6CFACE78B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86E6D-AEE6-D9A9-33E1-A7D20CC8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31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C357E-4A95-3E49-7EFB-447CAF766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368E0-F5D6-9AA4-BF4D-D305CFB97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BCC57-6826-7B4D-6822-E71585FA2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F0922-2B48-243F-B31A-51BFF8E3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2F95A-C487-0062-66FB-733ED1330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5DC4A-FEED-211A-5735-991195A4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462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2CA4-6F91-9EA7-15E0-13CA342AD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DA5AA1-883A-C86C-9451-8957C2E186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F59157-C310-EADF-5860-A5CAB18FFF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C8F0B7-9721-C55A-7584-EAA53474B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595622-041C-8C0B-3121-FB64F292F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78C03-0ABC-6EC2-9A84-88FF9DEDD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236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450EC-A581-70C0-7AE4-AD912A168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291509-6533-AD47-AE3F-CBE2A4F81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487295-32C4-BE6F-12E3-A6B833E62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647A2-0D2B-A4C2-0A57-55723AB2F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30883-F135-4DD2-2459-B35CC91EF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65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31105C-CE83-9462-F403-B036CDDF58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8CB6AB-3C9A-CE0E-6773-B3533514BD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7DB42-6B08-9DFD-A1D5-FD0B6D1DB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B3588-D771-AE35-3E0D-39A7CF425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2B4FD-53F8-1E42-08E7-878CDE0FB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3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1B9021-1974-30E6-43C1-F4D3C85DA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33AC52-5D95-CAD1-FA80-80BDF8ED7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8F5062-DE7C-A041-E97E-0B2C715396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7/7/2026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3A831-BFCD-2FFB-D4F9-225F00D4BC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0FAF4-D2DE-D7B7-F90F-F574722C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208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Box 54"/>
          <p:cNvSpPr txBox="1"/>
          <p:nvPr/>
        </p:nvSpPr>
        <p:spPr>
          <a:xfrm>
            <a:off x="7452674" y="1448693"/>
            <a:ext cx="4521200" cy="269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vi-VN" altLang="en-GB" sz="2000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BÁO CÁO ĐỒ ÁN TỐT NGHIỆP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029200" y="2271289"/>
            <a:ext cx="9063990" cy="33138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55"/>
              </a:lnSpc>
            </a:pPr>
            <a:r>
              <a:rPr lang="vi-VN" altLang="en-US" sz="60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ỨNG DỤNG HỖ TRỢ </a:t>
            </a:r>
            <a:endParaRPr lang="en-US" altLang="en-US" sz="6000" b="1" dirty="0">
              <a:solidFill>
                <a:srgbClr val="0F172A"/>
              </a:solidFill>
              <a:latin typeface="Arial" panose="020B0604020202020204" pitchFamily="34" charset="0"/>
              <a:ea typeface="Poppins Bold" panose="00000800000000000000"/>
              <a:cs typeface="Arial" panose="020B0604020202020204" pitchFamily="34" charset="0"/>
              <a:sym typeface="Poppins Bold" panose="00000800000000000000"/>
            </a:endParaRPr>
          </a:p>
          <a:p>
            <a:pPr algn="ctr">
              <a:lnSpc>
                <a:spcPts val="8855"/>
              </a:lnSpc>
            </a:pPr>
            <a:r>
              <a:rPr lang="vi-VN" altLang="en-US" sz="60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DẠY HỌC TIẾNG VIỆT </a:t>
            </a:r>
            <a:endParaRPr lang="en-US" altLang="en-US" sz="6000" b="1" dirty="0">
              <a:solidFill>
                <a:srgbClr val="0F172A"/>
              </a:solidFill>
              <a:latin typeface="Arial" panose="020B0604020202020204" pitchFamily="34" charset="0"/>
              <a:ea typeface="Poppins Bold" panose="00000800000000000000"/>
              <a:cs typeface="Arial" panose="020B0604020202020204" pitchFamily="34" charset="0"/>
              <a:sym typeface="Poppins Bold" panose="00000800000000000000"/>
            </a:endParaRPr>
          </a:p>
          <a:p>
            <a:pPr algn="ctr">
              <a:lnSpc>
                <a:spcPts val="8855"/>
              </a:lnSpc>
            </a:pPr>
            <a:r>
              <a:rPr lang="vi-VN" altLang="en-US" sz="60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VỚI TRÍ TUỆ NHÂN TẠO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775575" y="7350646"/>
            <a:ext cx="3799198" cy="1103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90"/>
              </a:lnSpc>
            </a:pPr>
            <a:r>
              <a:rPr lang="vi-VN" altLang="en-US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Sinh viên thực hiện:</a:t>
            </a: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Họ Tên: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Nguyễn Huỳnh </a:t>
            </a:r>
            <a:r>
              <a:rPr lang="en-US" altLang="en-US" dirty="0" err="1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Phú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Vinh</a:t>
            </a:r>
            <a:endParaRPr lang="vi-VN" altLang="en-US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Lớp: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DA22TTC</a:t>
            </a:r>
            <a:endParaRPr lang="vi-VN" altLang="en-US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MSSV: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110122203</a:t>
            </a:r>
            <a:endParaRPr lang="vi-VN" altLang="en-US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</p:txBody>
      </p:sp>
      <p:sp>
        <p:nvSpPr>
          <p:cNvPr id="70" name="TextBox 63"/>
          <p:cNvSpPr txBox="1"/>
          <p:nvPr/>
        </p:nvSpPr>
        <p:spPr>
          <a:xfrm>
            <a:off x="7892415" y="6345123"/>
            <a:ext cx="3337560" cy="546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90"/>
              </a:lnSpc>
            </a:pPr>
            <a:r>
              <a:rPr lang="en-GB" altLang="vi-VN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Gi</a:t>
            </a:r>
            <a:r>
              <a:rPr lang="vi-VN" altLang="en-GB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ảng viên hướng dẫn</a:t>
            </a:r>
            <a:endParaRPr lang="vi-VN" altLang="en-US" b="1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TS. Nguyễn Bảo Ân</a:t>
            </a:r>
          </a:p>
        </p:txBody>
      </p:sp>
      <p:grpSp>
        <p:nvGrpSpPr>
          <p:cNvPr id="98" name="Group 97"/>
          <p:cNvGrpSpPr/>
          <p:nvPr/>
        </p:nvGrpSpPr>
        <p:grpSpPr>
          <a:xfrm>
            <a:off x="-334514" y="8897718"/>
            <a:ext cx="17593814" cy="1800241"/>
            <a:chOff x="-527" y="14012"/>
            <a:chExt cx="27707" cy="2835"/>
          </a:xfrm>
        </p:grpSpPr>
        <p:grpSp>
          <p:nvGrpSpPr>
            <p:cNvPr id="92" name="Group 23"/>
            <p:cNvGrpSpPr/>
            <p:nvPr/>
          </p:nvGrpSpPr>
          <p:grpSpPr>
            <a:xfrm>
              <a:off x="-527" y="14012"/>
              <a:ext cx="27707" cy="2835"/>
              <a:chOff x="-22" y="-57150"/>
              <a:chExt cx="4633784" cy="474130"/>
            </a:xfrm>
          </p:grpSpPr>
          <p:sp>
            <p:nvSpPr>
              <p:cNvPr id="93" name="Freeform 24"/>
              <p:cNvSpPr/>
              <p:nvPr/>
            </p:nvSpPr>
            <p:spPr>
              <a:xfrm>
                <a:off x="-22" y="4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94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95" name="TextBox 57"/>
            <p:cNvSpPr txBox="1"/>
            <p:nvPr/>
          </p:nvSpPr>
          <p:spPr>
            <a:xfrm>
              <a:off x="1664" y="14940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96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01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16383000" y="383540"/>
            <a:ext cx="1520190" cy="782955"/>
            <a:chOff x="25800" y="604"/>
            <a:chExt cx="2394" cy="1233"/>
          </a:xfrm>
        </p:grpSpPr>
        <p:grpSp>
          <p:nvGrpSpPr>
            <p:cNvPr id="102" name="Group 101"/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103" name="Picture 102" descr="tvu"/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104" name="Picture 103" descr="A logo with a black background  Description automatically generated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9"/>
          <p:cNvSpPr txBox="1"/>
          <p:nvPr/>
        </p:nvSpPr>
        <p:spPr>
          <a:xfrm>
            <a:off x="1056232" y="1726189"/>
            <a:ext cx="8115300" cy="927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00"/>
              </a:lnSpc>
            </a:pPr>
            <a:r>
              <a:rPr lang="vi-VN" altLang="en-US" sz="6415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Nội dung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18855" y="3633223"/>
            <a:ext cx="4299884" cy="3264332"/>
            <a:chOff x="0" y="0"/>
            <a:chExt cx="1225758" cy="93055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EF2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084982" y="3700036"/>
            <a:ext cx="4299884" cy="3264332"/>
            <a:chOff x="0" y="0"/>
            <a:chExt cx="1225758" cy="93055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F5F3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397783" y="3700036"/>
            <a:ext cx="4299884" cy="3264332"/>
            <a:chOff x="0" y="0"/>
            <a:chExt cx="1225758" cy="930555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CFE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97464" y="4968752"/>
            <a:ext cx="3542665" cy="1327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vi-VN" sz="2000" dirty="0">
                <a:solidFill>
                  <a:srgbClr val="0F172A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Lý do chọn đề tài, mục tiêu, đặc trưng tiếng Việt, nền tảng AI sử dụng.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71600" y="3883876"/>
            <a:ext cx="2236970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vi-VN" altLang="en-US" sz="7000" b="1" dirty="0">
                <a:solidFill>
                  <a:srgbClr val="4F46E5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01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490085" y="4285318"/>
            <a:ext cx="1854200" cy="368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altLang="en-US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Tổng quan</a:t>
            </a:r>
            <a:endParaRPr lang="vi-VN" altLang="en-GB" sz="2400" dirty="0">
              <a:solidFill>
                <a:srgbClr val="0F172A"/>
              </a:solidFill>
              <a:latin typeface="Arial" panose="020B0604020202020204" pitchFamily="34" charset="0"/>
              <a:ea typeface="Poppins Bold" panose="00000800000000000000"/>
              <a:cs typeface="Arial" panose="020B0604020202020204" pitchFamily="34" charset="0"/>
              <a:sym typeface="Poppins Bold" panose="00000800000000000000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6506927" y="3883876"/>
            <a:ext cx="2013185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vi-VN" altLang="en-US" sz="7000" b="1" dirty="0">
                <a:solidFill>
                  <a:srgbClr val="7C3AED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02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717243" y="4147749"/>
            <a:ext cx="2400000" cy="485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vi-VN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Thiết kế hệ thống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06927" y="5027136"/>
            <a:ext cx="3725545" cy="866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vi-VN" sz="2000" dirty="0">
                <a:solidFill>
                  <a:srgbClr val="0F17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Kiến trúc, 4 tính năng AI, cơ sở dữ liệu.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887200" y="3857522"/>
            <a:ext cx="2409425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vi-VN" altLang="en-US" sz="7000" b="1" dirty="0">
                <a:solidFill>
                  <a:srgbClr val="0891B2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03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931049" y="4968752"/>
            <a:ext cx="3594100" cy="866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vi-VN" sz="2000" dirty="0">
                <a:solidFill>
                  <a:srgbClr val="0F17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Kết quả đạt được, hướng phát triển, demo trực tiếp.</a:t>
            </a:r>
          </a:p>
        </p:txBody>
      </p:sp>
      <p:sp>
        <p:nvSpPr>
          <p:cNvPr id="63" name="TextBox 34"/>
          <p:cNvSpPr txBox="1"/>
          <p:nvPr/>
        </p:nvSpPr>
        <p:spPr>
          <a:xfrm>
            <a:off x="13091913" y="4263935"/>
            <a:ext cx="2409424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altLang="en-US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Kết quả </a:t>
            </a:r>
            <a:r>
              <a:rPr lang="en-US" altLang="en-US" sz="2400" dirty="0" err="1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và</a:t>
            </a:r>
            <a:r>
              <a:rPr lang="vi-VN" altLang="en-US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 Demo</a:t>
            </a:r>
          </a:p>
        </p:txBody>
      </p:sp>
      <p:grpSp>
        <p:nvGrpSpPr>
          <p:cNvPr id="70" name="Group 69"/>
          <p:cNvGrpSpPr/>
          <p:nvPr/>
        </p:nvGrpSpPr>
        <p:grpSpPr>
          <a:xfrm>
            <a:off x="-304800" y="9114790"/>
            <a:ext cx="17564099" cy="1583055"/>
            <a:chOff x="-527" y="14354"/>
            <a:chExt cx="27707" cy="2493"/>
          </a:xfrm>
        </p:grpSpPr>
        <p:grpSp>
          <p:nvGrpSpPr>
            <p:cNvPr id="64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5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66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</a:t>
              </a: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2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E5CD46B-DD9D-AC0B-564F-4A351BE83DCF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9AAA1C0-6A15-5089-2CB9-28619832EFBF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5" name="Picture 4" descr="tvu">
                <a:extLst>
                  <a:ext uri="{FF2B5EF4-FFF2-40B4-BE49-F238E27FC236}">
                    <a16:creationId xmlns:a16="http://schemas.microsoft.com/office/drawing/2014/main" id="{CD46AA21-2261-BDD5-5FBB-E969EBCEB5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6" name="Picture 5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1C9C3397-7E38-DCC6-09A5-D112D9A0FD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01 · TỔNG QUAN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Tổng quan đề tài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1608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liệu số tiếng Việt còn ít, học viên khó luyện giao tiếp thật.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Mục tiêu: nền tảng học tiếng Việt theo cấp độ, có AI hỗ trợ đúng ngữ cảnh.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3 thành phần: Ứng dụng di động, Trang quản trị, Backend dùng chung.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Công nghệ: Flutter, React, NestJS, PostgreSQL, Redis.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EE0BC2B-7537-577E-5EC7-A4C075ED0CDC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946A7D-A184-8B82-F91A-A6638CEB5AB6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6" name="Picture 5" descr="tvu">
                <a:extLst>
                  <a:ext uri="{FF2B5EF4-FFF2-40B4-BE49-F238E27FC236}">
                    <a16:creationId xmlns:a16="http://schemas.microsoft.com/office/drawing/2014/main" id="{F2086814-483A-BC70-9A76-42A01D0676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7" name="Picture 6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24C45110-2F1C-3616-1324-87651E9FE4A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</a:t>
              </a: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01 · TỔNG QUAN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Đặc trưng tiếng Việt và khung CEFR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CEFR chia 6 bậc A1-C2, Việt Nam có Thông tư 17/2015 tương ứng.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6 thanh điệu; đổi thanh là đổi nghĩa, ví dụ "vở" và "vợ".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3 vùng phương ngữ Bắc, Trung, Nam, khác nhau chủ yếu ở ngữ âm.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Lỗi thường gặp: thanh điệu, phụ âm, danh từ phân loại, trật tự từ.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[Bảng 6 thanh điệu / bản đồ 3 vùng phương ngữ]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6CD1226-2FF7-6F9F-406E-15CE4E8DD35A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53C5D4B-A3F4-F49D-63C7-6A432AE3D4BB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04FDFF8B-0F68-46B9-06FE-3733ECBD95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BD562C87-2E29-06B0-A23E-EEFBC96E41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</a:t>
              </a: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4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54E1C0-B9EF-C1B9-4828-A8D0A7A7C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01 · TỔNG QUAN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Nền tảng AI: từ chatbot đến Agent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Chatbot thường không biết tiến trình học của từng học viên.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Agent được gọi công cụ để đọc dữ liệu thật trước khi trả lời.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Cơ sở lý thuyết: suy luận, hành động, quan sát kết quả, gọi là ReAct.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Nguyên tắc an toàn: công cụ chỉ được đọc, không tự sửa hoặc xóa dữ liệu.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[Sơ đồ vòng lặp ReAct: Suy luận → Gọi công cụ → Quan sát]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D5943F1-70CD-A557-F19C-88B41253526B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8325306-1A6B-806B-71DF-D2E55762780A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C5946B59-89F3-A115-DD66-C70BD6DE6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3A28ADCD-4FEB-8CEB-F0BF-73CF4C1714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FF922C5F-689A-006E-052E-D6A45F3BBB8E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>
              <a:extLst>
                <a:ext uri="{FF2B5EF4-FFF2-40B4-BE49-F238E27FC236}">
                  <a16:creationId xmlns:a16="http://schemas.microsoft.com/office/drawing/2014/main" id="{C24848E3-AAD9-E713-6730-E653F8C59BF0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>
                <a:extLst>
                  <a:ext uri="{FF2B5EF4-FFF2-40B4-BE49-F238E27FC236}">
                    <a16:creationId xmlns:a16="http://schemas.microsoft.com/office/drawing/2014/main" id="{186B15F5-B464-407A-CE80-94375E4C2EBB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>
                <a:extLst>
                  <a:ext uri="{FF2B5EF4-FFF2-40B4-BE49-F238E27FC236}">
                    <a16:creationId xmlns:a16="http://schemas.microsoft.com/office/drawing/2014/main" id="{9649C63F-DA16-7E70-4684-393E627C626B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>
              <a:extLst>
                <a:ext uri="{FF2B5EF4-FFF2-40B4-BE49-F238E27FC236}">
                  <a16:creationId xmlns:a16="http://schemas.microsoft.com/office/drawing/2014/main" id="{0200A71D-F3D4-7E5E-0CC2-B93F1FD0531D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>
              <a:extLst>
                <a:ext uri="{FF2B5EF4-FFF2-40B4-BE49-F238E27FC236}">
                  <a16:creationId xmlns:a16="http://schemas.microsoft.com/office/drawing/2014/main" id="{CD0AA6B4-77DB-1219-25E1-8D4AC274B1E9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05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6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A0677E-CD7F-5C9D-9833-E374DE441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Kiến trúc tổng thể hệ thống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760000"/>
            <a:ext cx="7739063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Mô hình client-server, 3 tầng: Client, Server, Data và dịch vụ ngoài.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Client: mobile Flutter (Riverpod), admin React (Zustand, TanStack Query).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Server: NestJS chạy trên Bun, guard/pipe/interceptor xử lý xác thực và phân quyền.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Data và dịch vụ ngoài: PostgreSQL, Redis, Google OAuth, nhà cung cấp AI.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Điểm khác ứng dụng CRUD thường: mọi request AI đều qua backend kiểm soát.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3DFE20F-553C-9CD4-6A2A-7BACC426390A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348D21B-F92D-0E11-8519-0078E256E55C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1FB51DBF-EE7D-4368-64A4-29C9856192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0BE59667-C045-A841-FCE8-A66C74A7EE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DEA84CD-3AEE-3403-ECCC-C63623AE4C36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>
              <a:extLst>
                <a:ext uri="{FF2B5EF4-FFF2-40B4-BE49-F238E27FC236}">
                  <a16:creationId xmlns:a16="http://schemas.microsoft.com/office/drawing/2014/main" id="{75BA024C-F1CF-A1D8-EF6A-2EB0BFAED638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>
                <a:extLst>
                  <a:ext uri="{FF2B5EF4-FFF2-40B4-BE49-F238E27FC236}">
                    <a16:creationId xmlns:a16="http://schemas.microsoft.com/office/drawing/2014/main" id="{AB575C93-C01E-F018-31AE-F9B2D1EDDDB1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>
                <a:extLst>
                  <a:ext uri="{FF2B5EF4-FFF2-40B4-BE49-F238E27FC236}">
                    <a16:creationId xmlns:a16="http://schemas.microsoft.com/office/drawing/2014/main" id="{2DBCAFA8-373A-A44A-F73E-780CCD0FCFAF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>
              <a:extLst>
                <a:ext uri="{FF2B5EF4-FFF2-40B4-BE49-F238E27FC236}">
                  <a16:creationId xmlns:a16="http://schemas.microsoft.com/office/drawing/2014/main" id="{70338316-D601-4D4D-A6D4-3E05426EA773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>
              <a:extLst>
                <a:ext uri="{FF2B5EF4-FFF2-40B4-BE49-F238E27FC236}">
                  <a16:creationId xmlns:a16="http://schemas.microsoft.com/office/drawing/2014/main" id="{1A5540F9-0849-79F9-C733-11C6916F01E2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06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DD36D43-8757-98B1-7DFA-652A35B29C0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5803" y="1232727"/>
            <a:ext cx="8854997" cy="78242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43854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Tác nhân và ca sử dụng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2 tác nhân: Học viên (ứng dụng di động), Quản trị viên (trang quản trị).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12 ca sử dụng chính, từ đăng ký, học bài, đến các tính năng AI.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EB4B62E-AC1F-D428-2144-C0A210B36C30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5B894B1-2E43-A44F-1E21-D506DC27C21E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0" name="Picture 19" descr="tvu">
                <a:extLst>
                  <a:ext uri="{FF2B5EF4-FFF2-40B4-BE49-F238E27FC236}">
                    <a16:creationId xmlns:a16="http://schemas.microsoft.com/office/drawing/2014/main" id="{71FBE57E-7286-2913-0C4B-B09977245F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1" name="Picture 20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C88352EE-DFC7-21E1-8E0A-C76536F5DD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07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F37ADA1-2F66-D8AE-9594-78CB3B508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6812" y="1372880"/>
            <a:ext cx="7772400" cy="7684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Trợ lý AI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9 công cụ hỗ trợ, tất cả chỉ đọc dữ liệu của đúng người đang hỏi.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chỉ được chọn dùng công cụ ở lượt gọi đầu tiên, tối đa 10 lượt.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Cần nhiều công cụ thì chạy lần lượt từng cái, không chạy cùng lúc.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Trả lời hiện dần từng chữ, kèm báo trạng thái khi đang dùng công cụ.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Bấm Dừng hủy thẳng yêu cầu đang gửi tới AI, giữ lại phần đã trả lời.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3.3 — Sơ đồ tuần tự một lượt hỏi Trợ lý AI]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7B17025-0271-62DF-077A-31028C36104D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B664550-3036-6AFB-F04F-B975E938EF16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5" name="Picture 4" descr="tvu">
                <a:extLst>
                  <a:ext uri="{FF2B5EF4-FFF2-40B4-BE49-F238E27FC236}">
                    <a16:creationId xmlns:a16="http://schemas.microsoft.com/office/drawing/2014/main" id="{26E6424B-BE81-52E2-BC70-BA9BFEA21C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6" name="Picture 5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145D9183-3E66-6706-C997-ED8FD90DF6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66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7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68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9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71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08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33979-316F-83D1-0DE7-2E9FBD4EB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Hội thoại mô phỏng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Có sẵn lời mở đầu thì hiện luôn, AI chỉ vào việc từ câu học viên gõ.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Mỗi lượt học viên nói, hệ thống chỉ gọi AI đúng một lần duy nhất.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chấm lỗi chính tả và ngữ pháp ngay trong câu, lưu kèm tin nhắn đó.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Kết thúc phiên vì 1 trong 4 lý do, mỗi lý do chấm điểm khác nhau.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Điểm từng tiêu chí do AI chấm, hệ thống đối chiếu lại trước khi tính tổng.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3.4 — Sơ đồ tuần tự Hội thoại mô phỏng]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B54D45E-5DAD-5890-8581-051885DC43BB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0A0FC80-42AE-2036-F3DB-61441BC24281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8220CA00-A877-3166-E1A4-6922123FE6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DACDCAEB-DF81-A625-2115-1944329C0DA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EEB4568-ED47-84DC-D8E2-AFCF79ED4271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A01E889A-FB07-94F2-32C0-F9F6657F296B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0F8D4645-D566-2A86-C9D2-ECE44F719C7A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>
                <a:extLst>
                  <a:ext uri="{FF2B5EF4-FFF2-40B4-BE49-F238E27FC236}">
                    <a16:creationId xmlns:a16="http://schemas.microsoft.com/office/drawing/2014/main" id="{7E0D2C64-4A8C-709D-405E-477D21AED0CC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>
              <a:extLst>
                <a:ext uri="{FF2B5EF4-FFF2-40B4-BE49-F238E27FC236}">
                  <a16:creationId xmlns:a16="http://schemas.microsoft.com/office/drawing/2014/main" id="{FFD9F851-3384-7F56-A1C4-E42722EAD247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>
              <a:extLst>
                <a:ext uri="{FF2B5EF4-FFF2-40B4-BE49-F238E27FC236}">
                  <a16:creationId xmlns:a16="http://schemas.microsoft.com/office/drawing/2014/main" id="{9F6B10AB-E814-2D60-DF0B-41C2F370DDDD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09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080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Khám phá ảnh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viên gửi tối đa 5 ảnh kèm một câu hỏi, có thể hỏi tiếp.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đọc cả ảnh và câu hỏi cùng lúc, trả lời trọn vẹn một lần.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Kết quả gồm lời giải thích và danh sách từ vựng: từ, nghĩa, ví dụ.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Từ vựng không tự lưu, học viên bấm chọn để đưa vào Yêu sách.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[Sơ đồ luồng Khám phá ảnh — 3 khối nối tiếp]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55DA6D-5B91-FC54-4086-55A55E352E53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64C3BAA-E2CF-1AEE-FDAF-0EA82FB31952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CEB6A331-8503-4D23-6B1F-3685ACBA5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743B3547-37B5-EB39-BFFE-40C22A92434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10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E571BB-2BDF-F11C-7A99-919DFFB5F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Sinh bài tập tùy chỉnh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Chọn số câu, dạng câu hỏi, trọng tâm ôn tập, và phạm vi ôn.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Phạm vi là một bài học, một chủ đề, hoặc cả một khóa học.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chỉ dựa vào phần đã học trong phạm vi đó để ra đề.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Màn hình báo đang tạo đề, xong thì chuyển sang sẵn sàng làm bài.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Muốn đổi đề, bấm tạo lại: có bộ mới rồi mới thay bộ cũ.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[Sơ đồ luồng Sinh bài tập — 4 khối nối tiếp]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C30D17F-3EA2-DC29-4CE7-CDFB9F76B419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0299AE7-F556-C2A7-F789-EC53AA0D4C82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4FC44016-A34A-30B7-4CEA-A6E1E14EF7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44A037FB-FA58-DB80-F944-9ADF4D3BC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A237E5C-1430-8BA9-8366-0497886A3051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03F6D9AB-7F8C-1B5A-BED2-E6783373D2C0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99F7B025-1472-2A8D-C05D-7DAE50D83C3B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>
                <a:extLst>
                  <a:ext uri="{FF2B5EF4-FFF2-40B4-BE49-F238E27FC236}">
                    <a16:creationId xmlns:a16="http://schemas.microsoft.com/office/drawing/2014/main" id="{BE8A6273-22C3-AFFA-F516-2EF644C763C8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>
              <a:extLst>
                <a:ext uri="{FF2B5EF4-FFF2-40B4-BE49-F238E27FC236}">
                  <a16:creationId xmlns:a16="http://schemas.microsoft.com/office/drawing/2014/main" id="{91D2BB96-2CF8-419E-FE60-AC1A50EE0735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>
              <a:extLst>
                <a:ext uri="{FF2B5EF4-FFF2-40B4-BE49-F238E27FC236}">
                  <a16:creationId xmlns:a16="http://schemas.microsoft.com/office/drawing/2014/main" id="{E36C75F3-9815-3000-DCFC-B22889A182C4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11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7564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Thiết kế cơ sở dữ liệu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760000"/>
            <a:ext cx="1608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PostgreSQL, 27 bảng chia 6 nhóm nghiệp vụ.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6 nhóm nghiệp vụ, chú thích màu riêng theo từng nhóm trên sơ đồ.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Mọi bảng đều có mã định danh riêng và thời điểm tạo, sửa, xóa mềm.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Dữ liệu linh hoạt như cấu hình bài tập, kết quả AI lưu dạng JSON.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176337" y="4838700"/>
            <a:ext cx="16080000" cy="36113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3.5 — ERD toàn bộ hệ thống, 6 nhóm nghiệp vụ]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4798C8-A427-4D8E-9BE1-8C4424E160F1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EC6BAE-044E-5431-F11E-1D5372B9B29B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CD0E6070-7EE4-E372-71E7-83DFD69545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B54B6705-A416-F9A7-C0F7-661AC38B3D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12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Triển khai hệ thống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5529263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Cục bộ: Docker Compose gồm PostgreSQL 16, Redis 7, Backend.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Production: Backend trên Hugging Face Spaces (Docker Space, HTTPS).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CSDL chuyển sang CockroachDB Serverless, cache/queue dùng Aiven for Valkey.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Admin build web tĩnh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1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deloy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1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lên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Cloudflare Pages</a:t>
            </a: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, di động biên dịch 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file </a:t>
            </a: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.apk cho Android.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5A9E5C2-4F10-EC58-22BF-C2BFF24CFB49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CB093FE-535E-F749-FD09-DA4FD346A868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6" name="Picture 5" descr="tvu">
                <a:extLst>
                  <a:ext uri="{FF2B5EF4-FFF2-40B4-BE49-F238E27FC236}">
                    <a16:creationId xmlns:a16="http://schemas.microsoft.com/office/drawing/2014/main" id="{DAF2901C-4FB9-7401-3D2D-69AA961263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7" name="Picture 6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D5E5FB17-1B7E-40F6-F312-95E7C82FFA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13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56CD300-9A31-88D1-5A59-5805B708D66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1472210"/>
            <a:ext cx="11375613" cy="75847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380D2-B059-B804-02E9-F57E23F98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27">
            <a:extLst>
              <a:ext uri="{FF2B5EF4-FFF2-40B4-BE49-F238E27FC236}">
                <a16:creationId xmlns:a16="http://schemas.microsoft.com/office/drawing/2014/main" id="{C0F347EE-5DDC-3C3D-1F29-96B8523FA7FE}"/>
              </a:ext>
            </a:extLst>
          </p:cNvPr>
          <p:cNvGrpSpPr/>
          <p:nvPr/>
        </p:nvGrpSpPr>
        <p:grpSpPr>
          <a:xfrm>
            <a:off x="9290475" y="2861712"/>
            <a:ext cx="8002800" cy="3693994"/>
            <a:chOff x="0" y="0"/>
            <a:chExt cx="1225758" cy="930555"/>
          </a:xfrm>
        </p:grpSpPr>
        <p:sp>
          <p:nvSpPr>
            <p:cNvPr id="11" name="Freeform 28">
              <a:extLst>
                <a:ext uri="{FF2B5EF4-FFF2-40B4-BE49-F238E27FC236}">
                  <a16:creationId xmlns:a16="http://schemas.microsoft.com/office/drawing/2014/main" id="{573417CE-49E2-DBDC-519F-AC35F0AB414A}"/>
                </a:ext>
              </a:extLst>
            </p:cNvPr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CFE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2" name="TextBox 29">
              <a:extLst>
                <a:ext uri="{FF2B5EF4-FFF2-40B4-BE49-F238E27FC236}">
                  <a16:creationId xmlns:a16="http://schemas.microsoft.com/office/drawing/2014/main" id="{3899170D-39F1-4B0B-5163-E03185B39B55}"/>
                </a:ext>
              </a:extLst>
            </p:cNvPr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3" name="Group 21">
            <a:extLst>
              <a:ext uri="{FF2B5EF4-FFF2-40B4-BE49-F238E27FC236}">
                <a16:creationId xmlns:a16="http://schemas.microsoft.com/office/drawing/2014/main" id="{E286069F-D75F-8DD9-BD75-949148FCBDF6}"/>
              </a:ext>
            </a:extLst>
          </p:cNvPr>
          <p:cNvGrpSpPr/>
          <p:nvPr/>
        </p:nvGrpSpPr>
        <p:grpSpPr>
          <a:xfrm>
            <a:off x="994726" y="2861712"/>
            <a:ext cx="8149274" cy="3729587"/>
            <a:chOff x="0" y="0"/>
            <a:chExt cx="1225758" cy="930555"/>
          </a:xfrm>
        </p:grpSpPr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10F1B194-8892-66E1-9F8A-39E6C7C206EC}"/>
                </a:ext>
              </a:extLst>
            </p:cNvPr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EF2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TextBox 23">
              <a:extLst>
                <a:ext uri="{FF2B5EF4-FFF2-40B4-BE49-F238E27FC236}">
                  <a16:creationId xmlns:a16="http://schemas.microsoft.com/office/drawing/2014/main" id="{6C1BFC32-BF37-6286-F159-40FC568298A9}"/>
                </a:ext>
              </a:extLst>
            </p:cNvPr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03 · KẾT QUẢ VÀ DEMO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Kết quả và hướng phát triển</a:t>
            </a:r>
          </a:p>
        </p:txBody>
      </p:sp>
      <p:sp>
        <p:nvSpPr>
          <p:cNvPr id="303" name="ColHeader"/>
          <p:cNvSpPr txBox="1"/>
          <p:nvPr/>
        </p:nvSpPr>
        <p:spPr>
          <a:xfrm>
            <a:off x="3429000" y="3125237"/>
            <a:ext cx="31242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2800" b="1" dirty="0">
                <a:solidFill>
                  <a:srgbClr val="4F46E5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Kết quả đạt được</a:t>
            </a:r>
          </a:p>
        </p:txBody>
      </p:sp>
      <p:sp>
        <p:nvSpPr>
          <p:cNvPr id="304" name="Bullets"/>
          <p:cNvSpPr txBox="1"/>
          <p:nvPr/>
        </p:nvSpPr>
        <p:spPr>
          <a:xfrm>
            <a:off x="1281164" y="3901448"/>
            <a:ext cx="7600000" cy="1800044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Hoàn thiện 3 thành phần: di động, quản trị, backend.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liệu đầy đủ 6 cấp độ A1-C2.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Tích hợp 4 tính năng AI: Trợ lý AI, Khám phá ảnh, Hội thoại mô phỏng, Sinh bài tập tùy chỉnh.</a:t>
            </a:r>
          </a:p>
        </p:txBody>
      </p:sp>
      <p:sp>
        <p:nvSpPr>
          <p:cNvPr id="305" name="ColHeader"/>
          <p:cNvSpPr txBox="1"/>
          <p:nvPr/>
        </p:nvSpPr>
        <p:spPr>
          <a:xfrm>
            <a:off x="11890800" y="3099838"/>
            <a:ext cx="29682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2800" b="1" dirty="0">
                <a:solidFill>
                  <a:srgbClr val="0891B2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Hướng phát triển</a:t>
            </a:r>
          </a:p>
        </p:txBody>
      </p:sp>
      <p:sp>
        <p:nvSpPr>
          <p:cNvPr id="306" name="Bullets"/>
          <p:cNvSpPr txBox="1"/>
          <p:nvPr/>
        </p:nvSpPr>
        <p:spPr>
          <a:xfrm>
            <a:off x="9548329" y="3748591"/>
            <a:ext cx="7600000" cy="2447008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Mở rộng học liệu B1-C2, thêm tình huống mô phỏng gắn đời sống Việt Nam.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Đánh giá phát âm,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tổng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hợp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lỗi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sai</a:t>
            </a: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, gợi ý lộ trình học theo điểm yếu.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ngoại tuyến, biểu đồ thống kê cho quản trị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.</a:t>
            </a:r>
            <a:endParaRPr lang="vi-VN" sz="2000" dirty="0">
              <a:solidFill>
                <a:srgbClr val="1F2937"/>
              </a:solidFill>
              <a:latin typeface="Arial" panose="020B0604020202020204" pitchFamily="34" charset="0"/>
              <a:cs typeface="Arial" panose="020B0604020202020204" pitchFamily="34" charset="0"/>
              <a:sym typeface="Poppins" panose="0000050000000000000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2DA0C8D-49B1-90F8-1050-26C3E87E965A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0BD7E7-C5B6-4514-1597-BB41DD5A2F4B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D73EB5D5-DDC4-B0BA-5DD1-1E77D0909F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223D5E62-F3FA-9251-5F99-28F16DE08FF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A370A93-A8DF-386C-5105-3D5E03DB7006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>
              <a:extLst>
                <a:ext uri="{FF2B5EF4-FFF2-40B4-BE49-F238E27FC236}">
                  <a16:creationId xmlns:a16="http://schemas.microsoft.com/office/drawing/2014/main" id="{A7CF8AB7-E846-34ED-E4E3-E5E06ED98D61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>
                <a:extLst>
                  <a:ext uri="{FF2B5EF4-FFF2-40B4-BE49-F238E27FC236}">
                    <a16:creationId xmlns:a16="http://schemas.microsoft.com/office/drawing/2014/main" id="{1646CAB2-5010-0E90-068A-579D435B1E4A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>
                <a:extLst>
                  <a:ext uri="{FF2B5EF4-FFF2-40B4-BE49-F238E27FC236}">
                    <a16:creationId xmlns:a16="http://schemas.microsoft.com/office/drawing/2014/main" id="{F8A309AB-DAA4-8966-C29F-26B8793F9DF0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>
              <a:extLst>
                <a:ext uri="{FF2B5EF4-FFF2-40B4-BE49-F238E27FC236}">
                  <a16:creationId xmlns:a16="http://schemas.microsoft.com/office/drawing/2014/main" id="{890737C5-6A09-18AB-6498-59D76216A88C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>
              <a:extLst>
                <a:ext uri="{FF2B5EF4-FFF2-40B4-BE49-F238E27FC236}">
                  <a16:creationId xmlns:a16="http://schemas.microsoft.com/office/drawing/2014/main" id="{C08D0A26-C0E7-AB27-7D56-ED8AB8CE35FC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14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5771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15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  <p:sp>
        <p:nvSpPr>
          <p:cNvPr id="4" name="Text Box 3"/>
          <p:cNvSpPr txBox="1"/>
          <p:nvPr/>
        </p:nvSpPr>
        <p:spPr>
          <a:xfrm>
            <a:off x="7274560" y="2019300"/>
            <a:ext cx="2374265" cy="8627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ts val="6365"/>
              </a:lnSpc>
            </a:pPr>
            <a:r>
              <a:rPr lang="vi-VN" altLang="en-GB" sz="5305" b="1" dirty="0">
                <a:solidFill>
                  <a:srgbClr val="242424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Demo</a:t>
            </a:r>
          </a:p>
        </p:txBody>
      </p:sp>
      <p:sp>
        <p:nvSpPr>
          <p:cNvPr id="39" name="TextBox 39"/>
          <p:cNvSpPr txBox="1"/>
          <p:nvPr/>
        </p:nvSpPr>
        <p:spPr>
          <a:xfrm rot="-5400000">
            <a:off x="7951755" y="6717622"/>
            <a:ext cx="178626" cy="7824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355"/>
              </a:lnSpc>
            </a:pPr>
            <a:r>
              <a:rPr lang="vi-VN"/>
              <a:t> </a:t>
            </a:r>
          </a:p>
        </p:txBody>
      </p:sp>
      <p:sp>
        <p:nvSpPr>
          <p:cNvPr id="8" name="Freeform 8" descr="3d illustration of a computer monitor"/>
          <p:cNvSpPr/>
          <p:nvPr/>
        </p:nvSpPr>
        <p:spPr>
          <a:xfrm>
            <a:off x="6629400" y="3482975"/>
            <a:ext cx="3796665" cy="3362960"/>
          </a:xfrm>
          <a:custGeom>
            <a:avLst/>
            <a:gdLst/>
            <a:ahLst/>
            <a:cxnLst/>
            <a:rect l="l" t="t" r="r" b="b"/>
            <a:pathLst>
              <a:path w="2134233" h="1890228">
                <a:moveTo>
                  <a:pt x="0" y="0"/>
                </a:moveTo>
                <a:lnTo>
                  <a:pt x="2134234" y="0"/>
                </a:lnTo>
                <a:lnTo>
                  <a:pt x="2134234" y="1890228"/>
                </a:lnTo>
                <a:lnTo>
                  <a:pt x="0" y="18902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1BAF928-7E9E-321A-B82D-220F147C28D7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06660A-11CF-C72B-3F80-02629D8CF866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9" name="Picture 8" descr="tvu">
                <a:extLst>
                  <a:ext uri="{FF2B5EF4-FFF2-40B4-BE49-F238E27FC236}">
                    <a16:creationId xmlns:a16="http://schemas.microsoft.com/office/drawing/2014/main" id="{8BFDC481-7CC0-C8AF-A921-167A0E30C9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10" name="Picture 9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27544C5C-2C5A-4038-0B76-5881F3CC9C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5"/>
          <p:cNvSpPr txBox="1"/>
          <p:nvPr/>
        </p:nvSpPr>
        <p:spPr>
          <a:xfrm>
            <a:off x="834977" y="3418547"/>
            <a:ext cx="16868861" cy="12049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00"/>
              </a:lnSpc>
            </a:pPr>
            <a:r>
              <a:rPr lang="vi-VN" altLang="en-US" sz="8330" b="1" dirty="0">
                <a:solidFill>
                  <a:srgbClr val="242424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Cảm ơn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27687" y="4856608"/>
            <a:ext cx="16776151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20"/>
              </a:lnSpc>
            </a:pPr>
            <a:r>
              <a:rPr lang="vi-VN" altLang="en-US" sz="2000" dirty="0">
                <a:solidFill>
                  <a:srgbClr val="242424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rPr>
              <a:t>Cảm ơn Thầy và các bạn đã lắng nghe.</a:t>
            </a:r>
          </a:p>
        </p:txBody>
      </p:sp>
      <p:grpSp>
        <p:nvGrpSpPr>
          <p:cNvPr id="59" name="Group 58"/>
          <p:cNvGrpSpPr/>
          <p:nvPr/>
        </p:nvGrpSpPr>
        <p:grpSpPr>
          <a:xfrm>
            <a:off x="-334646" y="9114790"/>
            <a:ext cx="17545051" cy="1583055"/>
            <a:chOff x="-527" y="14354"/>
            <a:chExt cx="27707" cy="2493"/>
          </a:xfrm>
        </p:grpSpPr>
        <p:grpSp>
          <p:nvGrpSpPr>
            <p:cNvPr id="60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1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62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3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4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16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104C16C-5B43-2A00-24F2-EA42292D9D39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321CAE9-9B0F-CD26-A55E-3A93D6884C92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5" name="Picture 4" descr="tvu">
                <a:extLst>
                  <a:ext uri="{FF2B5EF4-FFF2-40B4-BE49-F238E27FC236}">
                    <a16:creationId xmlns:a16="http://schemas.microsoft.com/office/drawing/2014/main" id="{BEB51FDA-44AE-D097-BE14-621806F65B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6" name="Picture 5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C4E192E2-8875-0524-512A-C70A7F5AA6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F46E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F46E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F46E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F46E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320</TotalTime>
  <Words>1466</Words>
  <Application>Microsoft Office PowerPoint</Application>
  <PresentationFormat>Custom</PresentationFormat>
  <Paragraphs>141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Tomi Sakae</cp:lastModifiedBy>
  <cp:revision>342</cp:revision>
  <dcterms:created xsi:type="dcterms:W3CDTF">2006-08-16T00:00:00Z</dcterms:created>
  <dcterms:modified xsi:type="dcterms:W3CDTF">2026-07-07T02:29:11Z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A74E385F96EA4A34BC3B6B617110F23A_13</vt:lpwstr>
  </property>
  <property fmtid="{D5CDD505-2E9C-101B-9397-08002B2CF9AE}" pid="3" name="KSOProductBuildVer">
    <vt:lpwstr>2057-12.2.0.19805</vt:lpwstr>
  </property>
</Properties>
</file>