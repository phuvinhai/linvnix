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85" r:id="rId1"/>
  </p:sldMasterIdLst>
  <p:notesMasterIdLst>
    <p:notesMasterId r:id="rId18"/>
  </p:notesMasterIdLst>
  <p:sldIdLst>
    <p:sldId id="256" r:id="rId2"/>
    <p:sldId id="280" r:id="rId3"/>
    <p:sldId id="284" r:id="rId4"/>
    <p:sldId id="279" r:id="rId5"/>
    <p:sldId id="296" r:id="rId6"/>
    <p:sldId id="297" r:id="rId7"/>
    <p:sldId id="285" r:id="rId8"/>
    <p:sldId id="283" r:id="rId9"/>
    <p:sldId id="299" r:id="rId10"/>
    <p:sldId id="287" r:id="rId11"/>
    <p:sldId id="298" r:id="rId12"/>
    <p:sldId id="286" r:id="rId13"/>
    <p:sldId id="289" r:id="rId14"/>
    <p:sldId id="300" r:id="rId15"/>
    <p:sldId id="294" r:id="rId16"/>
    <p:sldId id="293" r:id="rId17"/>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8"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BFC"/>
    <a:srgbClr val="3B82F6"/>
    <a:srgbClr val="F1F5F9"/>
    <a:srgbClr val="EFF6FF"/>
    <a:srgbClr val="DBEAFE"/>
    <a:srgbClr val="EDE9FE"/>
    <a:srgbClr val="0F172A"/>
    <a:srgbClr val="06B6D4"/>
    <a:srgbClr val="8B5CF6"/>
    <a:srgbClr val="CFFA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29"/>
      </p:cViewPr>
      <p:guideLst>
        <p:guide orient="horz" pos="2188"/>
        <p:guide pos="287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EFD42F7-718C-4B98-AAEC-167E6DDD60A7}" type="datetimeFigureOut">
              <a:rPr lang="en-US" smtClean="0"/>
              <a:pPr/>
              <a:t>7/7/2026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21B2AA4F-B828-4D7C-AFD3-893933DAFCB4}"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Text Placeholder 2"/>
          <p:cNvSpPr>
            <a:spLocks noGrp="1"/>
          </p:cNvSpPr>
          <p:nvPr>
            <p:ph type="body" idx="3"/>
          </p:nvPr>
        </p:nvSpPr>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93222-F9CF-616A-2B09-40CD10A33D77}"/>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647FEE88-51AF-8322-EAA5-0566098E95B1}"/>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28FCDD6B-C9DC-E61C-12B9-0375AFBC5D37}"/>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5" name="Footer Placeholder 4">
            <a:extLst>
              <a:ext uri="{FF2B5EF4-FFF2-40B4-BE49-F238E27FC236}">
                <a16:creationId xmlns:a16="http://schemas.microsoft.com/office/drawing/2014/main" id="{F00A87D1-6521-215F-322B-7D25849F79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DA91A5-8A96-0823-0BCF-07788CF40222}"/>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98941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10EBA-2439-7E7C-EF57-F91FB86A4A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8039E1-8A28-6E0F-21DA-F8D1C2B838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EB76FF-95F5-7FF7-572B-A9977866ED47}"/>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5" name="Footer Placeholder 4">
            <a:extLst>
              <a:ext uri="{FF2B5EF4-FFF2-40B4-BE49-F238E27FC236}">
                <a16:creationId xmlns:a16="http://schemas.microsoft.com/office/drawing/2014/main" id="{43116EF6-F708-C44A-502F-0FC350081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5E573E-B9D8-7D27-8BAC-26150DDA44C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617444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DA2D5-EF96-1C8C-03B7-2C5D3075721C}"/>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E50CC105-42A8-970A-A119-F12C053F62A5}"/>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E96A0F-0F2B-1700-807A-853115D94CAD}"/>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5" name="Footer Placeholder 4">
            <a:extLst>
              <a:ext uri="{FF2B5EF4-FFF2-40B4-BE49-F238E27FC236}">
                <a16:creationId xmlns:a16="http://schemas.microsoft.com/office/drawing/2014/main" id="{5ECFF58A-546A-F807-1187-580F008C0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5FC146-45CF-6FF5-3EE8-0EE1E7C9C65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72095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40627-0279-69FB-CE5A-92D9583D02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568398-F82D-4CA4-A85A-26E18514E978}"/>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AB478A-670E-D909-CE48-6183EC7AC2B3}"/>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42D4AA-2A31-3EB3-6843-70055F858116}"/>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6" name="Footer Placeholder 5">
            <a:extLst>
              <a:ext uri="{FF2B5EF4-FFF2-40B4-BE49-F238E27FC236}">
                <a16:creationId xmlns:a16="http://schemas.microsoft.com/office/drawing/2014/main" id="{FC378A41-DC1C-9255-F5C9-079A9DCB0A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140AE-E6A1-3361-9B0D-ABB9113C8E9F}"/>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7910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53601-2B00-A44D-2921-85CE6C485DA3}"/>
              </a:ext>
            </a:extLst>
          </p:cNvPr>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1FAA44-8CD7-1034-4D4F-313DC8F4AF86}"/>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C164724D-2F3B-E5D9-73E9-B935029A5B6C}"/>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28EC4A-0F90-6B82-9D36-0A8A75496B9B}"/>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C368B311-EFDA-F097-72CA-AA5E49E3F0FB}"/>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C7CAB3-297F-397A-6E17-81102A308A82}"/>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8" name="Footer Placeholder 7">
            <a:extLst>
              <a:ext uri="{FF2B5EF4-FFF2-40B4-BE49-F238E27FC236}">
                <a16:creationId xmlns:a16="http://schemas.microsoft.com/office/drawing/2014/main" id="{BCE3873C-306C-42D5-B795-5BD3F8B5AD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C9CD79-A17A-EE61-86B2-8938C30B283F}"/>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961252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11B55-2C72-5E44-6A51-0044101556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0712BA-20AA-441F-A2B1-557ABAD7ECDA}"/>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4" name="Footer Placeholder 3">
            <a:extLst>
              <a:ext uri="{FF2B5EF4-FFF2-40B4-BE49-F238E27FC236}">
                <a16:creationId xmlns:a16="http://schemas.microsoft.com/office/drawing/2014/main" id="{31C6C80D-017C-3140-10EF-083D2E3753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7C29EC-13F8-5704-C92D-73E169FA7E24}"/>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9049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CB3EF1-38D3-768F-61C0-8689B135E8F4}"/>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3" name="Footer Placeholder 2">
            <a:extLst>
              <a:ext uri="{FF2B5EF4-FFF2-40B4-BE49-F238E27FC236}">
                <a16:creationId xmlns:a16="http://schemas.microsoft.com/office/drawing/2014/main" id="{C8D26FE5-21D2-3648-B90E-6CFACE78B9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886E6D-AEE6-D9A9-33E1-A7D20CC8FA3D}"/>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1723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C357E-4A95-3E49-7EFB-447CAF76655E}"/>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7A5368E0-F5D6-9AA4-BF4D-D305CFB97705}"/>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7BCC57-6826-7B4D-6822-E71585FA2D04}"/>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BC0F0922-2B48-243F-B31A-51BFF8E3569C}"/>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6" name="Footer Placeholder 5">
            <a:extLst>
              <a:ext uri="{FF2B5EF4-FFF2-40B4-BE49-F238E27FC236}">
                <a16:creationId xmlns:a16="http://schemas.microsoft.com/office/drawing/2014/main" id="{FBB2F95A-C487-0062-66FB-733ED1330F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25DC4A-FEED-211A-5735-991195A4A16F}"/>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79462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72CA4-6F91-9EA7-15E0-13CA342ADAE6}"/>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a:extLst>
              <a:ext uri="{FF2B5EF4-FFF2-40B4-BE49-F238E27FC236}">
                <a16:creationId xmlns:a16="http://schemas.microsoft.com/office/drawing/2014/main" id="{13DA5AA1-883A-C86C-9451-8957C2E186D7}"/>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a:extLst>
              <a:ext uri="{FF2B5EF4-FFF2-40B4-BE49-F238E27FC236}">
                <a16:creationId xmlns:a16="http://schemas.microsoft.com/office/drawing/2014/main" id="{23F59157-C310-EADF-5860-A5CAB18FFFDF}"/>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F6C8F0B7-9721-C55A-7584-EAA53474BDE0}"/>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6" name="Footer Placeholder 5">
            <a:extLst>
              <a:ext uri="{FF2B5EF4-FFF2-40B4-BE49-F238E27FC236}">
                <a16:creationId xmlns:a16="http://schemas.microsoft.com/office/drawing/2014/main" id="{37595622-041C-8C0B-3121-FB64F292F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478C03-0ABC-6EC2-9A84-88FF9DEDD9B1}"/>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65236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450EC-A581-70C0-7AE4-AD912A1684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291509-6533-AD47-AE3F-CBE2A4F81E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487295-32C4-BE6F-12E3-A6B833E6278F}"/>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5" name="Footer Placeholder 4">
            <a:extLst>
              <a:ext uri="{FF2B5EF4-FFF2-40B4-BE49-F238E27FC236}">
                <a16:creationId xmlns:a16="http://schemas.microsoft.com/office/drawing/2014/main" id="{759647A2-0D2B-A4C2-0A57-55723AB2FB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30883-F135-4DD2-2459-B35CC91EF51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02765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31105C-CE83-9462-F403-B036CDDF586A}"/>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8CB6AB-3C9A-CE0E-6773-B3533514BDF6}"/>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17DB42-6B08-9DFD-A1D5-FD0B6D1DBEB2}"/>
              </a:ext>
            </a:extLst>
          </p:cNvPr>
          <p:cNvSpPr>
            <a:spLocks noGrp="1"/>
          </p:cNvSpPr>
          <p:nvPr>
            <p:ph type="dt" sz="half" idx="10"/>
          </p:nvPr>
        </p:nvSpPr>
        <p:spPr/>
        <p:txBody>
          <a:bodyPr/>
          <a:lstStyle/>
          <a:p>
            <a:fld id="{1D8BD707-D9CF-40AE-B4C6-C98DA3205C09}" type="datetimeFigureOut">
              <a:rPr lang="en-US" smtClean="0"/>
              <a:t>7/7/2026</a:t>
            </a:fld>
            <a:endParaRPr lang="en-US"/>
          </a:p>
        </p:txBody>
      </p:sp>
      <p:sp>
        <p:nvSpPr>
          <p:cNvPr id="5" name="Footer Placeholder 4">
            <a:extLst>
              <a:ext uri="{FF2B5EF4-FFF2-40B4-BE49-F238E27FC236}">
                <a16:creationId xmlns:a16="http://schemas.microsoft.com/office/drawing/2014/main" id="{A95B3588-D771-AE35-3E0D-39A7CF425A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2B4FD-53F8-1E42-08E7-878CDE0FB58D}"/>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17703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1B9021-1974-30E6-43C1-F4D3C85DAA7C}"/>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433AC52-5D95-CAD1-FA80-80BDF8ED7412}"/>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C8F5062-DE7C-A041-E97E-0B2C715396A6}"/>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latin typeface="Arial" panose="020B0604020202020204" pitchFamily="34" charset="0"/>
              </a:defRPr>
            </a:lvl1pPr>
          </a:lstStyle>
          <a:p>
            <a:fld id="{1D8BD707-D9CF-40AE-B4C6-C98DA3205C09}" type="datetimeFigureOut">
              <a:rPr lang="en-US" smtClean="0"/>
              <a:pPr/>
              <a:t>7/7/2026</a:t>
            </a:fld>
            <a:endParaRPr lang="en-US" dirty="0"/>
          </a:p>
        </p:txBody>
      </p:sp>
      <p:sp>
        <p:nvSpPr>
          <p:cNvPr id="5" name="Footer Placeholder 4">
            <a:extLst>
              <a:ext uri="{FF2B5EF4-FFF2-40B4-BE49-F238E27FC236}">
                <a16:creationId xmlns:a16="http://schemas.microsoft.com/office/drawing/2014/main" id="{E4F3A831-BFCD-2FFB-D4F9-225F00D4BC16}"/>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AC60FAF4-D2DE-D7B7-F90F-F574722C110C}"/>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latin typeface="Arial" panose="020B0604020202020204" pitchFamily="34"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243208275"/>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l" defTabSz="1371600" rtl="0" eaLnBrk="1" latinLnBrk="0" hangingPunct="1">
        <a:lnSpc>
          <a:spcPct val="90000"/>
        </a:lnSpc>
        <a:spcBef>
          <a:spcPct val="0"/>
        </a:spcBef>
        <a:buNone/>
        <a:defRPr sz="6600" kern="1200">
          <a:solidFill>
            <a:schemeClr val="tx1"/>
          </a:solidFill>
          <a:latin typeface="Arial" panose="020B0604020202020204" pitchFamily="34" charset="0"/>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Arial" panose="020B0604020202020204" pitchFamily="34" charset="0"/>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Arial" panose="020B0604020202020204" pitchFamily="34" charset="0"/>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Arial" panose="020B0604020202020204" pitchFamily="34" charset="0"/>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Arial" panose="020B0604020202020204" pitchFamily="34" charset="0"/>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Arial" panose="020B0604020202020204" pitchFamily="34" charset="0"/>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4" name="TextBox 54"/>
          <p:cNvSpPr txBox="1"/>
          <p:nvPr/>
        </p:nvSpPr>
        <p:spPr>
          <a:xfrm>
            <a:off x="7452674" y="1448693"/>
            <a:ext cx="4521200" cy="269240"/>
          </a:xfrm>
          <a:prstGeom prst="rect">
            <a:avLst/>
          </a:prstGeom>
        </p:spPr>
        <p:txBody>
          <a:bodyPr wrap="square" lIns="0" tIns="0" rIns="0" bIns="0" rtlCol="0" anchor="t">
            <a:spAutoFit/>
          </a:bodyPr>
          <a:lstStyle/>
          <a:p>
            <a:pPr algn="l">
              <a:lnSpc>
                <a:spcPts val="2100"/>
              </a:lnSpc>
            </a:pPr>
            <a:r>
              <a:rPr lang="vi-VN" altLang="en-GB" sz="2000" b="1"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BÁO CÁO ĐỒ ÁN TỐT NGHIỆP</a:t>
            </a:r>
          </a:p>
        </p:txBody>
      </p:sp>
      <p:sp>
        <p:nvSpPr>
          <p:cNvPr id="56" name="TextBox 56"/>
          <p:cNvSpPr txBox="1"/>
          <p:nvPr/>
        </p:nvSpPr>
        <p:spPr>
          <a:xfrm>
            <a:off x="5029200" y="2271289"/>
            <a:ext cx="9063990" cy="3313856"/>
          </a:xfrm>
          <a:prstGeom prst="rect">
            <a:avLst/>
          </a:prstGeom>
        </p:spPr>
        <p:txBody>
          <a:bodyPr wrap="square" lIns="0" tIns="0" rIns="0" bIns="0" rtlCol="0" anchor="t">
            <a:spAutoFit/>
          </a:bodyPr>
          <a:lstStyle/>
          <a:p>
            <a:pPr algn="ctr">
              <a:lnSpc>
                <a:spcPts val="8855"/>
              </a:lnSpc>
            </a:pPr>
            <a:r>
              <a:rPr lang="vi-VN" altLang="en-US" sz="60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a:t>
            </a:r>
            <a:endParaRPr lang="en-US" altLang="en-US" sz="60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endParaRPr>
          </a:p>
          <a:p>
            <a:pPr algn="ctr">
              <a:lnSpc>
                <a:spcPts val="8855"/>
              </a:lnSpc>
            </a:pPr>
            <a:r>
              <a:rPr lang="vi-VN" altLang="en-US" sz="60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DẠY HỌC TIẾNG VIỆT </a:t>
            </a:r>
            <a:endParaRPr lang="en-US" altLang="en-US" sz="60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endParaRPr>
          </a:p>
          <a:p>
            <a:pPr algn="ctr">
              <a:lnSpc>
                <a:spcPts val="8855"/>
              </a:lnSpc>
            </a:pPr>
            <a:r>
              <a:rPr lang="vi-VN" altLang="en-US" sz="60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VỚI TRÍ TUỆ NHÂN TẠO</a:t>
            </a:r>
          </a:p>
        </p:txBody>
      </p:sp>
      <p:sp>
        <p:nvSpPr>
          <p:cNvPr id="63" name="TextBox 63"/>
          <p:cNvSpPr txBox="1"/>
          <p:nvPr/>
        </p:nvSpPr>
        <p:spPr>
          <a:xfrm>
            <a:off x="7775575" y="7350646"/>
            <a:ext cx="3799198" cy="1103764"/>
          </a:xfrm>
          <a:prstGeom prst="rect">
            <a:avLst/>
          </a:prstGeom>
        </p:spPr>
        <p:txBody>
          <a:bodyPr wrap="square" lIns="0" tIns="0" rIns="0" bIns="0" rtlCol="0" anchor="t">
            <a:spAutoFit/>
          </a:bodyPr>
          <a:lstStyle/>
          <a:p>
            <a:pPr algn="ctr">
              <a:lnSpc>
                <a:spcPts val="2190"/>
              </a:lnSpc>
            </a:pPr>
            <a:r>
              <a:rPr lang="vi-VN" altLang="en-US" b="1"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Sinh viên thực hiện:</a:t>
            </a:r>
          </a:p>
          <a:p>
            <a:pPr algn="ctr">
              <a:lnSpc>
                <a:spcPts val="2190"/>
              </a:lnSpc>
            </a:pPr>
            <a:r>
              <a:rPr lang="vi-VN"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Họ Tên:</a:t>
            </a:r>
            <a:r>
              <a:rPr lang="en-US"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 Nguyễn Huỳnh </a:t>
            </a:r>
            <a:r>
              <a:rPr lang="en-US" altLang="en-US" dirty="0" err="1">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Phú</a:t>
            </a:r>
            <a:r>
              <a:rPr lang="en-US"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 Vinh</a:t>
            </a:r>
            <a:endParaRPr lang="vi-VN"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endParaRPr>
          </a:p>
          <a:p>
            <a:pPr algn="ctr">
              <a:lnSpc>
                <a:spcPts val="2190"/>
              </a:lnSpc>
            </a:pPr>
            <a:r>
              <a:rPr lang="vi-VN"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Lớp:</a:t>
            </a:r>
            <a:r>
              <a:rPr lang="en-US"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 DA22TTC</a:t>
            </a:r>
            <a:endParaRPr lang="vi-VN"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endParaRPr>
          </a:p>
          <a:p>
            <a:pPr algn="ctr">
              <a:lnSpc>
                <a:spcPts val="2190"/>
              </a:lnSpc>
            </a:pPr>
            <a:r>
              <a:rPr lang="vi-VN"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MSSV:</a:t>
            </a:r>
            <a:r>
              <a:rPr lang="en-US"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 110122203</a:t>
            </a:r>
            <a:endParaRPr lang="vi-VN"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endParaRPr>
          </a:p>
        </p:txBody>
      </p:sp>
      <p:sp>
        <p:nvSpPr>
          <p:cNvPr id="70" name="TextBox 63"/>
          <p:cNvSpPr txBox="1"/>
          <p:nvPr/>
        </p:nvSpPr>
        <p:spPr>
          <a:xfrm>
            <a:off x="7892415" y="6345123"/>
            <a:ext cx="3337560" cy="546303"/>
          </a:xfrm>
          <a:prstGeom prst="rect">
            <a:avLst/>
          </a:prstGeom>
        </p:spPr>
        <p:txBody>
          <a:bodyPr wrap="square" lIns="0" tIns="0" rIns="0" bIns="0" rtlCol="0" anchor="t">
            <a:spAutoFit/>
          </a:bodyPr>
          <a:lstStyle/>
          <a:p>
            <a:pPr algn="ctr">
              <a:lnSpc>
                <a:spcPts val="2190"/>
              </a:lnSpc>
            </a:pPr>
            <a:r>
              <a:rPr lang="en-GB" altLang="vi-VN" b="1"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Gi</a:t>
            </a:r>
            <a:r>
              <a:rPr lang="vi-VN" altLang="en-GB" b="1"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ảng viên hướng dẫn</a:t>
            </a:r>
            <a:endParaRPr lang="vi-VN" altLang="en-US" b="1"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endParaRPr>
          </a:p>
          <a:p>
            <a:pPr algn="ctr">
              <a:lnSpc>
                <a:spcPts val="2190"/>
              </a:lnSpc>
            </a:pPr>
            <a:r>
              <a:rPr lang="vi-VN" altLang="en-US" dirty="0">
                <a:solidFill>
                  <a:srgbClr val="0F172A"/>
                </a:solidFill>
                <a:latin typeface="Arial" panose="020B0604020202020204" pitchFamily="34" charset="0"/>
                <a:ea typeface="Poppins Semi-Bold" panose="00000700000000000000"/>
                <a:cs typeface="Arial" panose="020B0604020202020204" pitchFamily="34" charset="0"/>
                <a:sym typeface="Poppins Semi-Bold" panose="00000700000000000000"/>
              </a:rPr>
              <a:t>TS. Nguyễn Bảo Ân</a:t>
            </a:r>
          </a:p>
        </p:txBody>
      </p:sp>
      <p:grpSp>
        <p:nvGrpSpPr>
          <p:cNvPr id="98" name="Group 97"/>
          <p:cNvGrpSpPr/>
          <p:nvPr/>
        </p:nvGrpSpPr>
        <p:grpSpPr>
          <a:xfrm>
            <a:off x="-334514" y="8897718"/>
            <a:ext cx="17593814" cy="1800241"/>
            <a:chOff x="-527" y="14012"/>
            <a:chExt cx="27707" cy="2835"/>
          </a:xfrm>
        </p:grpSpPr>
        <p:grpSp>
          <p:nvGrpSpPr>
            <p:cNvPr id="92" name="Group 23"/>
            <p:cNvGrpSpPr/>
            <p:nvPr/>
          </p:nvGrpSpPr>
          <p:grpSpPr>
            <a:xfrm>
              <a:off x="-527" y="14012"/>
              <a:ext cx="27707" cy="2835"/>
              <a:chOff x="-22" y="-57150"/>
              <a:chExt cx="4633784" cy="474130"/>
            </a:xfrm>
          </p:grpSpPr>
          <p:sp>
            <p:nvSpPr>
              <p:cNvPr id="93" name="Freeform 24"/>
              <p:cNvSpPr/>
              <p:nvPr/>
            </p:nvSpPr>
            <p:spPr>
              <a:xfrm>
                <a:off x="-22" y="4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94"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95" name="TextBox 57"/>
            <p:cNvSpPr txBox="1"/>
            <p:nvPr/>
          </p:nvSpPr>
          <p:spPr>
            <a:xfrm>
              <a:off x="1664" y="14940"/>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96" name="TextBox 40"/>
            <p:cNvSpPr txBox="1"/>
            <p:nvPr/>
          </p:nvSpPr>
          <p:spPr>
            <a:xfrm>
              <a:off x="24974" y="14951"/>
              <a:ext cx="1384" cy="407"/>
            </a:xfrm>
            <a:prstGeom prst="rect">
              <a:avLst/>
            </a:prstGeom>
          </p:spPr>
          <p:txBody>
            <a:bodyPr lIns="0" tIns="0" rIns="0" bIns="0" rtlCol="0" anchor="t">
              <a:spAutoFit/>
            </a:bodyPr>
            <a:lstStyle/>
            <a:p>
              <a:pPr algn="r">
                <a:lnSpc>
                  <a:spcPts val="2240"/>
                </a:lnSpc>
              </a:pPr>
              <a:r>
                <a:rPr 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01</a:t>
              </a:r>
            </a:p>
          </p:txBody>
        </p:sp>
      </p:grpSp>
      <p:grpSp>
        <p:nvGrpSpPr>
          <p:cNvPr id="105" name="Group 104"/>
          <p:cNvGrpSpPr/>
          <p:nvPr/>
        </p:nvGrpSpPr>
        <p:grpSpPr>
          <a:xfrm>
            <a:off x="16383000" y="383540"/>
            <a:ext cx="1520190" cy="782955"/>
            <a:chOff x="25800" y="604"/>
            <a:chExt cx="2394" cy="1233"/>
          </a:xfrm>
        </p:grpSpPr>
        <p:grpSp>
          <p:nvGrpSpPr>
            <p:cNvPr id="102" name="Group 101"/>
            <p:cNvGrpSpPr/>
            <p:nvPr/>
          </p:nvGrpSpPr>
          <p:grpSpPr>
            <a:xfrm>
              <a:off x="25800" y="604"/>
              <a:ext cx="2394" cy="1233"/>
              <a:chOff x="8279827" y="265057"/>
              <a:chExt cx="1648297" cy="863121"/>
            </a:xfrm>
          </p:grpSpPr>
          <p:pic>
            <p:nvPicPr>
              <p:cNvPr id="103" name="Picture 102" descr="tvu"/>
              <p:cNvPicPr>
                <a:picLocks noChangeAspect="1"/>
              </p:cNvPicPr>
              <p:nvPr/>
            </p:nvPicPr>
            <p:blipFill>
              <a:blip r:embed="rId2"/>
              <a:stretch>
                <a:fillRect/>
              </a:stretch>
            </p:blipFill>
            <p:spPr>
              <a:xfrm>
                <a:off x="8279827" y="265057"/>
                <a:ext cx="850479" cy="853652"/>
              </a:xfrm>
              <a:prstGeom prst="rect">
                <a:avLst/>
              </a:prstGeom>
            </p:spPr>
          </p:pic>
          <p:pic>
            <p:nvPicPr>
              <p:cNvPr id="104" name="Picture 103" descr="A logo with a black background  Description automatically generated"/>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9" name="TextBox 19"/>
          <p:cNvSpPr txBox="1"/>
          <p:nvPr/>
        </p:nvSpPr>
        <p:spPr>
          <a:xfrm>
            <a:off x="1056232" y="1726189"/>
            <a:ext cx="8115300" cy="927818"/>
          </a:xfrm>
          <a:prstGeom prst="rect">
            <a:avLst/>
          </a:prstGeom>
        </p:spPr>
        <p:txBody>
          <a:bodyPr lIns="0" tIns="0" rIns="0" bIns="0" rtlCol="0" anchor="t">
            <a:spAutoFit/>
          </a:bodyPr>
          <a:lstStyle/>
          <a:p>
            <a:pPr algn="l">
              <a:lnSpc>
                <a:spcPts val="7700"/>
              </a:lnSpc>
            </a:pPr>
            <a:r>
              <a:rPr lang="vi-VN" altLang="en-US" sz="6415"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Nội dung</a:t>
            </a:r>
          </a:p>
        </p:txBody>
      </p:sp>
      <p:grpSp>
        <p:nvGrpSpPr>
          <p:cNvPr id="21" name="Group 21"/>
          <p:cNvGrpSpPr/>
          <p:nvPr/>
        </p:nvGrpSpPr>
        <p:grpSpPr>
          <a:xfrm>
            <a:off x="918855" y="3633223"/>
            <a:ext cx="4299884" cy="3264332"/>
            <a:chOff x="0" y="0"/>
            <a:chExt cx="1225758" cy="930555"/>
          </a:xfrm>
        </p:grpSpPr>
        <p:sp>
          <p:nvSpPr>
            <p:cNvPr id="22" name="Freeform 22"/>
            <p:cNvSpPr/>
            <p:nvPr/>
          </p:nvSpPr>
          <p:spPr>
            <a:xfrm>
              <a:off x="0" y="0"/>
              <a:ext cx="1225758" cy="930555"/>
            </a:xfrm>
            <a:custGeom>
              <a:avLst/>
              <a:gdLst/>
              <a:ahLst/>
              <a:cxnLst/>
              <a:rect l="l" t="t" r="r" b="b"/>
              <a:pathLst>
                <a:path w="1225758" h="930555">
                  <a:moveTo>
                    <a:pt x="61217" y="0"/>
                  </a:moveTo>
                  <a:lnTo>
                    <a:pt x="1164541" y="0"/>
                  </a:lnTo>
                  <a:cubicBezTo>
                    <a:pt x="1198350" y="0"/>
                    <a:pt x="1225758" y="27408"/>
                    <a:pt x="1225758" y="61217"/>
                  </a:cubicBezTo>
                  <a:lnTo>
                    <a:pt x="1225758" y="869339"/>
                  </a:lnTo>
                  <a:cubicBezTo>
                    <a:pt x="1225758" y="903148"/>
                    <a:pt x="1198350" y="930555"/>
                    <a:pt x="1164541" y="930555"/>
                  </a:cubicBezTo>
                  <a:lnTo>
                    <a:pt x="61217" y="930555"/>
                  </a:lnTo>
                  <a:cubicBezTo>
                    <a:pt x="27408" y="930555"/>
                    <a:pt x="0" y="903148"/>
                    <a:pt x="0" y="869339"/>
                  </a:cubicBezTo>
                  <a:lnTo>
                    <a:pt x="0" y="61217"/>
                  </a:lnTo>
                  <a:cubicBezTo>
                    <a:pt x="0" y="27408"/>
                    <a:pt x="27408" y="0"/>
                    <a:pt x="61217" y="0"/>
                  </a:cubicBezTo>
                  <a:close/>
                </a:path>
              </a:pathLst>
            </a:custGeom>
            <a:solidFill>
              <a:srgbClr val="EEF2FF"/>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23" name="TextBox 23"/>
            <p:cNvSpPr txBox="1"/>
            <p:nvPr/>
          </p:nvSpPr>
          <p:spPr>
            <a:xfrm>
              <a:off x="0" y="-57150"/>
              <a:ext cx="1225758" cy="987705"/>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grpSp>
        <p:nvGrpSpPr>
          <p:cNvPr id="24" name="Group 24"/>
          <p:cNvGrpSpPr/>
          <p:nvPr/>
        </p:nvGrpSpPr>
        <p:grpSpPr>
          <a:xfrm>
            <a:off x="6084982" y="3700036"/>
            <a:ext cx="4299884" cy="3264332"/>
            <a:chOff x="0" y="0"/>
            <a:chExt cx="1225758" cy="930555"/>
          </a:xfrm>
        </p:grpSpPr>
        <p:sp>
          <p:nvSpPr>
            <p:cNvPr id="25" name="Freeform 25"/>
            <p:cNvSpPr/>
            <p:nvPr/>
          </p:nvSpPr>
          <p:spPr>
            <a:xfrm>
              <a:off x="0" y="0"/>
              <a:ext cx="1225758" cy="930555"/>
            </a:xfrm>
            <a:custGeom>
              <a:avLst/>
              <a:gdLst/>
              <a:ahLst/>
              <a:cxnLst/>
              <a:rect l="l" t="t" r="r" b="b"/>
              <a:pathLst>
                <a:path w="1225758" h="930555">
                  <a:moveTo>
                    <a:pt x="61217" y="0"/>
                  </a:moveTo>
                  <a:lnTo>
                    <a:pt x="1164541" y="0"/>
                  </a:lnTo>
                  <a:cubicBezTo>
                    <a:pt x="1198350" y="0"/>
                    <a:pt x="1225758" y="27408"/>
                    <a:pt x="1225758" y="61217"/>
                  </a:cubicBezTo>
                  <a:lnTo>
                    <a:pt x="1225758" y="869339"/>
                  </a:lnTo>
                  <a:cubicBezTo>
                    <a:pt x="1225758" y="903148"/>
                    <a:pt x="1198350" y="930555"/>
                    <a:pt x="1164541" y="930555"/>
                  </a:cubicBezTo>
                  <a:lnTo>
                    <a:pt x="61217" y="930555"/>
                  </a:lnTo>
                  <a:cubicBezTo>
                    <a:pt x="27408" y="930555"/>
                    <a:pt x="0" y="903148"/>
                    <a:pt x="0" y="869339"/>
                  </a:cubicBezTo>
                  <a:lnTo>
                    <a:pt x="0" y="61217"/>
                  </a:lnTo>
                  <a:cubicBezTo>
                    <a:pt x="0" y="27408"/>
                    <a:pt x="27408" y="0"/>
                    <a:pt x="61217" y="0"/>
                  </a:cubicBezTo>
                  <a:close/>
                </a:path>
              </a:pathLst>
            </a:custGeom>
            <a:solidFill>
              <a:srgbClr val="F5F3FF"/>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26" name="TextBox 26"/>
            <p:cNvSpPr txBox="1"/>
            <p:nvPr/>
          </p:nvSpPr>
          <p:spPr>
            <a:xfrm>
              <a:off x="0" y="-57150"/>
              <a:ext cx="1225758" cy="987705"/>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grpSp>
        <p:nvGrpSpPr>
          <p:cNvPr id="27" name="Group 27"/>
          <p:cNvGrpSpPr/>
          <p:nvPr/>
        </p:nvGrpSpPr>
        <p:grpSpPr>
          <a:xfrm>
            <a:off x="11397783" y="3700036"/>
            <a:ext cx="4299884" cy="3264332"/>
            <a:chOff x="0" y="0"/>
            <a:chExt cx="1225758" cy="930555"/>
          </a:xfrm>
        </p:grpSpPr>
        <p:sp>
          <p:nvSpPr>
            <p:cNvPr id="28" name="Freeform 28"/>
            <p:cNvSpPr/>
            <p:nvPr/>
          </p:nvSpPr>
          <p:spPr>
            <a:xfrm>
              <a:off x="0" y="0"/>
              <a:ext cx="1225758" cy="930555"/>
            </a:xfrm>
            <a:custGeom>
              <a:avLst/>
              <a:gdLst/>
              <a:ahLst/>
              <a:cxnLst/>
              <a:rect l="l" t="t" r="r" b="b"/>
              <a:pathLst>
                <a:path w="1225758" h="930555">
                  <a:moveTo>
                    <a:pt x="61217" y="0"/>
                  </a:moveTo>
                  <a:lnTo>
                    <a:pt x="1164541" y="0"/>
                  </a:lnTo>
                  <a:cubicBezTo>
                    <a:pt x="1198350" y="0"/>
                    <a:pt x="1225758" y="27408"/>
                    <a:pt x="1225758" y="61217"/>
                  </a:cubicBezTo>
                  <a:lnTo>
                    <a:pt x="1225758" y="869339"/>
                  </a:lnTo>
                  <a:cubicBezTo>
                    <a:pt x="1225758" y="903148"/>
                    <a:pt x="1198350" y="930555"/>
                    <a:pt x="1164541" y="930555"/>
                  </a:cubicBezTo>
                  <a:lnTo>
                    <a:pt x="61217" y="930555"/>
                  </a:lnTo>
                  <a:cubicBezTo>
                    <a:pt x="27408" y="930555"/>
                    <a:pt x="0" y="903148"/>
                    <a:pt x="0" y="869339"/>
                  </a:cubicBezTo>
                  <a:lnTo>
                    <a:pt x="0" y="61217"/>
                  </a:lnTo>
                  <a:cubicBezTo>
                    <a:pt x="0" y="27408"/>
                    <a:pt x="27408" y="0"/>
                    <a:pt x="61217" y="0"/>
                  </a:cubicBezTo>
                  <a:close/>
                </a:path>
              </a:pathLst>
            </a:custGeom>
            <a:solidFill>
              <a:srgbClr val="ECFEFF"/>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29" name="TextBox 29"/>
            <p:cNvSpPr txBox="1"/>
            <p:nvPr/>
          </p:nvSpPr>
          <p:spPr>
            <a:xfrm>
              <a:off x="0" y="-57150"/>
              <a:ext cx="1225758" cy="987705"/>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30" name="TextBox 30"/>
          <p:cNvSpPr txBox="1"/>
          <p:nvPr/>
        </p:nvSpPr>
        <p:spPr>
          <a:xfrm>
            <a:off x="1297464" y="4968752"/>
            <a:ext cx="3542665" cy="1327992"/>
          </a:xfrm>
          <a:prstGeom prst="rect">
            <a:avLst/>
          </a:prstGeom>
        </p:spPr>
        <p:txBody>
          <a:bodyPr wrap="square" lIns="0" tIns="0" rIns="0" bIns="0" rtlCol="0" anchor="t">
            <a:spAutoFit/>
          </a:bodyPr>
          <a:lstStyle/>
          <a:p>
            <a:pPr>
              <a:lnSpc>
                <a:spcPct val="150000"/>
              </a:lnSpc>
            </a:pPr>
            <a:r>
              <a:rPr lang="vi-VN" sz="2000" dirty="0">
                <a:solidFill>
                  <a:srgbClr val="0F172A"/>
                </a:solidFill>
                <a:latin typeface="Arial" panose="020B0604020202020204" pitchFamily="34" charset="0"/>
                <a:cs typeface="Arial" panose="020B0604020202020204" pitchFamily="34" charset="0"/>
                <a:sym typeface="+mn-ea"/>
              </a:rPr>
              <a:t>Đề tài, tiếng Việt và CEFR, nền tảng AI.</a:t>
            </a:r>
          </a:p>
        </p:txBody>
      </p:sp>
      <p:sp>
        <p:nvSpPr>
          <p:cNvPr id="31" name="TextBox 31"/>
          <p:cNvSpPr txBox="1"/>
          <p:nvPr/>
        </p:nvSpPr>
        <p:spPr>
          <a:xfrm>
            <a:off x="1371600" y="3883876"/>
            <a:ext cx="2236970" cy="1076960"/>
          </a:xfrm>
          <a:prstGeom prst="rect">
            <a:avLst/>
          </a:prstGeom>
        </p:spPr>
        <p:txBody>
          <a:bodyPr lIns="0" tIns="0" rIns="0" bIns="0" rtlCol="0" anchor="t">
            <a:spAutoFit/>
          </a:bodyPr>
          <a:lstStyle/>
          <a:p>
            <a:pPr algn="l">
              <a:lnSpc>
                <a:spcPts val="8400"/>
              </a:lnSpc>
            </a:pPr>
            <a:r>
              <a:rPr lang="vi-VN" altLang="en-US" sz="7000" b="1" dirty="0">
                <a:solidFill>
                  <a:srgbClr val="4F46E5"/>
                </a:solidFill>
                <a:latin typeface="Arial" panose="020B0604020202020204" pitchFamily="34" charset="0"/>
                <a:ea typeface="Poppins Bold" panose="00000800000000000000"/>
                <a:cs typeface="Arial" panose="020B0604020202020204" pitchFamily="34" charset="0"/>
                <a:sym typeface="Poppins Bold" panose="00000800000000000000"/>
              </a:rPr>
              <a:t>01</a:t>
            </a:r>
          </a:p>
        </p:txBody>
      </p:sp>
      <p:sp>
        <p:nvSpPr>
          <p:cNvPr id="32" name="TextBox 32"/>
          <p:cNvSpPr txBox="1"/>
          <p:nvPr/>
        </p:nvSpPr>
        <p:spPr>
          <a:xfrm>
            <a:off x="2490085" y="4285318"/>
            <a:ext cx="1854200" cy="368935"/>
          </a:xfrm>
          <a:prstGeom prst="rect">
            <a:avLst/>
          </a:prstGeom>
        </p:spPr>
        <p:txBody>
          <a:bodyPr wrap="square" lIns="0" tIns="0" rIns="0" bIns="0" rtlCol="0" anchor="t">
            <a:spAutoFit/>
          </a:bodyPr>
          <a:lstStyle/>
          <a:p>
            <a:pPr algn="l">
              <a:lnSpc>
                <a:spcPct val="100000"/>
              </a:lnSpc>
            </a:pPr>
            <a:r>
              <a:rPr lang="vi-VN" altLang="en-US" sz="2400"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Tổng quan</a:t>
            </a:r>
            <a:endParaRPr lang="vi-VN" altLang="en-GB" sz="2400"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endParaRPr>
          </a:p>
        </p:txBody>
      </p:sp>
      <p:sp>
        <p:nvSpPr>
          <p:cNvPr id="33" name="TextBox 33"/>
          <p:cNvSpPr txBox="1"/>
          <p:nvPr/>
        </p:nvSpPr>
        <p:spPr>
          <a:xfrm>
            <a:off x="6506927" y="3883876"/>
            <a:ext cx="2013185" cy="1076960"/>
          </a:xfrm>
          <a:prstGeom prst="rect">
            <a:avLst/>
          </a:prstGeom>
        </p:spPr>
        <p:txBody>
          <a:bodyPr lIns="0" tIns="0" rIns="0" bIns="0" rtlCol="0" anchor="t">
            <a:spAutoFit/>
          </a:bodyPr>
          <a:lstStyle/>
          <a:p>
            <a:pPr algn="l">
              <a:lnSpc>
                <a:spcPts val="8400"/>
              </a:lnSpc>
            </a:pPr>
            <a:r>
              <a:rPr lang="vi-VN" altLang="en-US" sz="7000" b="1" dirty="0">
                <a:solidFill>
                  <a:srgbClr val="7C3AED"/>
                </a:solidFill>
                <a:latin typeface="Arial" panose="020B0604020202020204" pitchFamily="34" charset="0"/>
                <a:ea typeface="Poppins Bold" panose="00000800000000000000"/>
                <a:cs typeface="Arial" panose="020B0604020202020204" pitchFamily="34" charset="0"/>
                <a:sym typeface="Poppins Bold" panose="00000800000000000000"/>
              </a:rPr>
              <a:t>02</a:t>
            </a:r>
          </a:p>
        </p:txBody>
      </p:sp>
      <p:sp>
        <p:nvSpPr>
          <p:cNvPr id="34" name="TextBox 34"/>
          <p:cNvSpPr txBox="1"/>
          <p:nvPr/>
        </p:nvSpPr>
        <p:spPr>
          <a:xfrm>
            <a:off x="7717243" y="4147749"/>
            <a:ext cx="2400000" cy="485518"/>
          </a:xfrm>
          <a:prstGeom prst="rect">
            <a:avLst/>
          </a:prstGeom>
        </p:spPr>
        <p:txBody>
          <a:bodyPr wrap="square" lIns="0" tIns="0" rIns="0" bIns="0" rtlCol="0" anchor="t">
            <a:spAutoFit/>
          </a:bodyPr>
          <a:lstStyle/>
          <a:p>
            <a:pPr algn="l">
              <a:lnSpc>
                <a:spcPct val="150000"/>
              </a:lnSpc>
            </a:pPr>
            <a:r>
              <a:rPr lang="vi-VN" sz="2400"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Thiết kế hệ thống</a:t>
            </a:r>
          </a:p>
        </p:txBody>
      </p:sp>
      <p:sp>
        <p:nvSpPr>
          <p:cNvPr id="35" name="TextBox 35"/>
          <p:cNvSpPr txBox="1"/>
          <p:nvPr/>
        </p:nvSpPr>
        <p:spPr>
          <a:xfrm>
            <a:off x="6506927" y="5027136"/>
            <a:ext cx="3725545" cy="866327"/>
          </a:xfrm>
          <a:prstGeom prst="rect">
            <a:avLst/>
          </a:prstGeom>
        </p:spPr>
        <p:txBody>
          <a:bodyPr wrap="square" lIns="0" tIns="0" rIns="0" bIns="0" rtlCol="0" anchor="t">
            <a:spAutoFit/>
          </a:bodyPr>
          <a:lstStyle/>
          <a:p>
            <a:pPr algn="l">
              <a:lnSpc>
                <a:spcPct val="150000"/>
              </a:lnSpc>
            </a:pPr>
            <a:r>
              <a:rPr lang="vi-VN" sz="2000" dirty="0">
                <a:solidFill>
                  <a:srgbClr val="0F172A"/>
                </a:solidFill>
                <a:latin typeface="Arial" panose="020B0604020202020204" pitchFamily="34" charset="0"/>
                <a:cs typeface="Arial" panose="020B0604020202020204" pitchFamily="34" charset="0"/>
              </a:rPr>
              <a:t>Kiến trúc, đối tượng sử dụng, 4 tính năng AI, CSDL, triển khai.</a:t>
            </a:r>
          </a:p>
        </p:txBody>
      </p:sp>
      <p:sp>
        <p:nvSpPr>
          <p:cNvPr id="36" name="TextBox 36"/>
          <p:cNvSpPr txBox="1"/>
          <p:nvPr/>
        </p:nvSpPr>
        <p:spPr>
          <a:xfrm>
            <a:off x="11887200" y="3857522"/>
            <a:ext cx="2409425" cy="1076960"/>
          </a:xfrm>
          <a:prstGeom prst="rect">
            <a:avLst/>
          </a:prstGeom>
        </p:spPr>
        <p:txBody>
          <a:bodyPr lIns="0" tIns="0" rIns="0" bIns="0" rtlCol="0" anchor="t">
            <a:spAutoFit/>
          </a:bodyPr>
          <a:lstStyle/>
          <a:p>
            <a:pPr algn="l">
              <a:lnSpc>
                <a:spcPts val="8400"/>
              </a:lnSpc>
            </a:pPr>
            <a:r>
              <a:rPr lang="vi-VN" altLang="en-US" sz="7000" b="1" dirty="0">
                <a:solidFill>
                  <a:srgbClr val="0891B2"/>
                </a:solidFill>
                <a:latin typeface="Arial" panose="020B0604020202020204" pitchFamily="34" charset="0"/>
                <a:ea typeface="Poppins Bold" panose="00000800000000000000"/>
                <a:cs typeface="Arial" panose="020B0604020202020204" pitchFamily="34" charset="0"/>
                <a:sym typeface="Poppins Bold" panose="00000800000000000000"/>
              </a:rPr>
              <a:t>03</a:t>
            </a:r>
          </a:p>
        </p:txBody>
      </p:sp>
      <p:sp>
        <p:nvSpPr>
          <p:cNvPr id="38" name="TextBox 38"/>
          <p:cNvSpPr txBox="1"/>
          <p:nvPr/>
        </p:nvSpPr>
        <p:spPr>
          <a:xfrm>
            <a:off x="11931049" y="4968752"/>
            <a:ext cx="3594100" cy="866327"/>
          </a:xfrm>
          <a:prstGeom prst="rect">
            <a:avLst/>
          </a:prstGeom>
        </p:spPr>
        <p:txBody>
          <a:bodyPr wrap="square" lIns="0" tIns="0" rIns="0" bIns="0" rtlCol="0" anchor="t">
            <a:spAutoFit/>
          </a:bodyPr>
          <a:lstStyle/>
          <a:p>
            <a:pPr algn="l">
              <a:lnSpc>
                <a:spcPct val="150000"/>
              </a:lnSpc>
            </a:pPr>
            <a:r>
              <a:rPr lang="vi-VN" sz="2000" dirty="0">
                <a:solidFill>
                  <a:srgbClr val="0F172A"/>
                </a:solidFill>
                <a:latin typeface="Arial" panose="020B0604020202020204" pitchFamily="34" charset="0"/>
                <a:cs typeface="Arial" panose="020B0604020202020204" pitchFamily="34" charset="0"/>
              </a:rPr>
              <a:t>Kết quả, hướng phát triển, demo.</a:t>
            </a:r>
          </a:p>
        </p:txBody>
      </p:sp>
      <p:sp>
        <p:nvSpPr>
          <p:cNvPr id="63" name="TextBox 34"/>
          <p:cNvSpPr txBox="1"/>
          <p:nvPr/>
        </p:nvSpPr>
        <p:spPr>
          <a:xfrm>
            <a:off x="13091913" y="4263935"/>
            <a:ext cx="2409424" cy="369332"/>
          </a:xfrm>
          <a:prstGeom prst="rect">
            <a:avLst/>
          </a:prstGeom>
        </p:spPr>
        <p:txBody>
          <a:bodyPr wrap="square" lIns="0" tIns="0" rIns="0" bIns="0" rtlCol="0" anchor="t">
            <a:spAutoFit/>
          </a:bodyPr>
          <a:lstStyle/>
          <a:p>
            <a:pPr algn="l">
              <a:lnSpc>
                <a:spcPct val="100000"/>
              </a:lnSpc>
            </a:pPr>
            <a:r>
              <a:rPr lang="vi-VN" altLang="en-US" sz="2400"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Kết quả </a:t>
            </a:r>
            <a:r>
              <a:rPr lang="en-US" altLang="en-US" sz="2400" dirty="0" err="1">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và</a:t>
            </a:r>
            <a:r>
              <a:rPr lang="vi-VN" altLang="en-US" sz="2400"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 Demo</a:t>
            </a:r>
          </a:p>
        </p:txBody>
      </p:sp>
      <p:grpSp>
        <p:nvGrpSpPr>
          <p:cNvPr id="70" name="Group 69"/>
          <p:cNvGrpSpPr/>
          <p:nvPr/>
        </p:nvGrpSpPr>
        <p:grpSpPr>
          <a:xfrm>
            <a:off x="-304800" y="9114790"/>
            <a:ext cx="17564099" cy="1583055"/>
            <a:chOff x="-527" y="14354"/>
            <a:chExt cx="27707" cy="2493"/>
          </a:xfrm>
        </p:grpSpPr>
        <p:grpSp>
          <p:nvGrpSpPr>
            <p:cNvPr id="64" name="Group 23"/>
            <p:cNvGrpSpPr/>
            <p:nvPr/>
          </p:nvGrpSpPr>
          <p:grpSpPr>
            <a:xfrm>
              <a:off x="-527" y="14354"/>
              <a:ext cx="27707" cy="2493"/>
              <a:chOff x="0" y="0"/>
              <a:chExt cx="4633762" cy="416940"/>
            </a:xfrm>
          </p:grpSpPr>
          <p:sp>
            <p:nvSpPr>
              <p:cNvPr id="65"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66"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67"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68" name="TextBox 40"/>
            <p:cNvSpPr txBox="1"/>
            <p:nvPr/>
          </p:nvSpPr>
          <p:spPr>
            <a:xfrm>
              <a:off x="24974" y="14951"/>
              <a:ext cx="1384" cy="420"/>
            </a:xfrm>
            <a:prstGeom prst="rect">
              <a:avLst/>
            </a:prstGeom>
          </p:spPr>
          <p:txBody>
            <a:bodyPr lIns="0" tIns="0" rIns="0" bIns="0" rtlCol="0" anchor="t">
              <a:spAutoFit/>
            </a:bodyPr>
            <a:lstStyle/>
            <a:p>
              <a:pPr algn="r">
                <a:lnSpc>
                  <a:spcPts val="2240"/>
                </a:lnSpc>
              </a:pPr>
              <a:r>
                <a:rPr 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0</a:t>
              </a:r>
              <a:r>
                <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2</a:t>
              </a:r>
            </a:p>
          </p:txBody>
        </p:sp>
      </p:grpSp>
      <p:grpSp>
        <p:nvGrpSpPr>
          <p:cNvPr id="2" name="Group 1">
            <a:extLst>
              <a:ext uri="{FF2B5EF4-FFF2-40B4-BE49-F238E27FC236}">
                <a16:creationId xmlns:a16="http://schemas.microsoft.com/office/drawing/2014/main" id="{AE5CD46B-DD9D-AC0B-564F-4A351BE83DCF}"/>
              </a:ext>
            </a:extLst>
          </p:cNvPr>
          <p:cNvGrpSpPr/>
          <p:nvPr/>
        </p:nvGrpSpPr>
        <p:grpSpPr>
          <a:xfrm>
            <a:off x="1056640" y="383540"/>
            <a:ext cx="16846550" cy="782955"/>
            <a:chOff x="1664" y="604"/>
            <a:chExt cx="26530" cy="1233"/>
          </a:xfrm>
        </p:grpSpPr>
        <p:grpSp>
          <p:nvGrpSpPr>
            <p:cNvPr id="4" name="Group 3">
              <a:extLst>
                <a:ext uri="{FF2B5EF4-FFF2-40B4-BE49-F238E27FC236}">
                  <a16:creationId xmlns:a16="http://schemas.microsoft.com/office/drawing/2014/main" id="{59AAA1C0-6A15-5089-2CB9-28619832EFBF}"/>
                </a:ext>
              </a:extLst>
            </p:cNvPr>
            <p:cNvGrpSpPr/>
            <p:nvPr/>
          </p:nvGrpSpPr>
          <p:grpSpPr>
            <a:xfrm>
              <a:off x="25800" y="604"/>
              <a:ext cx="2394" cy="1233"/>
              <a:chOff x="8279827" y="265057"/>
              <a:chExt cx="1648297" cy="863121"/>
            </a:xfrm>
          </p:grpSpPr>
          <p:pic>
            <p:nvPicPr>
              <p:cNvPr id="5" name="Picture 4" descr="tvu">
                <a:extLst>
                  <a:ext uri="{FF2B5EF4-FFF2-40B4-BE49-F238E27FC236}">
                    <a16:creationId xmlns:a16="http://schemas.microsoft.com/office/drawing/2014/main" id="{CD46AA21-2261-BDD5-5FBB-E969EBCEB5A2}"/>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6" name="Picture 5" descr="A logo with a black background  Description automatically generated">
                <a:extLst>
                  <a:ext uri="{FF2B5EF4-FFF2-40B4-BE49-F238E27FC236}">
                    <a16:creationId xmlns:a16="http://schemas.microsoft.com/office/drawing/2014/main" id="{1C9C3397-7E38-DCC6-09A5-D112D9A0FDC9}"/>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01 · TỔNG QUAN</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Tổng quan đề tài</a:t>
            </a:r>
          </a:p>
        </p:txBody>
      </p:sp>
      <p:sp>
        <p:nvSpPr>
          <p:cNvPr id="303" name="Bullets"/>
          <p:cNvSpPr txBox="1"/>
          <p:nvPr/>
        </p:nvSpPr>
        <p:spPr>
          <a:xfrm>
            <a:off x="1176337" y="2960000"/>
            <a:ext cx="16080000" cy="5400000"/>
          </a:xfrm>
          <a:prstGeom prst="rect">
            <a:avLst/>
          </a:prstGeom>
        </p:spPr>
        <p:txBody>
          <a:bodyPr wrap="square" lIns="0" tIns="0" rIns="0" bIns="0" rtlCol="0" anchor="t"/>
          <a:lstStyle/>
          <a:p>
            <a:pPr algn="l">
              <a:lnSpc>
                <a:spcPct val="140000"/>
              </a:lnSpc>
              <a:spcBef>
                <a:spcPts val="500"/>
              </a:spcBef>
              <a:spcAft>
                <a:spcPts val="500"/>
              </a:spcAft>
              <a:buNone/>
            </a:pPr>
            <a:r>
              <a:rPr lang="vi-VN" sz="2400" dirty="0">
                <a:solidFill>
                  <a:srgbClr val="1F2937"/>
                </a:solidFill>
                <a:latin typeface="Arial" panose="020B0604020202020204" pitchFamily="34" charset="0"/>
                <a:cs typeface="Arial" panose="020B0604020202020204" pitchFamily="34" charset="0"/>
                <a:sym typeface="Poppins" panose="00000500000000000000"/>
              </a:rPr>
              <a:t>Học liệu số tiếng Việt hiện nay còn ít, phần lớn tập trung ở trình độ nhập môn, và học viên khó tìm được môi trường luyện giao tiếp thật ngoài lớp học. Đề tài xây dựng một nền tảng học tiếng Việt chia theo cấp độ từ A1 đến C2, có AI hỗ trợ bám sát ngữ cảnh học viên, kèm tính năng Hội thoại mô phỏng tái hiện các tình huống giao tiếp thật, gồm ứng dụng di động cho học viên và trang quản trị cho người soạn nội dung, cả hai dùng chung một backend. Công nghệ chính: Flutter cho di động, React cho quản trị, NestJS cho backend, PostgreSQL và Redis cho dữ liệu.</a:t>
            </a:r>
          </a:p>
        </p:txBody>
      </p:sp>
      <p:grpSp>
        <p:nvGrpSpPr>
          <p:cNvPr id="3" name="Group 2">
            <a:extLst>
              <a:ext uri="{FF2B5EF4-FFF2-40B4-BE49-F238E27FC236}">
                <a16:creationId xmlns:a16="http://schemas.microsoft.com/office/drawing/2014/main" id="{CEE0BC2B-7537-577E-5EC7-A4C075ED0CDC}"/>
              </a:ext>
            </a:extLst>
          </p:cNvPr>
          <p:cNvGrpSpPr/>
          <p:nvPr/>
        </p:nvGrpSpPr>
        <p:grpSpPr>
          <a:xfrm>
            <a:off x="1056640" y="383540"/>
            <a:ext cx="16846550" cy="782955"/>
            <a:chOff x="1664" y="604"/>
            <a:chExt cx="26530" cy="1233"/>
          </a:xfrm>
        </p:grpSpPr>
        <p:grpSp>
          <p:nvGrpSpPr>
            <p:cNvPr id="5" name="Group 4">
              <a:extLst>
                <a:ext uri="{FF2B5EF4-FFF2-40B4-BE49-F238E27FC236}">
                  <a16:creationId xmlns:a16="http://schemas.microsoft.com/office/drawing/2014/main" id="{F0946A7D-A184-8B82-F91A-A6638CEB5AB6}"/>
                </a:ext>
              </a:extLst>
            </p:cNvPr>
            <p:cNvGrpSpPr/>
            <p:nvPr/>
          </p:nvGrpSpPr>
          <p:grpSpPr>
            <a:xfrm>
              <a:off x="25800" y="604"/>
              <a:ext cx="2394" cy="1233"/>
              <a:chOff x="8279827" y="265057"/>
              <a:chExt cx="1648297" cy="863121"/>
            </a:xfrm>
          </p:grpSpPr>
          <p:pic>
            <p:nvPicPr>
              <p:cNvPr id="6" name="Picture 5" descr="tvu">
                <a:extLst>
                  <a:ext uri="{FF2B5EF4-FFF2-40B4-BE49-F238E27FC236}">
                    <a16:creationId xmlns:a16="http://schemas.microsoft.com/office/drawing/2014/main" id="{F2086814-483A-BC70-9A76-42A01D067606}"/>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7" name="Picture 6" descr="A logo with a black background  Description automatically generated">
                <a:extLst>
                  <a:ext uri="{FF2B5EF4-FFF2-40B4-BE49-F238E27FC236}">
                    <a16:creationId xmlns:a16="http://schemas.microsoft.com/office/drawing/2014/main" id="{24C45110-2F1C-3616-1324-87651E9FE4A3}"/>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44" name="Group 43"/>
          <p:cNvGrpSpPr/>
          <p:nvPr/>
        </p:nvGrpSpPr>
        <p:grpSpPr>
          <a:xfrm>
            <a:off x="-334645" y="9114790"/>
            <a:ext cx="17593945" cy="1583055"/>
            <a:chOff x="-527" y="14354"/>
            <a:chExt cx="27707" cy="2493"/>
          </a:xfrm>
        </p:grpSpPr>
        <p:grpSp>
          <p:nvGrpSpPr>
            <p:cNvPr id="45" name="Group 23"/>
            <p:cNvGrpSpPr/>
            <p:nvPr/>
          </p:nvGrpSpPr>
          <p:grpSpPr>
            <a:xfrm>
              <a:off x="-527" y="14354"/>
              <a:ext cx="27707" cy="2493"/>
              <a:chOff x="0" y="0"/>
              <a:chExt cx="4633762" cy="416940"/>
            </a:xfrm>
          </p:grpSpPr>
          <p:sp>
            <p:nvSpPr>
              <p:cNvPr id="46"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47"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48"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49" name="TextBox 40"/>
            <p:cNvSpPr txBox="1"/>
            <p:nvPr/>
          </p:nvSpPr>
          <p:spPr>
            <a:xfrm>
              <a:off x="24974" y="14951"/>
              <a:ext cx="1384" cy="420"/>
            </a:xfrm>
            <a:prstGeom prst="rect">
              <a:avLst/>
            </a:prstGeom>
          </p:spPr>
          <p:txBody>
            <a:bodyPr lIns="0" tIns="0" rIns="0" bIns="0" rtlCol="0" anchor="t">
              <a:spAutoFit/>
            </a:bodyPr>
            <a:lstStyle/>
            <a:p>
              <a:pPr algn="r">
                <a:lnSpc>
                  <a:spcPts val="2240"/>
                </a:lnSpc>
              </a:pPr>
              <a:r>
                <a:rPr 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0</a:t>
              </a:r>
              <a:r>
                <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3</a:t>
              </a:r>
            </a:p>
          </p:txBody>
        </p:sp>
      </p:gr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01 · TỔNG QUAN</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Đặc trưng tiếng Việt và khung CEFR</a:t>
            </a:r>
          </a:p>
        </p:txBody>
      </p:sp>
      <p:sp>
        <p:nvSpPr>
          <p:cNvPr id="303" name="Bullets"/>
          <p:cNvSpPr txBox="1"/>
          <p:nvPr/>
        </p:nvSpPr>
        <p:spPr>
          <a:xfrm>
            <a:off x="1176337" y="2960000"/>
            <a:ext cx="8500000"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CEFR chia 6 bậc A1-C2, Việt Nam có Thông tư 17/2015 tương ứng.</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6 thanh điệu, đổi thanh là đổi nghĩa: "ma, má, mà, mả, mã, mạ".</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3 vùng phương ngữ Bắc, Trung, Nam, khác nhau chủ yếu ở phát âm.</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Người học hay sai: thanh điệu, phụ âm cuối, loại từ, trật tự từ.</a:t>
            </a:r>
          </a:p>
        </p:txBody>
      </p:sp>
      <p:sp>
        <p:nvSpPr>
          <p:cNvPr id="304" name="ImgPlaceholder"/>
          <p:cNvSpPr txBox="1"/>
          <p:nvPr/>
        </p:nvSpPr>
        <p:spPr>
          <a:xfrm>
            <a:off x="10100000" y="2920000"/>
            <a:ext cx="7159300" cy="5600000"/>
          </a:xfrm>
          <a:prstGeom prst="roundRect">
            <a:avLst>
              <a:gd name="adj" fmla="val 4000"/>
            </a:avLst>
          </a:prstGeom>
          <a:solidFill>
            <a:srgbClr val="F1F5F9"/>
          </a:solidFill>
          <a:ln w="12700" cap="sq">
            <a:solidFill>
              <a:srgbClr val="94A3B8"/>
            </a:solidFill>
            <a:prstDash val="dash"/>
          </a:ln>
        </p:spPr>
        <p:txBody>
          <a:bodyPr wrap="square" lIns="91440" tIns="50800" rIns="91440" bIns="50800" rtlCol="0" anchor="ctr"/>
          <a:lstStyle/>
          <a:p>
            <a:pPr algn="ctr">
              <a:lnSpc>
                <a:spcPct val="120000"/>
              </a:lnSpc>
            </a:pPr>
            <a:r>
              <a:rPr lang="vi-VN" sz="1800" dirty="0">
                <a:solidFill>
                  <a:srgbClr val="64748B"/>
                </a:solidFill>
                <a:latin typeface="Arial" panose="020B0604020202020204" pitchFamily="34" charset="0"/>
                <a:cs typeface="Arial" panose="020B0604020202020204" pitchFamily="34" charset="0"/>
              </a:rPr>
              <a:t>[Bảng 6 thanh điệu / bản đồ 3 vùng phương ngữ]</a:t>
            </a:r>
          </a:p>
        </p:txBody>
      </p:sp>
      <p:grpSp>
        <p:nvGrpSpPr>
          <p:cNvPr id="2" name="Group 1">
            <a:extLst>
              <a:ext uri="{FF2B5EF4-FFF2-40B4-BE49-F238E27FC236}">
                <a16:creationId xmlns:a16="http://schemas.microsoft.com/office/drawing/2014/main" id="{16CD1226-2FF7-6F9F-406E-15CE4E8DD35A}"/>
              </a:ext>
            </a:extLst>
          </p:cNvPr>
          <p:cNvGrpSpPr/>
          <p:nvPr/>
        </p:nvGrpSpPr>
        <p:grpSpPr>
          <a:xfrm>
            <a:off x="1056640" y="383540"/>
            <a:ext cx="16846550" cy="782955"/>
            <a:chOff x="1664" y="604"/>
            <a:chExt cx="26530" cy="1233"/>
          </a:xfrm>
        </p:grpSpPr>
        <p:grpSp>
          <p:nvGrpSpPr>
            <p:cNvPr id="4" name="Group 3">
              <a:extLst>
                <a:ext uri="{FF2B5EF4-FFF2-40B4-BE49-F238E27FC236}">
                  <a16:creationId xmlns:a16="http://schemas.microsoft.com/office/drawing/2014/main" id="{453C5D4B-A3F4-F49D-63C7-6A432AE3D4BB}"/>
                </a:ext>
              </a:extLst>
            </p:cNvPr>
            <p:cNvGrpSpPr/>
            <p:nvPr/>
          </p:nvGrpSpPr>
          <p:grpSpPr>
            <a:xfrm>
              <a:off x="25800" y="604"/>
              <a:ext cx="2394" cy="1233"/>
              <a:chOff x="8279827" y="265057"/>
              <a:chExt cx="1648297" cy="863121"/>
            </a:xfrm>
          </p:grpSpPr>
          <p:pic>
            <p:nvPicPr>
              <p:cNvPr id="23" name="Picture 22" descr="tvu">
                <a:extLst>
                  <a:ext uri="{FF2B5EF4-FFF2-40B4-BE49-F238E27FC236}">
                    <a16:creationId xmlns:a16="http://schemas.microsoft.com/office/drawing/2014/main" id="{04FDFF8B-0F68-46B9-06FE-3733ECBD95A8}"/>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24" name="Picture 23" descr="A logo with a black background  Description automatically generated">
                <a:extLst>
                  <a:ext uri="{FF2B5EF4-FFF2-40B4-BE49-F238E27FC236}">
                    <a16:creationId xmlns:a16="http://schemas.microsoft.com/office/drawing/2014/main" id="{BD562C87-2E29-06B0-A23E-EEFBC96E41D4}"/>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70" name="Group 69"/>
          <p:cNvGrpSpPr/>
          <p:nvPr/>
        </p:nvGrpSpPr>
        <p:grpSpPr>
          <a:xfrm>
            <a:off x="-334645" y="9114790"/>
            <a:ext cx="17593945" cy="1583055"/>
            <a:chOff x="-527" y="14354"/>
            <a:chExt cx="27707" cy="2493"/>
          </a:xfrm>
        </p:grpSpPr>
        <p:grpSp>
          <p:nvGrpSpPr>
            <p:cNvPr id="5" name="Group 23"/>
            <p:cNvGrpSpPr/>
            <p:nvPr/>
          </p:nvGrpSpPr>
          <p:grpSpPr>
            <a:xfrm>
              <a:off x="-527" y="14354"/>
              <a:ext cx="27707" cy="2493"/>
              <a:chOff x="0" y="0"/>
              <a:chExt cx="4633762" cy="416940"/>
            </a:xfrm>
          </p:grpSpPr>
          <p:sp>
            <p:nvSpPr>
              <p:cNvPr id="6"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7"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67"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68" name="TextBox 40"/>
            <p:cNvSpPr txBox="1"/>
            <p:nvPr/>
          </p:nvSpPr>
          <p:spPr>
            <a:xfrm>
              <a:off x="24974" y="14951"/>
              <a:ext cx="1384" cy="420"/>
            </a:xfrm>
            <a:prstGeom prst="rect">
              <a:avLst/>
            </a:prstGeom>
          </p:spPr>
          <p:txBody>
            <a:bodyPr lIns="0" tIns="0" rIns="0" bIns="0" rtlCol="0" anchor="t">
              <a:spAutoFit/>
            </a:bodyPr>
            <a:lstStyle/>
            <a:p>
              <a:pPr algn="r">
                <a:lnSpc>
                  <a:spcPts val="2240"/>
                </a:lnSpc>
              </a:pPr>
              <a:r>
                <a:rPr 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0</a:t>
              </a:r>
              <a:r>
                <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4</a:t>
              </a:r>
            </a:p>
          </p:txBody>
        </p:sp>
      </p:gr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4954E1C0-B9EF-C1B9-4828-A8D0A7A7CD5E}"/>
            </a:ext>
          </a:extLst>
        </p:cNvPr>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01 · TỔNG QUAN</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AI Agent và vòng ReAct</a:t>
            </a:r>
          </a:p>
        </p:txBody>
      </p:sp>
      <p:sp>
        <p:nvSpPr>
          <p:cNvPr id="303" name="Bullets"/>
          <p:cNvSpPr txBox="1"/>
          <p:nvPr/>
        </p:nvSpPr>
        <p:spPr>
          <a:xfrm>
            <a:off x="1176337" y="2960000"/>
            <a:ext cx="8500000"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Chatbot chỉ trả lời bằng dữ liệu đã học, không đọc được dữ liệu người dùng.</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Agent được cấp công cụ, tự chọn gọi công cụ khi cần dữ liệu thật.</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ReAct: Suy luận → Gọi công cụ → Quan sát kết quả → lặp cho tới khi trả lời.</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Là nền cho Trợ lý AI, biết tra đúng tiến độ của từng học viên.</a:t>
            </a:r>
          </a:p>
        </p:txBody>
      </p:sp>
      <p:sp>
        <p:nvSpPr>
          <p:cNvPr id="304" name="ImgPlaceholder"/>
          <p:cNvSpPr txBox="1"/>
          <p:nvPr/>
        </p:nvSpPr>
        <p:spPr>
          <a:xfrm>
            <a:off x="10100000" y="2920000"/>
            <a:ext cx="7159300" cy="5600000"/>
          </a:xfrm>
          <a:prstGeom prst="roundRect">
            <a:avLst>
              <a:gd name="adj" fmla="val 4000"/>
            </a:avLst>
          </a:prstGeom>
          <a:solidFill>
            <a:srgbClr val="F1F5F9"/>
          </a:solidFill>
          <a:ln w="12700" cap="sq">
            <a:solidFill>
              <a:srgbClr val="94A3B8"/>
            </a:solidFill>
            <a:prstDash val="dash"/>
          </a:ln>
        </p:spPr>
        <p:txBody>
          <a:bodyPr wrap="square" lIns="91440" tIns="50800" rIns="91440" bIns="50800" rtlCol="0" anchor="ctr"/>
          <a:lstStyle/>
          <a:p>
            <a:pPr algn="ctr">
              <a:lnSpc>
                <a:spcPct val="120000"/>
              </a:lnSpc>
            </a:pPr>
            <a:r>
              <a:rPr lang="vi-VN" sz="1800" dirty="0">
                <a:solidFill>
                  <a:srgbClr val="64748B"/>
                </a:solidFill>
                <a:latin typeface="Arial" panose="020B0604020202020204" pitchFamily="34" charset="0"/>
                <a:cs typeface="Arial" panose="020B0604020202020204" pitchFamily="34" charset="0"/>
              </a:rPr>
              <a:t>[Sơ đồ vòng lặp ReAct: Suy luận → Gọi công cụ → Quan sát]</a:t>
            </a:r>
          </a:p>
        </p:txBody>
      </p:sp>
      <p:grpSp>
        <p:nvGrpSpPr>
          <p:cNvPr id="2" name="Group 1">
            <a:extLst>
              <a:ext uri="{FF2B5EF4-FFF2-40B4-BE49-F238E27FC236}">
                <a16:creationId xmlns:a16="http://schemas.microsoft.com/office/drawing/2014/main" id="{CD5943F1-70CD-A557-F19C-88B41253526B}"/>
              </a:ext>
            </a:extLst>
          </p:cNvPr>
          <p:cNvGrpSpPr/>
          <p:nvPr/>
        </p:nvGrpSpPr>
        <p:grpSpPr>
          <a:xfrm>
            <a:off x="1056640" y="383540"/>
            <a:ext cx="16846550" cy="782955"/>
            <a:chOff x="1664" y="604"/>
            <a:chExt cx="26530" cy="1233"/>
          </a:xfrm>
        </p:grpSpPr>
        <p:grpSp>
          <p:nvGrpSpPr>
            <p:cNvPr id="4" name="Group 3">
              <a:extLst>
                <a:ext uri="{FF2B5EF4-FFF2-40B4-BE49-F238E27FC236}">
                  <a16:creationId xmlns:a16="http://schemas.microsoft.com/office/drawing/2014/main" id="{98325306-1A6B-806B-71DF-D2E55762780A}"/>
                </a:ext>
              </a:extLst>
            </p:cNvPr>
            <p:cNvGrpSpPr/>
            <p:nvPr/>
          </p:nvGrpSpPr>
          <p:grpSpPr>
            <a:xfrm>
              <a:off x="25800" y="604"/>
              <a:ext cx="2394" cy="1233"/>
              <a:chOff x="8279827" y="265057"/>
              <a:chExt cx="1648297" cy="863121"/>
            </a:xfrm>
          </p:grpSpPr>
          <p:pic>
            <p:nvPicPr>
              <p:cNvPr id="23" name="Picture 22" descr="tvu">
                <a:extLst>
                  <a:ext uri="{FF2B5EF4-FFF2-40B4-BE49-F238E27FC236}">
                    <a16:creationId xmlns:a16="http://schemas.microsoft.com/office/drawing/2014/main" id="{C5946B59-89F3-A115-DD66-C70BD6DE66F4}"/>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24" name="Picture 23" descr="A logo with a black background  Description automatically generated">
                <a:extLst>
                  <a:ext uri="{FF2B5EF4-FFF2-40B4-BE49-F238E27FC236}">
                    <a16:creationId xmlns:a16="http://schemas.microsoft.com/office/drawing/2014/main" id="{3A28ADCD-4FEB-8CEB-F0BF-73CF4C171451}"/>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70" name="Group 69">
            <a:extLst>
              <a:ext uri="{FF2B5EF4-FFF2-40B4-BE49-F238E27FC236}">
                <a16:creationId xmlns:a16="http://schemas.microsoft.com/office/drawing/2014/main" id="{FF922C5F-689A-006E-052E-D6A45F3BBB8E}"/>
              </a:ext>
            </a:extLst>
          </p:cNvPr>
          <p:cNvGrpSpPr/>
          <p:nvPr/>
        </p:nvGrpSpPr>
        <p:grpSpPr>
          <a:xfrm>
            <a:off x="-334645" y="9114790"/>
            <a:ext cx="17593945" cy="1583055"/>
            <a:chOff x="-527" y="14354"/>
            <a:chExt cx="27707" cy="2493"/>
          </a:xfrm>
        </p:grpSpPr>
        <p:grpSp>
          <p:nvGrpSpPr>
            <p:cNvPr id="5" name="Group 23">
              <a:extLst>
                <a:ext uri="{FF2B5EF4-FFF2-40B4-BE49-F238E27FC236}">
                  <a16:creationId xmlns:a16="http://schemas.microsoft.com/office/drawing/2014/main" id="{C24848E3-AAD9-E713-6730-E653F8C59BF0}"/>
                </a:ext>
              </a:extLst>
            </p:cNvPr>
            <p:cNvGrpSpPr/>
            <p:nvPr/>
          </p:nvGrpSpPr>
          <p:grpSpPr>
            <a:xfrm>
              <a:off x="-527" y="14354"/>
              <a:ext cx="27707" cy="2493"/>
              <a:chOff x="0" y="0"/>
              <a:chExt cx="4633762" cy="416940"/>
            </a:xfrm>
          </p:grpSpPr>
          <p:sp>
            <p:nvSpPr>
              <p:cNvPr id="6" name="Freeform 24">
                <a:extLst>
                  <a:ext uri="{FF2B5EF4-FFF2-40B4-BE49-F238E27FC236}">
                    <a16:creationId xmlns:a16="http://schemas.microsoft.com/office/drawing/2014/main" id="{186B15F5-B464-407A-CE80-94375E4C2EBB}"/>
                  </a:ext>
                </a:extLst>
              </p:cNvPr>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7" name="TextBox 25">
                <a:extLst>
                  <a:ext uri="{FF2B5EF4-FFF2-40B4-BE49-F238E27FC236}">
                    <a16:creationId xmlns:a16="http://schemas.microsoft.com/office/drawing/2014/main" id="{9649C63F-DA16-7E70-4684-393E627C626B}"/>
                  </a:ext>
                </a:extLst>
              </p:cNvPr>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67" name="TextBox 57">
              <a:extLst>
                <a:ext uri="{FF2B5EF4-FFF2-40B4-BE49-F238E27FC236}">
                  <a16:creationId xmlns:a16="http://schemas.microsoft.com/office/drawing/2014/main" id="{0200A71D-F3D4-7E5E-0CC2-B93F1FD0531D}"/>
                </a:ext>
              </a:extLst>
            </p:cNvPr>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68" name="TextBox 40">
              <a:extLst>
                <a:ext uri="{FF2B5EF4-FFF2-40B4-BE49-F238E27FC236}">
                  <a16:creationId xmlns:a16="http://schemas.microsoft.com/office/drawing/2014/main" id="{CD0AA6B4-77DB-1219-25E1-8D4AC274B1E9}"/>
                </a:ext>
              </a:extLst>
            </p:cNvPr>
            <p:cNvSpPr txBox="1"/>
            <p:nvPr/>
          </p:nvSpPr>
          <p:spPr>
            <a:xfrm>
              <a:off x="24974" y="14951"/>
              <a:ext cx="1384" cy="420"/>
            </a:xfrm>
            <a:prstGeom prst="rect">
              <a:avLst/>
            </a:prstGeom>
          </p:spPr>
          <p:txBody>
            <a:bodyPr lIns="0" tIns="0" rIns="0" bIns="0" rtlCol="0" anchor="t">
              <a:spAutoFit/>
            </a:bodyPr>
            <a:lstStyle/>
            <a:p>
              <a:pPr algn="r">
                <a:lnSpc>
                  <a:spcPts val="2240"/>
                </a:lnSpc>
              </a:pPr>
              <a:r>
                <a:rPr 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05</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spTree>
    <p:extLst>
      <p:ext uri="{BB962C8B-B14F-4D97-AF65-F5344CB8AC3E}">
        <p14:creationId xmlns:p14="http://schemas.microsoft.com/office/powerpoint/2010/main" val="633369329"/>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E2A0677E-CD7F-5C9D-9833-E374DE44131B}"/>
            </a:ext>
          </a:extLst>
        </p:cNvPr>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02 · THIẾT KẾ HỆ THỐNG</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Kiến trúc tổng thể hệ thống</a:t>
            </a:r>
          </a:p>
        </p:txBody>
      </p:sp>
      <p:sp>
        <p:nvSpPr>
          <p:cNvPr id="303" name="Bullets"/>
          <p:cNvSpPr txBox="1"/>
          <p:nvPr/>
        </p:nvSpPr>
        <p:spPr>
          <a:xfrm>
            <a:off x="1176337" y="2760000"/>
            <a:ext cx="7739063"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Mô hình client-server, 3 tầng: Client, Server, Data và dịch vụ ngoài.</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Client: mobile Flutter, admin React, đều có thư viện quản lý trạng thái và bộ nhớ đệm dữ liệu.</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Server: NestJS chạy trên Bun, các lớp trung gian lo xác thực, kiểm tra dữ liệu vào, gắn log.</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Data và dịch vụ ngoài: PostgreSQL, Redis, Google OAuth, nhà cung cấp AI.</a:t>
            </a:r>
          </a:p>
        </p:txBody>
      </p:sp>
      <p:grpSp>
        <p:nvGrpSpPr>
          <p:cNvPr id="2" name="Group 1">
            <a:extLst>
              <a:ext uri="{FF2B5EF4-FFF2-40B4-BE49-F238E27FC236}">
                <a16:creationId xmlns:a16="http://schemas.microsoft.com/office/drawing/2014/main" id="{43DFE20F-553C-9CD4-6A2A-7BACC426390A}"/>
              </a:ext>
            </a:extLst>
          </p:cNvPr>
          <p:cNvGrpSpPr/>
          <p:nvPr/>
        </p:nvGrpSpPr>
        <p:grpSpPr>
          <a:xfrm>
            <a:off x="1056640" y="383540"/>
            <a:ext cx="16846550" cy="782955"/>
            <a:chOff x="1664" y="604"/>
            <a:chExt cx="26530" cy="1233"/>
          </a:xfrm>
        </p:grpSpPr>
        <p:grpSp>
          <p:nvGrpSpPr>
            <p:cNvPr id="4" name="Group 3">
              <a:extLst>
                <a:ext uri="{FF2B5EF4-FFF2-40B4-BE49-F238E27FC236}">
                  <a16:creationId xmlns:a16="http://schemas.microsoft.com/office/drawing/2014/main" id="{5348D21B-F92D-0E11-8519-0078E256E55C}"/>
                </a:ext>
              </a:extLst>
            </p:cNvPr>
            <p:cNvGrpSpPr/>
            <p:nvPr/>
          </p:nvGrpSpPr>
          <p:grpSpPr>
            <a:xfrm>
              <a:off x="25800" y="604"/>
              <a:ext cx="2394" cy="1233"/>
              <a:chOff x="8279827" y="265057"/>
              <a:chExt cx="1648297" cy="863121"/>
            </a:xfrm>
          </p:grpSpPr>
          <p:pic>
            <p:nvPicPr>
              <p:cNvPr id="23" name="Picture 22" descr="tvu">
                <a:extLst>
                  <a:ext uri="{FF2B5EF4-FFF2-40B4-BE49-F238E27FC236}">
                    <a16:creationId xmlns:a16="http://schemas.microsoft.com/office/drawing/2014/main" id="{1FB51DBF-EE7D-4368-64A4-29C9856192BF}"/>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24" name="Picture 23" descr="A logo with a black background  Description automatically generated">
                <a:extLst>
                  <a:ext uri="{FF2B5EF4-FFF2-40B4-BE49-F238E27FC236}">
                    <a16:creationId xmlns:a16="http://schemas.microsoft.com/office/drawing/2014/main" id="{0BE59667-C045-A841-FCE8-A66C74A7EE70}"/>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70" name="Group 69">
            <a:extLst>
              <a:ext uri="{FF2B5EF4-FFF2-40B4-BE49-F238E27FC236}">
                <a16:creationId xmlns:a16="http://schemas.microsoft.com/office/drawing/2014/main" id="{EDEA84CD-3AEE-3403-ECCC-C63623AE4C36}"/>
              </a:ext>
            </a:extLst>
          </p:cNvPr>
          <p:cNvGrpSpPr/>
          <p:nvPr/>
        </p:nvGrpSpPr>
        <p:grpSpPr>
          <a:xfrm>
            <a:off x="-334645" y="9114790"/>
            <a:ext cx="17593945" cy="1583055"/>
            <a:chOff x="-527" y="14354"/>
            <a:chExt cx="27707" cy="2493"/>
          </a:xfrm>
        </p:grpSpPr>
        <p:grpSp>
          <p:nvGrpSpPr>
            <p:cNvPr id="5" name="Group 23">
              <a:extLst>
                <a:ext uri="{FF2B5EF4-FFF2-40B4-BE49-F238E27FC236}">
                  <a16:creationId xmlns:a16="http://schemas.microsoft.com/office/drawing/2014/main" id="{75BA024C-F1CF-A1D8-EF6A-2EB0BFAED638}"/>
                </a:ext>
              </a:extLst>
            </p:cNvPr>
            <p:cNvGrpSpPr/>
            <p:nvPr/>
          </p:nvGrpSpPr>
          <p:grpSpPr>
            <a:xfrm>
              <a:off x="-527" y="14354"/>
              <a:ext cx="27707" cy="2493"/>
              <a:chOff x="0" y="0"/>
              <a:chExt cx="4633762" cy="416940"/>
            </a:xfrm>
          </p:grpSpPr>
          <p:sp>
            <p:nvSpPr>
              <p:cNvPr id="6" name="Freeform 24">
                <a:extLst>
                  <a:ext uri="{FF2B5EF4-FFF2-40B4-BE49-F238E27FC236}">
                    <a16:creationId xmlns:a16="http://schemas.microsoft.com/office/drawing/2014/main" id="{AB575C93-C01E-F018-31AE-F9B2D1EDDDB1}"/>
                  </a:ext>
                </a:extLst>
              </p:cNvPr>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7" name="TextBox 25">
                <a:extLst>
                  <a:ext uri="{FF2B5EF4-FFF2-40B4-BE49-F238E27FC236}">
                    <a16:creationId xmlns:a16="http://schemas.microsoft.com/office/drawing/2014/main" id="{2DBCAFA8-373A-A44A-F73E-780CCD0FCFAF}"/>
                  </a:ext>
                </a:extLst>
              </p:cNvPr>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67" name="TextBox 57">
              <a:extLst>
                <a:ext uri="{FF2B5EF4-FFF2-40B4-BE49-F238E27FC236}">
                  <a16:creationId xmlns:a16="http://schemas.microsoft.com/office/drawing/2014/main" id="{70338316-D601-4D4D-A6D4-3E05426EA773}"/>
                </a:ext>
              </a:extLst>
            </p:cNvPr>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68" name="TextBox 40">
              <a:extLst>
                <a:ext uri="{FF2B5EF4-FFF2-40B4-BE49-F238E27FC236}">
                  <a16:creationId xmlns:a16="http://schemas.microsoft.com/office/drawing/2014/main" id="{1A5540F9-0849-79F9-C733-11C6916F01E2}"/>
                </a:ext>
              </a:extLst>
            </p:cNvPr>
            <p:cNvSpPr txBox="1"/>
            <p:nvPr/>
          </p:nvSpPr>
          <p:spPr>
            <a:xfrm>
              <a:off x="24974" y="14951"/>
              <a:ext cx="1384" cy="420"/>
            </a:xfrm>
            <a:prstGeom prst="rect">
              <a:avLst/>
            </a:prstGeom>
          </p:spPr>
          <p:txBody>
            <a:bodyPr lIns="0" tIns="0" rIns="0" bIns="0" rtlCol="0" anchor="t">
              <a:spAutoFit/>
            </a:bodyPr>
            <a:lstStyle/>
            <a:p>
              <a:pPr algn="r">
                <a:lnSpc>
                  <a:spcPts val="2240"/>
                </a:lnSpc>
              </a:pPr>
              <a:r>
                <a:rPr 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06</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pic>
        <p:nvPicPr>
          <p:cNvPr id="3" name="Picture 2">
            <a:extLst>
              <a:ext uri="{FF2B5EF4-FFF2-40B4-BE49-F238E27FC236}">
                <a16:creationId xmlns:a16="http://schemas.microsoft.com/office/drawing/2014/main" id="{DDD36D43-8757-98B1-7DFA-652A35B29C0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5803" y="1232727"/>
            <a:ext cx="8854997" cy="7824274"/>
          </a:xfrm>
          <a:prstGeom prst="rect">
            <a:avLst/>
          </a:prstGeom>
          <a:noFill/>
          <a:ln>
            <a:noFill/>
          </a:ln>
        </p:spPr>
      </p:pic>
    </p:spTree>
    <p:extLst>
      <p:ext uri="{BB962C8B-B14F-4D97-AF65-F5344CB8AC3E}">
        <p14:creationId xmlns:p14="http://schemas.microsoft.com/office/powerpoint/2010/main" val="3243854087"/>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02 · THIẾT KẾ HỆ THỐNG</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Tác nhân và ca sử dụng</a:t>
            </a:r>
          </a:p>
        </p:txBody>
      </p:sp>
      <p:sp>
        <p:nvSpPr>
          <p:cNvPr id="303" name="Bullets"/>
          <p:cNvSpPr txBox="1"/>
          <p:nvPr/>
        </p:nvSpPr>
        <p:spPr>
          <a:xfrm>
            <a:off x="1176337" y="2960000"/>
            <a:ext cx="8500000"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2 tác nhân: Học viên (ứng dụng di động), Quản trị viên (trang quản trị).</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9 ca của Học viên: đăng ký/đăng nhập, đặt mục tiêu ngày, học bài, hỏi Trợ lý AI, làm bài tập, sinh bài tập tùy chỉnh, khám phá ảnh, lưu từ vựng cá nhân, hội thoại mô phỏng.</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3 ca của Quản trị viên: soạn khóa học/chủ đề/bài học, soạn từ vựng/ngữ pháp/bài tập, quản lý tình huống mô phỏng.</a:t>
            </a:r>
          </a:p>
        </p:txBody>
      </p:sp>
      <p:grpSp>
        <p:nvGrpSpPr>
          <p:cNvPr id="3" name="Group 2">
            <a:extLst>
              <a:ext uri="{FF2B5EF4-FFF2-40B4-BE49-F238E27FC236}">
                <a16:creationId xmlns:a16="http://schemas.microsoft.com/office/drawing/2014/main" id="{1EB4B62E-AC1F-D428-2144-C0A210B36C30}"/>
              </a:ext>
            </a:extLst>
          </p:cNvPr>
          <p:cNvGrpSpPr/>
          <p:nvPr/>
        </p:nvGrpSpPr>
        <p:grpSpPr>
          <a:xfrm>
            <a:off x="1056640" y="383540"/>
            <a:ext cx="16846550" cy="782955"/>
            <a:chOff x="1664" y="604"/>
            <a:chExt cx="26530" cy="1233"/>
          </a:xfrm>
        </p:grpSpPr>
        <p:grpSp>
          <p:nvGrpSpPr>
            <p:cNvPr id="19" name="Group 18">
              <a:extLst>
                <a:ext uri="{FF2B5EF4-FFF2-40B4-BE49-F238E27FC236}">
                  <a16:creationId xmlns:a16="http://schemas.microsoft.com/office/drawing/2014/main" id="{35B894B1-2E43-A44F-1E21-D506DC27C21E}"/>
                </a:ext>
              </a:extLst>
            </p:cNvPr>
            <p:cNvGrpSpPr/>
            <p:nvPr/>
          </p:nvGrpSpPr>
          <p:grpSpPr>
            <a:xfrm>
              <a:off x="25800" y="604"/>
              <a:ext cx="2394" cy="1233"/>
              <a:chOff x="8279827" y="265057"/>
              <a:chExt cx="1648297" cy="863121"/>
            </a:xfrm>
          </p:grpSpPr>
          <p:pic>
            <p:nvPicPr>
              <p:cNvPr id="20" name="Picture 19" descr="tvu">
                <a:extLst>
                  <a:ext uri="{FF2B5EF4-FFF2-40B4-BE49-F238E27FC236}">
                    <a16:creationId xmlns:a16="http://schemas.microsoft.com/office/drawing/2014/main" id="{71FBE57E-7286-2913-0C4B-B09977245FF7}"/>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21" name="Picture 20" descr="A logo with a black background  Description automatically generated">
                <a:extLst>
                  <a:ext uri="{FF2B5EF4-FFF2-40B4-BE49-F238E27FC236}">
                    <a16:creationId xmlns:a16="http://schemas.microsoft.com/office/drawing/2014/main" id="{C88352EE-DFC7-21E1-8E0A-C76536F5DD70}"/>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44" name="Group 43"/>
          <p:cNvGrpSpPr/>
          <p:nvPr/>
        </p:nvGrpSpPr>
        <p:grpSpPr>
          <a:xfrm>
            <a:off x="-334645" y="9114790"/>
            <a:ext cx="17593945" cy="1583055"/>
            <a:chOff x="-527" y="14354"/>
            <a:chExt cx="27707" cy="2493"/>
          </a:xfrm>
        </p:grpSpPr>
        <p:grpSp>
          <p:nvGrpSpPr>
            <p:cNvPr id="45" name="Group 23"/>
            <p:cNvGrpSpPr/>
            <p:nvPr/>
          </p:nvGrpSpPr>
          <p:grpSpPr>
            <a:xfrm>
              <a:off x="-527" y="14354"/>
              <a:ext cx="27707" cy="2493"/>
              <a:chOff x="0" y="0"/>
              <a:chExt cx="4633762" cy="416940"/>
            </a:xfrm>
          </p:grpSpPr>
          <p:sp>
            <p:nvSpPr>
              <p:cNvPr id="46"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47"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48"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49" name="TextBox 40"/>
            <p:cNvSpPr txBox="1"/>
            <p:nvPr/>
          </p:nvSpPr>
          <p:spPr>
            <a:xfrm>
              <a:off x="24974" y="14951"/>
              <a:ext cx="1384" cy="420"/>
            </a:xfrm>
            <a:prstGeom prst="rect">
              <a:avLst/>
            </a:prstGeom>
          </p:spPr>
          <p:txBody>
            <a:bodyPr lIns="0" tIns="0" rIns="0" bIns="0" rtlCol="0" anchor="t">
              <a:spAutoFit/>
            </a:bodyPr>
            <a:lstStyle/>
            <a:p>
              <a:pPr algn="r">
                <a:lnSpc>
                  <a:spcPts val="2240"/>
                </a:lnSpc>
              </a:pPr>
              <a:r>
                <a:rPr 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07</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pic>
        <p:nvPicPr>
          <p:cNvPr id="2" name="Picture 1">
            <a:extLst>
              <a:ext uri="{FF2B5EF4-FFF2-40B4-BE49-F238E27FC236}">
                <a16:creationId xmlns:a16="http://schemas.microsoft.com/office/drawing/2014/main" id="{DF37ADA1-2F66-D8AE-9594-78CB3B508AC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666812" y="1372880"/>
            <a:ext cx="7772400" cy="76841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02 · THIẾT KẾ HỆ THỐNG</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Hệ thống Trợ lý AI</a:t>
            </a:r>
          </a:p>
        </p:txBody>
      </p:sp>
      <p:sp>
        <p:nvSpPr>
          <p:cNvPr id="303" name="Bullets"/>
          <p:cNvSpPr txBox="1"/>
          <p:nvPr/>
        </p:nvSpPr>
        <p:spPr>
          <a:xfrm>
            <a:off x="1176337" y="2960000"/>
            <a:ext cx="8500000"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Học viên gõ câu hỏi, hệ thống gắn kèm ngữ cảnh màn hình đang xem vào AI.</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Lượt AI đầu tiên tự quyết có gọi công cụ hay không, tối đa gọi liên tục 10 lượt.</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9 công cụ chỉ đọc, tự khóa theo đúng người đang hỏi: Báo trạng thái, Hồ sơ học viên, Tiến độ học, Kết quả bài tập gần đây, Từ đã lưu, Tra từ vựng, Tra ngữ pháp, Tìm bài học, Chi tiết bài học.</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Nhiều công cụ chạy lần lượt, gộp hết kết quả rồi AI mới viết trả lời.</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Đang làm bài tập, AI nhìn trạng thái để chọn cách hướng dẫn: chưa trả lời thì gợi ý cách nghĩ, trả lời sai thì nhận xét góp ý, không nói thẳng đáp án.</a:t>
            </a:r>
          </a:p>
        </p:txBody>
      </p:sp>
      <p:sp>
        <p:nvSpPr>
          <p:cNvPr id="304" name="ImgPlaceholder"/>
          <p:cNvSpPr txBox="1"/>
          <p:nvPr/>
        </p:nvSpPr>
        <p:spPr>
          <a:xfrm>
            <a:off x="10100000" y="2920000"/>
            <a:ext cx="7159300" cy="5600000"/>
          </a:xfrm>
          <a:prstGeom prst="roundRect">
            <a:avLst>
              <a:gd name="adj" fmla="val 4000"/>
            </a:avLst>
          </a:prstGeom>
          <a:solidFill>
            <a:srgbClr val="F1F5F9"/>
          </a:solidFill>
          <a:ln w="12700" cap="sq">
            <a:solidFill>
              <a:srgbClr val="94A3B8"/>
            </a:solidFill>
            <a:prstDash val="dash"/>
          </a:ln>
        </p:spPr>
        <p:txBody>
          <a:bodyPr wrap="square" lIns="91440" tIns="50800" rIns="91440" bIns="50800" rtlCol="0" anchor="ctr"/>
          <a:lstStyle/>
          <a:p>
            <a:pPr algn="ctr">
              <a:lnSpc>
                <a:spcPct val="120000"/>
              </a:lnSpc>
            </a:pPr>
            <a:r>
              <a:rPr lang="vi-VN" sz="1800" dirty="0">
                <a:solidFill>
                  <a:srgbClr val="64748B"/>
                </a:solidFill>
                <a:latin typeface="Arial" panose="020B0604020202020204" pitchFamily="34" charset="0"/>
                <a:cs typeface="Arial" panose="020B0604020202020204" pitchFamily="34" charset="0"/>
              </a:rPr>
              <a:t>[Hình 3.3 — Sơ đồ tuần tự một lượt hỏi Trợ lý AI]</a:t>
            </a:r>
          </a:p>
        </p:txBody>
      </p:sp>
      <p:grpSp>
        <p:nvGrpSpPr>
          <p:cNvPr id="2" name="Group 1">
            <a:extLst>
              <a:ext uri="{FF2B5EF4-FFF2-40B4-BE49-F238E27FC236}">
                <a16:creationId xmlns:a16="http://schemas.microsoft.com/office/drawing/2014/main" id="{17B17025-0271-62DF-077A-31028C36104D}"/>
              </a:ext>
            </a:extLst>
          </p:cNvPr>
          <p:cNvGrpSpPr/>
          <p:nvPr/>
        </p:nvGrpSpPr>
        <p:grpSpPr>
          <a:xfrm>
            <a:off x="1056640" y="383540"/>
            <a:ext cx="16846550" cy="782955"/>
            <a:chOff x="1664" y="604"/>
            <a:chExt cx="26530" cy="1233"/>
          </a:xfrm>
        </p:grpSpPr>
        <p:grpSp>
          <p:nvGrpSpPr>
            <p:cNvPr id="4" name="Group 3">
              <a:extLst>
                <a:ext uri="{FF2B5EF4-FFF2-40B4-BE49-F238E27FC236}">
                  <a16:creationId xmlns:a16="http://schemas.microsoft.com/office/drawing/2014/main" id="{9B664550-3036-6AFB-F04F-B975E938EF16}"/>
                </a:ext>
              </a:extLst>
            </p:cNvPr>
            <p:cNvGrpSpPr/>
            <p:nvPr/>
          </p:nvGrpSpPr>
          <p:grpSpPr>
            <a:xfrm>
              <a:off x="25800" y="604"/>
              <a:ext cx="2394" cy="1233"/>
              <a:chOff x="8279827" y="265057"/>
              <a:chExt cx="1648297" cy="863121"/>
            </a:xfrm>
          </p:grpSpPr>
          <p:pic>
            <p:nvPicPr>
              <p:cNvPr id="5" name="Picture 4" descr="tvu">
                <a:extLst>
                  <a:ext uri="{FF2B5EF4-FFF2-40B4-BE49-F238E27FC236}">
                    <a16:creationId xmlns:a16="http://schemas.microsoft.com/office/drawing/2014/main" id="{26E6424B-BE81-52E2-BC70-BA9BFEA21C02}"/>
                  </a:ext>
                </a:extLst>
              </p:cNvPr>
              <p:cNvPicPr>
                <a:picLocks noChangeAspect="1"/>
              </p:cNvPicPr>
              <p:nvPr/>
            </p:nvPicPr>
            <p:blipFill>
              <a:blip r:embed="rId3"/>
              <a:stretch>
                <a:fillRect/>
              </a:stretch>
            </p:blipFill>
            <p:spPr>
              <a:xfrm>
                <a:off x="8279827" y="265057"/>
                <a:ext cx="850479" cy="853652"/>
              </a:xfrm>
              <a:prstGeom prst="rect">
                <a:avLst/>
              </a:prstGeom>
            </p:spPr>
          </p:pic>
          <p:pic>
            <p:nvPicPr>
              <p:cNvPr id="6" name="Picture 5" descr="A logo with a black background  Description automatically generated">
                <a:extLst>
                  <a:ext uri="{FF2B5EF4-FFF2-40B4-BE49-F238E27FC236}">
                    <a16:creationId xmlns:a16="http://schemas.microsoft.com/office/drawing/2014/main" id="{145D9183-3E66-6706-C997-ED8FD90DF6F5}"/>
                  </a:ext>
                </a:extLst>
              </p:cNvPr>
              <p:cNvPicPr>
                <a:picLocks noChangeAspect="1"/>
              </p:cNvPicPr>
              <p:nvPr/>
            </p:nvPicPr>
            <p:blipFill rotWithShape="1">
              <a:blip r:embed="rId4">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70" name="Group 69"/>
          <p:cNvGrpSpPr/>
          <p:nvPr/>
        </p:nvGrpSpPr>
        <p:grpSpPr>
          <a:xfrm>
            <a:off x="-334645" y="9114790"/>
            <a:ext cx="17593945" cy="1583055"/>
            <a:chOff x="-527" y="14354"/>
            <a:chExt cx="27707" cy="2493"/>
          </a:xfrm>
        </p:grpSpPr>
        <p:grpSp>
          <p:nvGrpSpPr>
            <p:cNvPr id="66" name="Group 23"/>
            <p:cNvGrpSpPr/>
            <p:nvPr/>
          </p:nvGrpSpPr>
          <p:grpSpPr>
            <a:xfrm>
              <a:off x="-527" y="14354"/>
              <a:ext cx="27707" cy="2493"/>
              <a:chOff x="0" y="0"/>
              <a:chExt cx="4633762" cy="416940"/>
            </a:xfrm>
          </p:grpSpPr>
          <p:sp>
            <p:nvSpPr>
              <p:cNvPr id="67"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68"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69"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71" name="TextBox 40"/>
            <p:cNvSpPr txBox="1"/>
            <p:nvPr/>
          </p:nvSpPr>
          <p:spPr>
            <a:xfrm>
              <a:off x="24974" y="14951"/>
              <a:ext cx="1384" cy="420"/>
            </a:xfrm>
            <a:prstGeom prst="rect">
              <a:avLst/>
            </a:prstGeom>
          </p:spPr>
          <p:txBody>
            <a:bodyPr lIns="0" tIns="0" rIns="0" bIns="0" rtlCol="0" anchor="t">
              <a:spAutoFit/>
            </a:bodyPr>
            <a:lstStyle/>
            <a:p>
              <a:pPr algn="r">
                <a:lnSpc>
                  <a:spcPts val="2240"/>
                </a:lnSpc>
              </a:pPr>
              <a:r>
                <a:rPr 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08</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8E933979-316F-83D1-0DE7-2E9FBD4EB108}"/>
            </a:ext>
          </a:extLst>
        </p:cNvPr>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02 · THIẾT KẾ HỆ THỐNG</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Hệ thống Hội thoại mô phỏng</a:t>
            </a:r>
          </a:p>
        </p:txBody>
      </p:sp>
      <p:sp>
        <p:nvSpPr>
          <p:cNvPr id="303" name="Bullets"/>
          <p:cNvSpPr txBox="1"/>
          <p:nvPr/>
        </p:nvSpPr>
        <p:spPr>
          <a:xfrm>
            <a:off x="1176337" y="2960000"/>
            <a:ext cx="8500000"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Mỗi lượt học viên nói, hệ thống gọi AI đúng một lần, AI tự chọn nhân vật nào cần trả lời theo đúng thứ tự hội thoại.</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Ngay sau câu học viên, AI chấm lỗi chính tả và ngữ pháp ngay trong câu, ghi đoạn sai, đoạn sửa, loại lỗi và góp ý.</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Phiên kết thúc vì 1 trong 4 lý do, mỗi lý do có hướng dẫn chấm điểm riêng: hoàn thành trọn vẹn, sai quá nhiều liên tục, dùng lời không phù hợp, dùng lời xúc phạm.</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Điểm từng tiêu chí do AI chấm theo thang 0 đến 100, hệ thống đối chiếu lại tên tiêu chí rồi tính tổng theo trọng số.</a:t>
            </a:r>
          </a:p>
        </p:txBody>
      </p:sp>
      <p:sp>
        <p:nvSpPr>
          <p:cNvPr id="304" name="ImgPlaceholder"/>
          <p:cNvSpPr txBox="1"/>
          <p:nvPr/>
        </p:nvSpPr>
        <p:spPr>
          <a:xfrm>
            <a:off x="10100000" y="2920000"/>
            <a:ext cx="7159300" cy="5600000"/>
          </a:xfrm>
          <a:prstGeom prst="roundRect">
            <a:avLst>
              <a:gd name="adj" fmla="val 4000"/>
            </a:avLst>
          </a:prstGeom>
          <a:solidFill>
            <a:srgbClr val="F1F5F9"/>
          </a:solidFill>
          <a:ln w="12700" cap="sq">
            <a:solidFill>
              <a:srgbClr val="94A3B8"/>
            </a:solidFill>
            <a:prstDash val="dash"/>
          </a:ln>
        </p:spPr>
        <p:txBody>
          <a:bodyPr wrap="square" lIns="91440" tIns="50800" rIns="91440" bIns="50800" rtlCol="0" anchor="ctr"/>
          <a:lstStyle/>
          <a:p>
            <a:pPr algn="ctr">
              <a:lnSpc>
                <a:spcPct val="120000"/>
              </a:lnSpc>
            </a:pPr>
            <a:r>
              <a:rPr lang="vi-VN" sz="1800" dirty="0">
                <a:solidFill>
                  <a:srgbClr val="64748B"/>
                </a:solidFill>
                <a:latin typeface="Arial" panose="020B0604020202020204" pitchFamily="34" charset="0"/>
                <a:cs typeface="Arial" panose="020B0604020202020204" pitchFamily="34" charset="0"/>
              </a:rPr>
              <a:t>[Hình 3.4 — Sơ đồ tuần tự Hội thoại mô phỏng]</a:t>
            </a:r>
          </a:p>
        </p:txBody>
      </p:sp>
      <p:grpSp>
        <p:nvGrpSpPr>
          <p:cNvPr id="2" name="Group 1">
            <a:extLst>
              <a:ext uri="{FF2B5EF4-FFF2-40B4-BE49-F238E27FC236}">
                <a16:creationId xmlns:a16="http://schemas.microsoft.com/office/drawing/2014/main" id="{2B54D45E-5DAD-5890-8581-051885DC43BB}"/>
              </a:ext>
            </a:extLst>
          </p:cNvPr>
          <p:cNvGrpSpPr/>
          <p:nvPr/>
        </p:nvGrpSpPr>
        <p:grpSpPr>
          <a:xfrm>
            <a:off x="1056640" y="383540"/>
            <a:ext cx="16846550" cy="782955"/>
            <a:chOff x="1664" y="604"/>
            <a:chExt cx="26530" cy="1233"/>
          </a:xfrm>
        </p:grpSpPr>
        <p:grpSp>
          <p:nvGrpSpPr>
            <p:cNvPr id="7" name="Group 6">
              <a:extLst>
                <a:ext uri="{FF2B5EF4-FFF2-40B4-BE49-F238E27FC236}">
                  <a16:creationId xmlns:a16="http://schemas.microsoft.com/office/drawing/2014/main" id="{90A0FC80-42AE-2036-F3DB-61441BC24281}"/>
                </a:ext>
              </a:extLst>
            </p:cNvPr>
            <p:cNvGrpSpPr/>
            <p:nvPr/>
          </p:nvGrpSpPr>
          <p:grpSpPr>
            <a:xfrm>
              <a:off x="25800" y="604"/>
              <a:ext cx="2394" cy="1233"/>
              <a:chOff x="8279827" y="265057"/>
              <a:chExt cx="1648297" cy="863121"/>
            </a:xfrm>
          </p:grpSpPr>
          <p:pic>
            <p:nvPicPr>
              <p:cNvPr id="8" name="Picture 7" descr="tvu">
                <a:extLst>
                  <a:ext uri="{FF2B5EF4-FFF2-40B4-BE49-F238E27FC236}">
                    <a16:creationId xmlns:a16="http://schemas.microsoft.com/office/drawing/2014/main" id="{8220CA00-A877-3166-E1A4-6922123FE6CB}"/>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9" name="Picture 8" descr="A logo with a black background  Description automatically generated">
                <a:extLst>
                  <a:ext uri="{FF2B5EF4-FFF2-40B4-BE49-F238E27FC236}">
                    <a16:creationId xmlns:a16="http://schemas.microsoft.com/office/drawing/2014/main" id="{DACDCAEB-DF81-A625-2115-1944329C0DAC}"/>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44" name="Group 43">
            <a:extLst>
              <a:ext uri="{FF2B5EF4-FFF2-40B4-BE49-F238E27FC236}">
                <a16:creationId xmlns:a16="http://schemas.microsoft.com/office/drawing/2014/main" id="{7EEB4568-ED47-84DC-D8E2-AFCF79ED4271}"/>
              </a:ext>
            </a:extLst>
          </p:cNvPr>
          <p:cNvGrpSpPr/>
          <p:nvPr/>
        </p:nvGrpSpPr>
        <p:grpSpPr>
          <a:xfrm>
            <a:off x="-334645" y="9114790"/>
            <a:ext cx="17593945" cy="1583055"/>
            <a:chOff x="-527" y="14354"/>
            <a:chExt cx="27707" cy="2493"/>
          </a:xfrm>
        </p:grpSpPr>
        <p:grpSp>
          <p:nvGrpSpPr>
            <p:cNvPr id="45" name="Group 23">
              <a:extLst>
                <a:ext uri="{FF2B5EF4-FFF2-40B4-BE49-F238E27FC236}">
                  <a16:creationId xmlns:a16="http://schemas.microsoft.com/office/drawing/2014/main" id="{A01E889A-FB07-94F2-32C0-F9F6657F296B}"/>
                </a:ext>
              </a:extLst>
            </p:cNvPr>
            <p:cNvGrpSpPr/>
            <p:nvPr/>
          </p:nvGrpSpPr>
          <p:grpSpPr>
            <a:xfrm>
              <a:off x="-527" y="14354"/>
              <a:ext cx="27707" cy="2493"/>
              <a:chOff x="0" y="0"/>
              <a:chExt cx="4633762" cy="416940"/>
            </a:xfrm>
          </p:grpSpPr>
          <p:sp>
            <p:nvSpPr>
              <p:cNvPr id="46" name="Freeform 24">
                <a:extLst>
                  <a:ext uri="{FF2B5EF4-FFF2-40B4-BE49-F238E27FC236}">
                    <a16:creationId xmlns:a16="http://schemas.microsoft.com/office/drawing/2014/main" id="{0F8D4645-D566-2A86-C9D2-ECE44F719C7A}"/>
                  </a:ext>
                </a:extLst>
              </p:cNvPr>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chemeClr val="accent1"/>
                </a:solidFill>
                <a:prstDash val="solid"/>
                <a:round/>
              </a:ln>
            </p:spPr>
            <p:txBody>
              <a:bodyPr/>
              <a:lstStyle/>
              <a:p>
                <a:endParaRPr lang="en-US" dirty="0">
                  <a:latin typeface="Arial" panose="020B0604020202020204" pitchFamily="34" charset="0"/>
                </a:endParaRPr>
              </a:p>
            </p:txBody>
          </p:sp>
          <p:sp>
            <p:nvSpPr>
              <p:cNvPr id="47" name="TextBox 25">
                <a:extLst>
                  <a:ext uri="{FF2B5EF4-FFF2-40B4-BE49-F238E27FC236}">
                    <a16:creationId xmlns:a16="http://schemas.microsoft.com/office/drawing/2014/main" id="{7E0D2C64-4A8C-709D-405E-477D21AED0CC}"/>
                  </a:ext>
                </a:extLst>
              </p:cNvPr>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48" name="TextBox 57">
              <a:extLst>
                <a:ext uri="{FF2B5EF4-FFF2-40B4-BE49-F238E27FC236}">
                  <a16:creationId xmlns:a16="http://schemas.microsoft.com/office/drawing/2014/main" id="{FFD9F851-3384-7F56-A1C4-E42722EAD247}"/>
                </a:ext>
              </a:extLst>
            </p:cNvPr>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49" name="TextBox 40">
              <a:extLst>
                <a:ext uri="{FF2B5EF4-FFF2-40B4-BE49-F238E27FC236}">
                  <a16:creationId xmlns:a16="http://schemas.microsoft.com/office/drawing/2014/main" id="{9F6B10AB-E814-2D60-DF0B-41C2F370DDDD}"/>
                </a:ext>
              </a:extLst>
            </p:cNvPr>
            <p:cNvSpPr txBox="1"/>
            <p:nvPr/>
          </p:nvSpPr>
          <p:spPr>
            <a:xfrm>
              <a:off x="24974" y="14951"/>
              <a:ext cx="1384" cy="420"/>
            </a:xfrm>
            <a:prstGeom prst="rect">
              <a:avLst/>
            </a:prstGeom>
          </p:spPr>
          <p:txBody>
            <a:bodyPr lIns="0" tIns="0" rIns="0" bIns="0" rtlCol="0" anchor="t">
              <a:spAutoFit/>
            </a:bodyPr>
            <a:lstStyle/>
            <a:p>
              <a:pPr algn="r">
                <a:lnSpc>
                  <a:spcPts val="2240"/>
                </a:lnSpc>
              </a:pPr>
              <a:r>
                <a:rPr lang="en-US"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09</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spTree>
    <p:extLst>
      <p:ext uri="{BB962C8B-B14F-4D97-AF65-F5344CB8AC3E}">
        <p14:creationId xmlns:p14="http://schemas.microsoft.com/office/powerpoint/2010/main" val="401080301"/>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02 · THIẾT KẾ HỆ THỐNG</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Hệ thống Khám phá ảnh</a:t>
            </a:r>
          </a:p>
        </p:txBody>
      </p:sp>
      <p:sp>
        <p:nvSpPr>
          <p:cNvPr id="303" name="Bullets"/>
          <p:cNvSpPr txBox="1"/>
          <p:nvPr/>
        </p:nvSpPr>
        <p:spPr>
          <a:xfrm>
            <a:off x="1176337" y="2960000"/>
            <a:ext cx="8500000"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Học viên gửi 1 đến 5 ảnh kèm một câu hỏi, định dạng jpeg, png hoặc webp.</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Ảnh chỉ đưa cho AI đọc và không lưu vào hệ thống.</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Câu trả lời của AI đúng theo một khuôn định sẵn là buộc phải có danh sách từ vựng thấy được trong ảnh đi kèm và hiển thị ra giao diện cho học viên.</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Từ vựng không tự lưu, học viên bấm chọn từng từ để lưu.</a:t>
            </a:r>
          </a:p>
        </p:txBody>
      </p:sp>
      <p:sp>
        <p:nvSpPr>
          <p:cNvPr id="304" name="ImgPlaceholder"/>
          <p:cNvSpPr txBox="1"/>
          <p:nvPr/>
        </p:nvSpPr>
        <p:spPr>
          <a:xfrm>
            <a:off x="10100000" y="2920000"/>
            <a:ext cx="7159300" cy="5600000"/>
          </a:xfrm>
          <a:prstGeom prst="roundRect">
            <a:avLst>
              <a:gd name="adj" fmla="val 4000"/>
            </a:avLst>
          </a:prstGeom>
          <a:solidFill>
            <a:srgbClr val="F1F5F9"/>
          </a:solidFill>
          <a:ln w="12700" cap="sq">
            <a:solidFill>
              <a:srgbClr val="94A3B8"/>
            </a:solidFill>
            <a:prstDash val="dash"/>
          </a:ln>
        </p:spPr>
        <p:txBody>
          <a:bodyPr wrap="square" lIns="91440" tIns="50800" rIns="91440" bIns="50800" rtlCol="0" anchor="ctr"/>
          <a:lstStyle/>
          <a:p>
            <a:pPr algn="ctr">
              <a:lnSpc>
                <a:spcPct val="120000"/>
              </a:lnSpc>
            </a:pPr>
            <a:r>
              <a:rPr lang="vi-VN" sz="1800" dirty="0">
                <a:solidFill>
                  <a:srgbClr val="64748B"/>
                </a:solidFill>
                <a:latin typeface="Arial" panose="020B0604020202020204" pitchFamily="34" charset="0"/>
                <a:cs typeface="Arial" panose="020B0604020202020204" pitchFamily="34" charset="0"/>
              </a:rPr>
              <a:t>[Sơ đồ luồng Khám phá ảnh — 3 khối nối tiếp]</a:t>
            </a:r>
          </a:p>
        </p:txBody>
      </p:sp>
      <p:grpSp>
        <p:nvGrpSpPr>
          <p:cNvPr id="2" name="Group 1">
            <a:extLst>
              <a:ext uri="{FF2B5EF4-FFF2-40B4-BE49-F238E27FC236}">
                <a16:creationId xmlns:a16="http://schemas.microsoft.com/office/drawing/2014/main" id="{6655DA6D-5B91-FC54-4086-55A55E352E53}"/>
              </a:ext>
            </a:extLst>
          </p:cNvPr>
          <p:cNvGrpSpPr/>
          <p:nvPr/>
        </p:nvGrpSpPr>
        <p:grpSpPr>
          <a:xfrm>
            <a:off x="1056640" y="383540"/>
            <a:ext cx="16846550" cy="782955"/>
            <a:chOff x="1664" y="604"/>
            <a:chExt cx="26530" cy="1233"/>
          </a:xfrm>
        </p:grpSpPr>
        <p:grpSp>
          <p:nvGrpSpPr>
            <p:cNvPr id="7" name="Group 6">
              <a:extLst>
                <a:ext uri="{FF2B5EF4-FFF2-40B4-BE49-F238E27FC236}">
                  <a16:creationId xmlns:a16="http://schemas.microsoft.com/office/drawing/2014/main" id="{764C3BAA-E2CF-1AEE-FDAF-0EA82FB31952}"/>
                </a:ext>
              </a:extLst>
            </p:cNvPr>
            <p:cNvGrpSpPr/>
            <p:nvPr/>
          </p:nvGrpSpPr>
          <p:grpSpPr>
            <a:xfrm>
              <a:off x="25800" y="604"/>
              <a:ext cx="2394" cy="1233"/>
              <a:chOff x="8279827" y="265057"/>
              <a:chExt cx="1648297" cy="863121"/>
            </a:xfrm>
          </p:grpSpPr>
          <p:pic>
            <p:nvPicPr>
              <p:cNvPr id="8" name="Picture 7" descr="tvu">
                <a:extLst>
                  <a:ext uri="{FF2B5EF4-FFF2-40B4-BE49-F238E27FC236}">
                    <a16:creationId xmlns:a16="http://schemas.microsoft.com/office/drawing/2014/main" id="{CEB6A331-8503-4D23-6B1F-3685ACBA59A5}"/>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9" name="Picture 8" descr="A logo with a black background  Description automatically generated">
                <a:extLst>
                  <a:ext uri="{FF2B5EF4-FFF2-40B4-BE49-F238E27FC236}">
                    <a16:creationId xmlns:a16="http://schemas.microsoft.com/office/drawing/2014/main" id="{743B3547-37B5-EB39-BFFE-40C22A92434B}"/>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44" name="Group 43"/>
          <p:cNvGrpSpPr/>
          <p:nvPr/>
        </p:nvGrpSpPr>
        <p:grpSpPr>
          <a:xfrm>
            <a:off x="-334645" y="9114790"/>
            <a:ext cx="17593945" cy="1583055"/>
            <a:chOff x="-527" y="14354"/>
            <a:chExt cx="27707" cy="2493"/>
          </a:xfrm>
        </p:grpSpPr>
        <p:grpSp>
          <p:nvGrpSpPr>
            <p:cNvPr id="45" name="Group 23"/>
            <p:cNvGrpSpPr/>
            <p:nvPr/>
          </p:nvGrpSpPr>
          <p:grpSpPr>
            <a:xfrm>
              <a:off x="-527" y="14354"/>
              <a:ext cx="27707" cy="2493"/>
              <a:chOff x="0" y="0"/>
              <a:chExt cx="4633762" cy="416940"/>
            </a:xfrm>
          </p:grpSpPr>
          <p:sp>
            <p:nvSpPr>
              <p:cNvPr id="46"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chemeClr val="accent1"/>
                </a:solidFill>
                <a:prstDash val="solid"/>
                <a:round/>
              </a:ln>
            </p:spPr>
            <p:txBody>
              <a:bodyPr/>
              <a:lstStyle/>
              <a:p>
                <a:endParaRPr lang="en-US" dirty="0">
                  <a:latin typeface="Arial" panose="020B0604020202020204" pitchFamily="34" charset="0"/>
                </a:endParaRPr>
              </a:p>
            </p:txBody>
          </p:sp>
          <p:sp>
            <p:nvSpPr>
              <p:cNvPr id="47"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48"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49" name="TextBox 40"/>
            <p:cNvSpPr txBox="1"/>
            <p:nvPr/>
          </p:nvSpPr>
          <p:spPr>
            <a:xfrm>
              <a:off x="24974" y="14951"/>
              <a:ext cx="1384" cy="420"/>
            </a:xfrm>
            <a:prstGeom prst="rect">
              <a:avLst/>
            </a:prstGeom>
          </p:spPr>
          <p:txBody>
            <a:bodyPr lIns="0" tIns="0" rIns="0" bIns="0" rtlCol="0" anchor="t">
              <a:spAutoFit/>
            </a:bodyPr>
            <a:lstStyle/>
            <a:p>
              <a:pPr algn="r">
                <a:lnSpc>
                  <a:spcPts val="2240"/>
                </a:lnSpc>
              </a:pPr>
              <a:r>
                <a:rPr 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10</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C2E571BB-2BDF-F11C-7A99-919DFFB5F623}"/>
            </a:ext>
          </a:extLst>
        </p:cNvPr>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02 · THIẾT KẾ HỆ THỐNG</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Hệ thống Sinh bài tập tùy chỉnh</a:t>
            </a:r>
          </a:p>
        </p:txBody>
      </p:sp>
      <p:sp>
        <p:nvSpPr>
          <p:cNvPr id="303" name="Bullets"/>
          <p:cNvSpPr txBox="1"/>
          <p:nvPr/>
        </p:nvSpPr>
        <p:spPr>
          <a:xfrm>
            <a:off x="1176337" y="2960000"/>
            <a:ext cx="8500000"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Học viên chọn tối đa 30 câu, chọn 1 hoặc nhiều dạng trong 5 dạng: trắc nghiệm, điền vào chỗ trống, ghép cặp, sắp xếp, dịch câu (không có dạng nghe và nói), chọn ôn từ vựng, ngữ pháp hay cả hai, ghi thêm yêu cầu riêng không quá 500 chữ.</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Bắt buộc chọn đúng một phạm vi: một bài học, một chủ đề, hoặc cả một khóa học. Ôn theo chủ đề hoặc khóa học thì phải học xong ít nhất một phần trong đó.</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Hệ thống tự gom từ vựng, ngữ pháp và nội dung học viên đã hoàn thành trong phạm vi đó, AI chỉ được ra đề trong phần này.</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Mỗi câu AI soạn ra phải kiểm tra đủ đáp án và đúng định dạng trước khi lưu, sai thì tự tạo lại.</a:t>
            </a:r>
          </a:p>
        </p:txBody>
      </p:sp>
      <p:sp>
        <p:nvSpPr>
          <p:cNvPr id="304" name="ImgPlaceholder"/>
          <p:cNvSpPr txBox="1"/>
          <p:nvPr/>
        </p:nvSpPr>
        <p:spPr>
          <a:xfrm>
            <a:off x="10100000" y="2920000"/>
            <a:ext cx="7159300" cy="5600000"/>
          </a:xfrm>
          <a:prstGeom prst="roundRect">
            <a:avLst>
              <a:gd name="adj" fmla="val 4000"/>
            </a:avLst>
          </a:prstGeom>
          <a:solidFill>
            <a:srgbClr val="F1F5F9"/>
          </a:solidFill>
          <a:ln w="12700" cap="sq">
            <a:solidFill>
              <a:srgbClr val="94A3B8"/>
            </a:solidFill>
            <a:prstDash val="dash"/>
          </a:ln>
        </p:spPr>
        <p:txBody>
          <a:bodyPr wrap="square" lIns="91440" tIns="50800" rIns="91440" bIns="50800" rtlCol="0" anchor="ctr"/>
          <a:lstStyle/>
          <a:p>
            <a:pPr algn="ctr">
              <a:lnSpc>
                <a:spcPct val="120000"/>
              </a:lnSpc>
            </a:pPr>
            <a:r>
              <a:rPr lang="vi-VN" sz="1800" dirty="0">
                <a:solidFill>
                  <a:srgbClr val="64748B"/>
                </a:solidFill>
                <a:latin typeface="Arial" panose="020B0604020202020204" pitchFamily="34" charset="0"/>
                <a:cs typeface="Arial" panose="020B0604020202020204" pitchFamily="34" charset="0"/>
              </a:rPr>
              <a:t>[Sơ đồ luồng Sinh bài tập — 4 khối nối tiếp]</a:t>
            </a:r>
          </a:p>
        </p:txBody>
      </p:sp>
      <p:grpSp>
        <p:nvGrpSpPr>
          <p:cNvPr id="2" name="Group 1">
            <a:extLst>
              <a:ext uri="{FF2B5EF4-FFF2-40B4-BE49-F238E27FC236}">
                <a16:creationId xmlns:a16="http://schemas.microsoft.com/office/drawing/2014/main" id="{2C30D17F-3EA2-DC29-4CE7-CDFB9F76B419}"/>
              </a:ext>
            </a:extLst>
          </p:cNvPr>
          <p:cNvGrpSpPr/>
          <p:nvPr/>
        </p:nvGrpSpPr>
        <p:grpSpPr>
          <a:xfrm>
            <a:off x="1056640" y="383540"/>
            <a:ext cx="16846550" cy="782955"/>
            <a:chOff x="1664" y="604"/>
            <a:chExt cx="26530" cy="1233"/>
          </a:xfrm>
        </p:grpSpPr>
        <p:grpSp>
          <p:nvGrpSpPr>
            <p:cNvPr id="7" name="Group 6">
              <a:extLst>
                <a:ext uri="{FF2B5EF4-FFF2-40B4-BE49-F238E27FC236}">
                  <a16:creationId xmlns:a16="http://schemas.microsoft.com/office/drawing/2014/main" id="{C0299AE7-F556-C2A7-F789-EC53AA0D4C82}"/>
                </a:ext>
              </a:extLst>
            </p:cNvPr>
            <p:cNvGrpSpPr/>
            <p:nvPr/>
          </p:nvGrpSpPr>
          <p:grpSpPr>
            <a:xfrm>
              <a:off x="25800" y="604"/>
              <a:ext cx="2394" cy="1233"/>
              <a:chOff x="8279827" y="265057"/>
              <a:chExt cx="1648297" cy="863121"/>
            </a:xfrm>
          </p:grpSpPr>
          <p:pic>
            <p:nvPicPr>
              <p:cNvPr id="8" name="Picture 7" descr="tvu">
                <a:extLst>
                  <a:ext uri="{FF2B5EF4-FFF2-40B4-BE49-F238E27FC236}">
                    <a16:creationId xmlns:a16="http://schemas.microsoft.com/office/drawing/2014/main" id="{4FC44016-A34A-30B7-4CEA-A6E1E14EF7F3}"/>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9" name="Picture 8" descr="A logo with a black background  Description automatically generated">
                <a:extLst>
                  <a:ext uri="{FF2B5EF4-FFF2-40B4-BE49-F238E27FC236}">
                    <a16:creationId xmlns:a16="http://schemas.microsoft.com/office/drawing/2014/main" id="{44A037FB-FA58-DB80-F944-9ADF4D3BCF67}"/>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44" name="Group 43">
            <a:extLst>
              <a:ext uri="{FF2B5EF4-FFF2-40B4-BE49-F238E27FC236}">
                <a16:creationId xmlns:a16="http://schemas.microsoft.com/office/drawing/2014/main" id="{BA237E5C-1430-8BA9-8366-0497886A3051}"/>
              </a:ext>
            </a:extLst>
          </p:cNvPr>
          <p:cNvGrpSpPr/>
          <p:nvPr/>
        </p:nvGrpSpPr>
        <p:grpSpPr>
          <a:xfrm>
            <a:off x="-334645" y="9114790"/>
            <a:ext cx="17593945" cy="1583055"/>
            <a:chOff x="-527" y="14354"/>
            <a:chExt cx="27707" cy="2493"/>
          </a:xfrm>
        </p:grpSpPr>
        <p:grpSp>
          <p:nvGrpSpPr>
            <p:cNvPr id="45" name="Group 23">
              <a:extLst>
                <a:ext uri="{FF2B5EF4-FFF2-40B4-BE49-F238E27FC236}">
                  <a16:creationId xmlns:a16="http://schemas.microsoft.com/office/drawing/2014/main" id="{03F6D9AB-7F8C-1B5A-BED2-E6783373D2C0}"/>
                </a:ext>
              </a:extLst>
            </p:cNvPr>
            <p:cNvGrpSpPr/>
            <p:nvPr/>
          </p:nvGrpSpPr>
          <p:grpSpPr>
            <a:xfrm>
              <a:off x="-527" y="14354"/>
              <a:ext cx="27707" cy="2493"/>
              <a:chOff x="0" y="0"/>
              <a:chExt cx="4633762" cy="416940"/>
            </a:xfrm>
          </p:grpSpPr>
          <p:sp>
            <p:nvSpPr>
              <p:cNvPr id="46" name="Freeform 24">
                <a:extLst>
                  <a:ext uri="{FF2B5EF4-FFF2-40B4-BE49-F238E27FC236}">
                    <a16:creationId xmlns:a16="http://schemas.microsoft.com/office/drawing/2014/main" id="{99F7B025-1472-2A8D-C05D-7DAE50D83C3B}"/>
                  </a:ext>
                </a:extLst>
              </p:cNvPr>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chemeClr val="accent1"/>
                </a:solidFill>
                <a:prstDash val="solid"/>
                <a:round/>
              </a:ln>
            </p:spPr>
            <p:txBody>
              <a:bodyPr/>
              <a:lstStyle/>
              <a:p>
                <a:endParaRPr lang="en-US" dirty="0">
                  <a:latin typeface="Arial" panose="020B0604020202020204" pitchFamily="34" charset="0"/>
                </a:endParaRPr>
              </a:p>
            </p:txBody>
          </p:sp>
          <p:sp>
            <p:nvSpPr>
              <p:cNvPr id="47" name="TextBox 25">
                <a:extLst>
                  <a:ext uri="{FF2B5EF4-FFF2-40B4-BE49-F238E27FC236}">
                    <a16:creationId xmlns:a16="http://schemas.microsoft.com/office/drawing/2014/main" id="{BE8A6273-22C3-AFFA-F516-2EF644C763C8}"/>
                  </a:ext>
                </a:extLst>
              </p:cNvPr>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48" name="TextBox 57">
              <a:extLst>
                <a:ext uri="{FF2B5EF4-FFF2-40B4-BE49-F238E27FC236}">
                  <a16:creationId xmlns:a16="http://schemas.microsoft.com/office/drawing/2014/main" id="{91D2BB96-2CF8-419E-FE60-AC1A50EE0735}"/>
                </a:ext>
              </a:extLst>
            </p:cNvPr>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49" name="TextBox 40">
              <a:extLst>
                <a:ext uri="{FF2B5EF4-FFF2-40B4-BE49-F238E27FC236}">
                  <a16:creationId xmlns:a16="http://schemas.microsoft.com/office/drawing/2014/main" id="{E36C75F3-9815-3000-DCFC-B22889A182C4}"/>
                </a:ext>
              </a:extLst>
            </p:cNvPr>
            <p:cNvSpPr txBox="1"/>
            <p:nvPr/>
          </p:nvSpPr>
          <p:spPr>
            <a:xfrm>
              <a:off x="24974" y="14951"/>
              <a:ext cx="1384" cy="420"/>
            </a:xfrm>
            <a:prstGeom prst="rect">
              <a:avLst/>
            </a:prstGeom>
          </p:spPr>
          <p:txBody>
            <a:bodyPr lIns="0" tIns="0" rIns="0" bIns="0" rtlCol="0" anchor="t">
              <a:spAutoFit/>
            </a:bodyPr>
            <a:lstStyle/>
            <a:p>
              <a:pPr algn="r">
                <a:lnSpc>
                  <a:spcPts val="2240"/>
                </a:lnSpc>
              </a:pPr>
              <a:r>
                <a:rPr lang="en-US"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11</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spTree>
    <p:extLst>
      <p:ext uri="{BB962C8B-B14F-4D97-AF65-F5344CB8AC3E}">
        <p14:creationId xmlns:p14="http://schemas.microsoft.com/office/powerpoint/2010/main" val="1847564049"/>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02 · THIẾT KẾ HỆ THỐNG</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Thiết kế cơ sở dữ liệu</a:t>
            </a:r>
          </a:p>
        </p:txBody>
      </p:sp>
      <p:sp>
        <p:nvSpPr>
          <p:cNvPr id="303" name="Bullets"/>
          <p:cNvSpPr txBox="1"/>
          <p:nvPr/>
        </p:nvSpPr>
        <p:spPr>
          <a:xfrm>
            <a:off x="1176337" y="2760000"/>
            <a:ext cx="16080000"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PostgreSQL, 27 bảng, gom theo 6 nhóm nghiệp vụ.</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6 nhóm: Tài khoản và Xác thực, Học liệu, Luyện tập, Tiến trình và Mục tiêu, Tương tác AI, Hội thoại mô phỏng.</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Bảng nào cũng có id, thời điểm tạo, sửa và cờ xóa mềm.</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Cấu hình bài tập và kết quả AI lưu dạng JSON để thêm dạng câu hỏi mới mà không phải sửa lại cấu trúc bảng.</a:t>
            </a:r>
          </a:p>
        </p:txBody>
      </p:sp>
      <p:sp>
        <p:nvSpPr>
          <p:cNvPr id="304" name="ImgPlaceholder"/>
          <p:cNvSpPr txBox="1"/>
          <p:nvPr/>
        </p:nvSpPr>
        <p:spPr>
          <a:xfrm>
            <a:off x="1176337" y="4838700"/>
            <a:ext cx="16080000" cy="3611300"/>
          </a:xfrm>
          <a:prstGeom prst="roundRect">
            <a:avLst>
              <a:gd name="adj" fmla="val 4000"/>
            </a:avLst>
          </a:prstGeom>
          <a:solidFill>
            <a:srgbClr val="F1F5F9"/>
          </a:solidFill>
          <a:ln w="12700" cap="sq">
            <a:solidFill>
              <a:srgbClr val="94A3B8"/>
            </a:solidFill>
            <a:prstDash val="dash"/>
          </a:ln>
        </p:spPr>
        <p:txBody>
          <a:bodyPr wrap="square" lIns="91440" tIns="50800" rIns="91440" bIns="50800" rtlCol="0" anchor="ctr"/>
          <a:lstStyle/>
          <a:p>
            <a:pPr algn="ctr">
              <a:lnSpc>
                <a:spcPct val="120000"/>
              </a:lnSpc>
            </a:pPr>
            <a:r>
              <a:rPr lang="vi-VN" sz="1800" dirty="0">
                <a:solidFill>
                  <a:srgbClr val="64748B"/>
                </a:solidFill>
                <a:latin typeface="Arial" panose="020B0604020202020204" pitchFamily="34" charset="0"/>
                <a:cs typeface="Arial" panose="020B0604020202020204" pitchFamily="34" charset="0"/>
              </a:rPr>
              <a:t>[Hình 3.5 — ERD toàn bộ hệ thống, 6 nhóm nghiệp vụ]</a:t>
            </a:r>
          </a:p>
        </p:txBody>
      </p:sp>
      <p:grpSp>
        <p:nvGrpSpPr>
          <p:cNvPr id="5" name="Group 4">
            <a:extLst>
              <a:ext uri="{FF2B5EF4-FFF2-40B4-BE49-F238E27FC236}">
                <a16:creationId xmlns:a16="http://schemas.microsoft.com/office/drawing/2014/main" id="{A94798C8-A427-4D8E-9BE1-8C4424E160F1}"/>
              </a:ext>
            </a:extLst>
          </p:cNvPr>
          <p:cNvGrpSpPr/>
          <p:nvPr/>
        </p:nvGrpSpPr>
        <p:grpSpPr>
          <a:xfrm>
            <a:off x="1056640" y="383540"/>
            <a:ext cx="16846550" cy="782955"/>
            <a:chOff x="1664" y="604"/>
            <a:chExt cx="26530" cy="1233"/>
          </a:xfrm>
        </p:grpSpPr>
        <p:grpSp>
          <p:nvGrpSpPr>
            <p:cNvPr id="7" name="Group 6">
              <a:extLst>
                <a:ext uri="{FF2B5EF4-FFF2-40B4-BE49-F238E27FC236}">
                  <a16:creationId xmlns:a16="http://schemas.microsoft.com/office/drawing/2014/main" id="{1EEC6BAE-044E-5431-F11E-1D5372B9B29B}"/>
                </a:ext>
              </a:extLst>
            </p:cNvPr>
            <p:cNvGrpSpPr/>
            <p:nvPr/>
          </p:nvGrpSpPr>
          <p:grpSpPr>
            <a:xfrm>
              <a:off x="25800" y="604"/>
              <a:ext cx="2394" cy="1233"/>
              <a:chOff x="8279827" y="265057"/>
              <a:chExt cx="1648297" cy="863121"/>
            </a:xfrm>
          </p:grpSpPr>
          <p:pic>
            <p:nvPicPr>
              <p:cNvPr id="8" name="Picture 7" descr="tvu">
                <a:extLst>
                  <a:ext uri="{FF2B5EF4-FFF2-40B4-BE49-F238E27FC236}">
                    <a16:creationId xmlns:a16="http://schemas.microsoft.com/office/drawing/2014/main" id="{CD0E6070-7EE4-E372-71E7-83DFD69545CE}"/>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9" name="Picture 8" descr="A logo with a black background  Description automatically generated">
                <a:extLst>
                  <a:ext uri="{FF2B5EF4-FFF2-40B4-BE49-F238E27FC236}">
                    <a16:creationId xmlns:a16="http://schemas.microsoft.com/office/drawing/2014/main" id="{B54B6705-A416-F9A7-C0F7-661AC38B3DE4}"/>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44" name="Group 43"/>
          <p:cNvGrpSpPr/>
          <p:nvPr/>
        </p:nvGrpSpPr>
        <p:grpSpPr>
          <a:xfrm>
            <a:off x="-334645" y="9114790"/>
            <a:ext cx="17593945" cy="1583055"/>
            <a:chOff x="-527" y="14354"/>
            <a:chExt cx="27707" cy="2493"/>
          </a:xfrm>
        </p:grpSpPr>
        <p:grpSp>
          <p:nvGrpSpPr>
            <p:cNvPr id="45" name="Group 23"/>
            <p:cNvGrpSpPr/>
            <p:nvPr/>
          </p:nvGrpSpPr>
          <p:grpSpPr>
            <a:xfrm>
              <a:off x="-527" y="14354"/>
              <a:ext cx="27707" cy="2493"/>
              <a:chOff x="0" y="0"/>
              <a:chExt cx="4633762" cy="416940"/>
            </a:xfrm>
          </p:grpSpPr>
          <p:sp>
            <p:nvSpPr>
              <p:cNvPr id="46"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chemeClr val="accent1"/>
                </a:solidFill>
                <a:prstDash val="solid"/>
                <a:round/>
              </a:ln>
            </p:spPr>
            <p:txBody>
              <a:bodyPr/>
              <a:lstStyle/>
              <a:p>
                <a:endParaRPr lang="en-US" dirty="0">
                  <a:latin typeface="Arial" panose="020B0604020202020204" pitchFamily="34" charset="0"/>
                </a:endParaRPr>
              </a:p>
            </p:txBody>
          </p:sp>
          <p:sp>
            <p:nvSpPr>
              <p:cNvPr id="47"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48"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49" name="TextBox 40"/>
            <p:cNvSpPr txBox="1"/>
            <p:nvPr/>
          </p:nvSpPr>
          <p:spPr>
            <a:xfrm>
              <a:off x="24974" y="14951"/>
              <a:ext cx="1384" cy="420"/>
            </a:xfrm>
            <a:prstGeom prst="rect">
              <a:avLst/>
            </a:prstGeom>
          </p:spPr>
          <p:txBody>
            <a:bodyPr lIns="0" tIns="0" rIns="0" bIns="0" rtlCol="0" anchor="t">
              <a:spAutoFit/>
            </a:bodyPr>
            <a:lstStyle/>
            <a:p>
              <a:pPr algn="r">
                <a:lnSpc>
                  <a:spcPts val="2240"/>
                </a:lnSpc>
              </a:pPr>
              <a:r>
                <a:rPr lang="en-US"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12</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02 · THIẾT KẾ HỆ THỐNG</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Triển khai hệ thống</a:t>
            </a:r>
          </a:p>
        </p:txBody>
      </p:sp>
      <p:sp>
        <p:nvSpPr>
          <p:cNvPr id="303" name="Bullets"/>
          <p:cNvSpPr txBox="1"/>
          <p:nvPr/>
        </p:nvSpPr>
        <p:spPr>
          <a:xfrm>
            <a:off x="1176337" y="2960000"/>
            <a:ext cx="5529263" cy="5400000"/>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Cục bộ: Docker Compose gồm PostgreSQL 16, Redis 7, Backend.</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Production: Backend trên Hugging Face Spaces (Docker Space, HTTPS).</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CSDL chuyển sang CockroachDB Serverless, cache/queue dùng Aiven for Valkey.</a:t>
            </a:r>
          </a:p>
          <a:p>
            <a:pPr marL="457200" indent="-457200" algn="l">
              <a:lnSpc>
                <a:spcPct val="118000"/>
              </a:lnSpc>
              <a:spcBef>
                <a:spcPts val="500"/>
              </a:spcBef>
              <a:spcAft>
                <a:spcPts val="500"/>
              </a:spcAft>
              <a:buFont typeface="Arial"/>
              <a:buAutoNum type="arabicPeriod"/>
            </a:pPr>
            <a:r>
              <a:rPr lang="vi-VN" sz="2100" dirty="0">
                <a:solidFill>
                  <a:srgbClr val="1F2937"/>
                </a:solidFill>
                <a:latin typeface="Arial" panose="020B0604020202020204" pitchFamily="34" charset="0"/>
                <a:cs typeface="Arial" panose="020B0604020202020204" pitchFamily="34" charset="0"/>
                <a:sym typeface="Poppins" panose="00000500000000000000"/>
              </a:rPr>
              <a:t>Admin build web tĩnh</a:t>
            </a:r>
            <a:r>
              <a:rPr lang="en-US" sz="2100" dirty="0">
                <a:solidFill>
                  <a:srgbClr val="1F2937"/>
                </a:solidFill>
                <a:latin typeface="Arial" panose="020B0604020202020204" pitchFamily="34" charset="0"/>
                <a:cs typeface="Arial" panose="020B0604020202020204" pitchFamily="34" charset="0"/>
                <a:sym typeface="Poppins" panose="00000500000000000000"/>
              </a:rPr>
              <a:t> </a:t>
            </a:r>
            <a:r>
              <a:rPr lang="en-US" sz="2100" dirty="0" err="1">
                <a:solidFill>
                  <a:srgbClr val="1F2937"/>
                </a:solidFill>
                <a:latin typeface="Arial" panose="020B0604020202020204" pitchFamily="34" charset="0"/>
                <a:cs typeface="Arial" panose="020B0604020202020204" pitchFamily="34" charset="0"/>
                <a:sym typeface="Poppins" panose="00000500000000000000"/>
              </a:rPr>
              <a:t>deloy</a:t>
            </a:r>
            <a:r>
              <a:rPr lang="en-US" sz="2100" dirty="0">
                <a:solidFill>
                  <a:srgbClr val="1F2937"/>
                </a:solidFill>
                <a:latin typeface="Arial" panose="020B0604020202020204" pitchFamily="34" charset="0"/>
                <a:cs typeface="Arial" panose="020B0604020202020204" pitchFamily="34" charset="0"/>
                <a:sym typeface="Poppins" panose="00000500000000000000"/>
              </a:rPr>
              <a:t> </a:t>
            </a:r>
            <a:r>
              <a:rPr lang="en-US" sz="2100" dirty="0" err="1">
                <a:solidFill>
                  <a:srgbClr val="1F2937"/>
                </a:solidFill>
                <a:latin typeface="Arial" panose="020B0604020202020204" pitchFamily="34" charset="0"/>
                <a:cs typeface="Arial" panose="020B0604020202020204" pitchFamily="34" charset="0"/>
                <a:sym typeface="Poppins" panose="00000500000000000000"/>
              </a:rPr>
              <a:t>lên</a:t>
            </a:r>
            <a:r>
              <a:rPr lang="en-US" sz="2100" dirty="0">
                <a:solidFill>
                  <a:srgbClr val="1F2937"/>
                </a:solidFill>
                <a:latin typeface="Arial" panose="020B0604020202020204" pitchFamily="34" charset="0"/>
                <a:cs typeface="Arial" panose="020B0604020202020204" pitchFamily="34" charset="0"/>
                <a:sym typeface="Poppins" panose="00000500000000000000"/>
              </a:rPr>
              <a:t> Cloudflare Pages</a:t>
            </a:r>
            <a:r>
              <a:rPr lang="vi-VN" sz="2100" dirty="0">
                <a:solidFill>
                  <a:srgbClr val="1F2937"/>
                </a:solidFill>
                <a:latin typeface="Arial" panose="020B0604020202020204" pitchFamily="34" charset="0"/>
                <a:cs typeface="Arial" panose="020B0604020202020204" pitchFamily="34" charset="0"/>
                <a:sym typeface="Poppins" panose="00000500000000000000"/>
              </a:rPr>
              <a:t>, di động biên dịch </a:t>
            </a:r>
            <a:r>
              <a:rPr lang="en-US" sz="2100" dirty="0">
                <a:solidFill>
                  <a:srgbClr val="1F2937"/>
                </a:solidFill>
                <a:latin typeface="Arial" panose="020B0604020202020204" pitchFamily="34" charset="0"/>
                <a:cs typeface="Arial" panose="020B0604020202020204" pitchFamily="34" charset="0"/>
                <a:sym typeface="Poppins" panose="00000500000000000000"/>
              </a:rPr>
              <a:t>file </a:t>
            </a:r>
            <a:r>
              <a:rPr lang="vi-VN" sz="2100" dirty="0">
                <a:solidFill>
                  <a:srgbClr val="1F2937"/>
                </a:solidFill>
                <a:latin typeface="Arial" panose="020B0604020202020204" pitchFamily="34" charset="0"/>
                <a:cs typeface="Arial" panose="020B0604020202020204" pitchFamily="34" charset="0"/>
                <a:sym typeface="Poppins" panose="00000500000000000000"/>
              </a:rPr>
              <a:t>.apk cho Android.</a:t>
            </a:r>
          </a:p>
        </p:txBody>
      </p:sp>
      <p:grpSp>
        <p:nvGrpSpPr>
          <p:cNvPr id="2" name="Group 1">
            <a:extLst>
              <a:ext uri="{FF2B5EF4-FFF2-40B4-BE49-F238E27FC236}">
                <a16:creationId xmlns:a16="http://schemas.microsoft.com/office/drawing/2014/main" id="{A5A9E5C2-4F10-EC58-22BF-C2BFF24CFB49}"/>
              </a:ext>
            </a:extLst>
          </p:cNvPr>
          <p:cNvGrpSpPr/>
          <p:nvPr/>
        </p:nvGrpSpPr>
        <p:grpSpPr>
          <a:xfrm>
            <a:off x="1056640" y="383540"/>
            <a:ext cx="16846550" cy="782955"/>
            <a:chOff x="1664" y="604"/>
            <a:chExt cx="26530" cy="1233"/>
          </a:xfrm>
        </p:grpSpPr>
        <p:grpSp>
          <p:nvGrpSpPr>
            <p:cNvPr id="5" name="Group 4">
              <a:extLst>
                <a:ext uri="{FF2B5EF4-FFF2-40B4-BE49-F238E27FC236}">
                  <a16:creationId xmlns:a16="http://schemas.microsoft.com/office/drawing/2014/main" id="{9CB093FE-535E-F749-FD09-DA4FD346A868}"/>
                </a:ext>
              </a:extLst>
            </p:cNvPr>
            <p:cNvGrpSpPr/>
            <p:nvPr/>
          </p:nvGrpSpPr>
          <p:grpSpPr>
            <a:xfrm>
              <a:off x="25800" y="604"/>
              <a:ext cx="2394" cy="1233"/>
              <a:chOff x="8279827" y="265057"/>
              <a:chExt cx="1648297" cy="863121"/>
            </a:xfrm>
          </p:grpSpPr>
          <p:pic>
            <p:nvPicPr>
              <p:cNvPr id="6" name="Picture 5" descr="tvu">
                <a:extLst>
                  <a:ext uri="{FF2B5EF4-FFF2-40B4-BE49-F238E27FC236}">
                    <a16:creationId xmlns:a16="http://schemas.microsoft.com/office/drawing/2014/main" id="{DAF2901C-4FB9-7401-3D2D-69AA96126300}"/>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7" name="Picture 6" descr="A logo with a black background  Description automatically generated">
                <a:extLst>
                  <a:ext uri="{FF2B5EF4-FFF2-40B4-BE49-F238E27FC236}">
                    <a16:creationId xmlns:a16="http://schemas.microsoft.com/office/drawing/2014/main" id="{D5E5FB17-1B7E-40F6-F312-95E7C82FFA39}"/>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44" name="Group 43"/>
          <p:cNvGrpSpPr/>
          <p:nvPr/>
        </p:nvGrpSpPr>
        <p:grpSpPr>
          <a:xfrm>
            <a:off x="-334645" y="9114790"/>
            <a:ext cx="17593945" cy="1583055"/>
            <a:chOff x="-527" y="14354"/>
            <a:chExt cx="27707" cy="2493"/>
          </a:xfrm>
        </p:grpSpPr>
        <p:grpSp>
          <p:nvGrpSpPr>
            <p:cNvPr id="45" name="Group 23"/>
            <p:cNvGrpSpPr/>
            <p:nvPr/>
          </p:nvGrpSpPr>
          <p:grpSpPr>
            <a:xfrm>
              <a:off x="-527" y="14354"/>
              <a:ext cx="27707" cy="2493"/>
              <a:chOff x="0" y="0"/>
              <a:chExt cx="4633762" cy="416940"/>
            </a:xfrm>
          </p:grpSpPr>
          <p:sp>
            <p:nvSpPr>
              <p:cNvPr id="46"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chemeClr val="accent1"/>
                </a:solidFill>
                <a:prstDash val="solid"/>
                <a:round/>
              </a:ln>
            </p:spPr>
            <p:txBody>
              <a:bodyPr/>
              <a:lstStyle/>
              <a:p>
                <a:endParaRPr lang="en-US" dirty="0">
                  <a:latin typeface="Arial" panose="020B0604020202020204" pitchFamily="34" charset="0"/>
                </a:endParaRPr>
              </a:p>
            </p:txBody>
          </p:sp>
          <p:sp>
            <p:nvSpPr>
              <p:cNvPr id="47"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48"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49" name="TextBox 40"/>
            <p:cNvSpPr txBox="1"/>
            <p:nvPr/>
          </p:nvSpPr>
          <p:spPr>
            <a:xfrm>
              <a:off x="24974" y="14951"/>
              <a:ext cx="1384" cy="407"/>
            </a:xfrm>
            <a:prstGeom prst="rect">
              <a:avLst/>
            </a:prstGeom>
          </p:spPr>
          <p:txBody>
            <a:bodyPr lIns="0" tIns="0" rIns="0" bIns="0" rtlCol="0" anchor="t">
              <a:spAutoFit/>
            </a:bodyPr>
            <a:lstStyle/>
            <a:p>
              <a:pPr algn="r">
                <a:lnSpc>
                  <a:spcPts val="2240"/>
                </a:lnSpc>
              </a:pPr>
              <a:r>
                <a:rPr lang="en-US"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13</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pic>
        <p:nvPicPr>
          <p:cNvPr id="3" name="Picture 2">
            <a:extLst>
              <a:ext uri="{FF2B5EF4-FFF2-40B4-BE49-F238E27FC236}">
                <a16:creationId xmlns:a16="http://schemas.microsoft.com/office/drawing/2014/main" id="{B56CD300-9A31-88D1-5A59-5805B708D66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05600" y="1472210"/>
            <a:ext cx="11375613" cy="758479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184380D2-B059-B804-02E9-F57E23F98A14}"/>
            </a:ext>
          </a:extLst>
        </p:cNvPr>
        <p:cNvGrpSpPr/>
        <p:nvPr/>
      </p:nvGrpSpPr>
      <p:grpSpPr>
        <a:xfrm>
          <a:off x="0" y="0"/>
          <a:ext cx="0" cy="0"/>
          <a:chOff x="0" y="0"/>
          <a:chExt cx="0" cy="0"/>
        </a:xfrm>
      </p:grpSpPr>
      <p:grpSp>
        <p:nvGrpSpPr>
          <p:cNvPr id="10" name="Group 27">
            <a:extLst>
              <a:ext uri="{FF2B5EF4-FFF2-40B4-BE49-F238E27FC236}">
                <a16:creationId xmlns:a16="http://schemas.microsoft.com/office/drawing/2014/main" id="{C0F347EE-5DDC-3C3D-1F29-96B8523FA7FE}"/>
              </a:ext>
            </a:extLst>
          </p:cNvPr>
          <p:cNvGrpSpPr/>
          <p:nvPr/>
        </p:nvGrpSpPr>
        <p:grpSpPr>
          <a:xfrm>
            <a:off x="9290475" y="2861712"/>
            <a:ext cx="8002800" cy="3693994"/>
            <a:chOff x="0" y="0"/>
            <a:chExt cx="1225758" cy="930555"/>
          </a:xfrm>
        </p:grpSpPr>
        <p:sp>
          <p:nvSpPr>
            <p:cNvPr id="11" name="Freeform 28">
              <a:extLst>
                <a:ext uri="{FF2B5EF4-FFF2-40B4-BE49-F238E27FC236}">
                  <a16:creationId xmlns:a16="http://schemas.microsoft.com/office/drawing/2014/main" id="{573417CE-49E2-DBDC-519F-AC35F0AB414A}"/>
                </a:ext>
              </a:extLst>
            </p:cNvPr>
            <p:cNvSpPr/>
            <p:nvPr/>
          </p:nvSpPr>
          <p:spPr>
            <a:xfrm>
              <a:off x="0" y="0"/>
              <a:ext cx="1225758" cy="930555"/>
            </a:xfrm>
            <a:custGeom>
              <a:avLst/>
              <a:gdLst/>
              <a:ahLst/>
              <a:cxnLst/>
              <a:rect l="l" t="t" r="r" b="b"/>
              <a:pathLst>
                <a:path w="1225758" h="930555">
                  <a:moveTo>
                    <a:pt x="61217" y="0"/>
                  </a:moveTo>
                  <a:lnTo>
                    <a:pt x="1164541" y="0"/>
                  </a:lnTo>
                  <a:cubicBezTo>
                    <a:pt x="1198350" y="0"/>
                    <a:pt x="1225758" y="27408"/>
                    <a:pt x="1225758" y="61217"/>
                  </a:cubicBezTo>
                  <a:lnTo>
                    <a:pt x="1225758" y="869339"/>
                  </a:lnTo>
                  <a:cubicBezTo>
                    <a:pt x="1225758" y="903148"/>
                    <a:pt x="1198350" y="930555"/>
                    <a:pt x="1164541" y="930555"/>
                  </a:cubicBezTo>
                  <a:lnTo>
                    <a:pt x="61217" y="930555"/>
                  </a:lnTo>
                  <a:cubicBezTo>
                    <a:pt x="27408" y="930555"/>
                    <a:pt x="0" y="903148"/>
                    <a:pt x="0" y="869339"/>
                  </a:cubicBezTo>
                  <a:lnTo>
                    <a:pt x="0" y="61217"/>
                  </a:lnTo>
                  <a:cubicBezTo>
                    <a:pt x="0" y="27408"/>
                    <a:pt x="27408" y="0"/>
                    <a:pt x="61217" y="0"/>
                  </a:cubicBezTo>
                  <a:close/>
                </a:path>
              </a:pathLst>
            </a:custGeom>
            <a:solidFill>
              <a:srgbClr val="ECFEFF"/>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12" name="TextBox 29">
              <a:extLst>
                <a:ext uri="{FF2B5EF4-FFF2-40B4-BE49-F238E27FC236}">
                  <a16:creationId xmlns:a16="http://schemas.microsoft.com/office/drawing/2014/main" id="{3899170D-39F1-4B0B-5163-E03185B39B55}"/>
                </a:ext>
              </a:extLst>
            </p:cNvPr>
            <p:cNvSpPr txBox="1"/>
            <p:nvPr/>
          </p:nvSpPr>
          <p:spPr>
            <a:xfrm>
              <a:off x="0" y="-57150"/>
              <a:ext cx="1225758" cy="987705"/>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grpSp>
        <p:nvGrpSpPr>
          <p:cNvPr id="3" name="Group 21">
            <a:extLst>
              <a:ext uri="{FF2B5EF4-FFF2-40B4-BE49-F238E27FC236}">
                <a16:creationId xmlns:a16="http://schemas.microsoft.com/office/drawing/2014/main" id="{E286069F-D75F-8DD9-BD75-949148FCBDF6}"/>
              </a:ext>
            </a:extLst>
          </p:cNvPr>
          <p:cNvGrpSpPr/>
          <p:nvPr/>
        </p:nvGrpSpPr>
        <p:grpSpPr>
          <a:xfrm>
            <a:off x="994726" y="2861712"/>
            <a:ext cx="8149274" cy="3729587"/>
            <a:chOff x="0" y="0"/>
            <a:chExt cx="1225758" cy="930555"/>
          </a:xfrm>
        </p:grpSpPr>
        <p:sp>
          <p:nvSpPr>
            <p:cNvPr id="8" name="Freeform 22">
              <a:extLst>
                <a:ext uri="{FF2B5EF4-FFF2-40B4-BE49-F238E27FC236}">
                  <a16:creationId xmlns:a16="http://schemas.microsoft.com/office/drawing/2014/main" id="{10F1B194-8892-66E1-9F8A-39E6C7C206EC}"/>
                </a:ext>
              </a:extLst>
            </p:cNvPr>
            <p:cNvSpPr/>
            <p:nvPr/>
          </p:nvSpPr>
          <p:spPr>
            <a:xfrm>
              <a:off x="0" y="0"/>
              <a:ext cx="1225758" cy="930555"/>
            </a:xfrm>
            <a:custGeom>
              <a:avLst/>
              <a:gdLst/>
              <a:ahLst/>
              <a:cxnLst/>
              <a:rect l="l" t="t" r="r" b="b"/>
              <a:pathLst>
                <a:path w="1225758" h="930555">
                  <a:moveTo>
                    <a:pt x="61217" y="0"/>
                  </a:moveTo>
                  <a:lnTo>
                    <a:pt x="1164541" y="0"/>
                  </a:lnTo>
                  <a:cubicBezTo>
                    <a:pt x="1198350" y="0"/>
                    <a:pt x="1225758" y="27408"/>
                    <a:pt x="1225758" y="61217"/>
                  </a:cubicBezTo>
                  <a:lnTo>
                    <a:pt x="1225758" y="869339"/>
                  </a:lnTo>
                  <a:cubicBezTo>
                    <a:pt x="1225758" y="903148"/>
                    <a:pt x="1198350" y="930555"/>
                    <a:pt x="1164541" y="930555"/>
                  </a:cubicBezTo>
                  <a:lnTo>
                    <a:pt x="61217" y="930555"/>
                  </a:lnTo>
                  <a:cubicBezTo>
                    <a:pt x="27408" y="930555"/>
                    <a:pt x="0" y="903148"/>
                    <a:pt x="0" y="869339"/>
                  </a:cubicBezTo>
                  <a:lnTo>
                    <a:pt x="0" y="61217"/>
                  </a:lnTo>
                  <a:cubicBezTo>
                    <a:pt x="0" y="27408"/>
                    <a:pt x="27408" y="0"/>
                    <a:pt x="61217" y="0"/>
                  </a:cubicBezTo>
                  <a:close/>
                </a:path>
              </a:pathLst>
            </a:custGeom>
            <a:solidFill>
              <a:srgbClr val="EEF2FF"/>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9" name="TextBox 23">
              <a:extLst>
                <a:ext uri="{FF2B5EF4-FFF2-40B4-BE49-F238E27FC236}">
                  <a16:creationId xmlns:a16="http://schemas.microsoft.com/office/drawing/2014/main" id="{6C1BFC32-BF37-6286-F159-40FC568298A9}"/>
                </a:ext>
              </a:extLst>
            </p:cNvPr>
            <p:cNvSpPr txBox="1"/>
            <p:nvPr/>
          </p:nvSpPr>
          <p:spPr>
            <a:xfrm>
              <a:off x="0" y="-57150"/>
              <a:ext cx="1225758" cy="987705"/>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301" name="SectionLabel"/>
          <p:cNvSpPr txBox="1"/>
          <p:nvPr/>
        </p:nvSpPr>
        <p:spPr>
          <a:xfrm>
            <a:off x="1028700" y="1230000"/>
            <a:ext cx="16230600" cy="320000"/>
          </a:xfrm>
          <a:prstGeom prst="rect">
            <a:avLst/>
          </a:prstGeom>
        </p:spPr>
        <p:txBody>
          <a:bodyPr wrap="square" lIns="0" tIns="0" rIns="0" bIns="0" rtlCol="0" anchor="t">
            <a:spAutoFit/>
          </a:bodyPr>
          <a:lstStyle/>
          <a:p>
            <a:pPr algn="l">
              <a:lnSpc>
                <a:spcPct val="100000"/>
              </a:lnSpc>
            </a:pPr>
            <a:r>
              <a:rPr lang="vi-VN" sz="1400" b="1" dirty="0">
                <a:solidFill>
                  <a:srgbClr val="64748B"/>
                </a:solidFill>
                <a:latin typeface="Arial" panose="020B0604020202020204" pitchFamily="34" charset="0"/>
                <a:cs typeface="Arial" panose="020B0604020202020204" pitchFamily="34" charset="0"/>
                <a:sym typeface="Poppins Semi-Bold" panose="00000700000000000000"/>
              </a:rPr>
              <a:t>03 · KẾT QUẢ VÀ DEMO</a:t>
            </a:r>
          </a:p>
        </p:txBody>
      </p:sp>
      <p:sp>
        <p:nvSpPr>
          <p:cNvPr id="302" name="SlideTitle"/>
          <p:cNvSpPr txBox="1"/>
          <p:nvPr/>
        </p:nvSpPr>
        <p:spPr>
          <a:xfrm>
            <a:off x="1028700" y="1530000"/>
            <a:ext cx="16230600" cy="1100000"/>
          </a:xfrm>
          <a:prstGeom prst="rect">
            <a:avLst/>
          </a:prstGeom>
        </p:spPr>
        <p:txBody>
          <a:bodyPr wrap="square" lIns="0" tIns="0" rIns="0" bIns="0" rtlCol="0" anchor="t">
            <a:spAutoFit/>
          </a:bodyPr>
          <a:lstStyle/>
          <a:p>
            <a:pPr algn="l">
              <a:lnSpc>
                <a:spcPts val="5200"/>
              </a:lnSpc>
            </a:pPr>
            <a:r>
              <a:rPr lang="vi-VN" sz="4400" b="1" dirty="0">
                <a:solidFill>
                  <a:srgbClr val="0F172A"/>
                </a:solidFill>
                <a:latin typeface="Arial" panose="020B0604020202020204" pitchFamily="34" charset="0"/>
                <a:ea typeface="Poppins Bold" panose="00000800000000000000"/>
                <a:cs typeface="Arial" panose="020B0604020202020204" pitchFamily="34" charset="0"/>
                <a:sym typeface="Poppins Bold" panose="00000800000000000000"/>
              </a:rPr>
              <a:t>Kết quả và hướng phát triển</a:t>
            </a:r>
          </a:p>
        </p:txBody>
      </p:sp>
      <p:sp>
        <p:nvSpPr>
          <p:cNvPr id="303" name="ColHeader"/>
          <p:cNvSpPr txBox="1"/>
          <p:nvPr/>
        </p:nvSpPr>
        <p:spPr>
          <a:xfrm>
            <a:off x="3429000" y="3125237"/>
            <a:ext cx="3124200" cy="430887"/>
          </a:xfrm>
          <a:prstGeom prst="rect">
            <a:avLst/>
          </a:prstGeom>
        </p:spPr>
        <p:txBody>
          <a:bodyPr wrap="square" lIns="0" tIns="0" rIns="0" bIns="0" rtlCol="0" anchor="t">
            <a:spAutoFit/>
          </a:bodyPr>
          <a:lstStyle/>
          <a:p>
            <a:pPr algn="l">
              <a:lnSpc>
                <a:spcPct val="100000"/>
              </a:lnSpc>
            </a:pPr>
            <a:r>
              <a:rPr lang="vi-VN" sz="2800" b="1" dirty="0">
                <a:solidFill>
                  <a:srgbClr val="4F46E5"/>
                </a:solidFill>
                <a:latin typeface="Arial" panose="020B0604020202020204" pitchFamily="34" charset="0"/>
                <a:ea typeface="Poppins Bold" panose="00000800000000000000"/>
                <a:cs typeface="Arial" panose="020B0604020202020204" pitchFamily="34" charset="0"/>
                <a:sym typeface="Poppins Bold" panose="00000800000000000000"/>
              </a:rPr>
              <a:t>Kết quả đạt được</a:t>
            </a:r>
          </a:p>
        </p:txBody>
      </p:sp>
      <p:sp>
        <p:nvSpPr>
          <p:cNvPr id="304" name="Bullets"/>
          <p:cNvSpPr txBox="1"/>
          <p:nvPr/>
        </p:nvSpPr>
        <p:spPr>
          <a:xfrm>
            <a:off x="1281164" y="3901448"/>
            <a:ext cx="7600000" cy="1800044"/>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Hoàn thiện 3 thành phần: di động, quản trị, backend.</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Học liệu đầy đủ 6 cấp độ A1-C2.</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Tích hợp 4 tính năng AI: Trợ lý AI, Khám phá ảnh, Hội thoại mô phỏng, Sinh bài tập tùy chỉnh.</a:t>
            </a:r>
          </a:p>
        </p:txBody>
      </p:sp>
      <p:sp>
        <p:nvSpPr>
          <p:cNvPr id="305" name="ColHeader"/>
          <p:cNvSpPr txBox="1"/>
          <p:nvPr/>
        </p:nvSpPr>
        <p:spPr>
          <a:xfrm>
            <a:off x="11890800" y="3099838"/>
            <a:ext cx="2968200" cy="430887"/>
          </a:xfrm>
          <a:prstGeom prst="rect">
            <a:avLst/>
          </a:prstGeom>
        </p:spPr>
        <p:txBody>
          <a:bodyPr wrap="square" lIns="0" tIns="0" rIns="0" bIns="0" rtlCol="0" anchor="t">
            <a:spAutoFit/>
          </a:bodyPr>
          <a:lstStyle/>
          <a:p>
            <a:pPr algn="l">
              <a:lnSpc>
                <a:spcPct val="100000"/>
              </a:lnSpc>
            </a:pPr>
            <a:r>
              <a:rPr lang="vi-VN" sz="2800" b="1" dirty="0">
                <a:solidFill>
                  <a:srgbClr val="0891B2"/>
                </a:solidFill>
                <a:latin typeface="Arial" panose="020B0604020202020204" pitchFamily="34" charset="0"/>
                <a:ea typeface="Poppins Bold" panose="00000800000000000000"/>
                <a:cs typeface="Arial" panose="020B0604020202020204" pitchFamily="34" charset="0"/>
                <a:sym typeface="Poppins Bold" panose="00000800000000000000"/>
              </a:rPr>
              <a:t>Hướng phát triển</a:t>
            </a:r>
          </a:p>
        </p:txBody>
      </p:sp>
      <p:sp>
        <p:nvSpPr>
          <p:cNvPr id="306" name="Bullets"/>
          <p:cNvSpPr txBox="1"/>
          <p:nvPr/>
        </p:nvSpPr>
        <p:spPr>
          <a:xfrm>
            <a:off x="9548329" y="3748591"/>
            <a:ext cx="7600000" cy="2447008"/>
          </a:xfrm>
          <a:prstGeom prst="rect">
            <a:avLst/>
          </a:prstGeom>
        </p:spPr>
        <p:txBody>
          <a:bodyPr wrap="square" lIns="0" tIns="0" rIns="0" bIns="0" rtlCol="0" anchor="t"/>
          <a:lstStyle/>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Mở rộng học liệu B1-C2, thêm tình huống mô phỏng gắn đời sống Việt Nam.</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Đánh giá phát âm, </a:t>
            </a:r>
            <a:r>
              <a:rPr lang="en-US" sz="2000" dirty="0" err="1">
                <a:solidFill>
                  <a:srgbClr val="1F2937"/>
                </a:solidFill>
                <a:latin typeface="Arial" panose="020B0604020202020204" pitchFamily="34" charset="0"/>
                <a:cs typeface="Arial" panose="020B0604020202020204" pitchFamily="34" charset="0"/>
                <a:sym typeface="Poppins" panose="00000500000000000000"/>
              </a:rPr>
              <a:t>tổng</a:t>
            </a:r>
            <a:r>
              <a:rPr lang="en-US" sz="2000" dirty="0">
                <a:solidFill>
                  <a:srgbClr val="1F2937"/>
                </a:solidFill>
                <a:latin typeface="Arial" panose="020B0604020202020204" pitchFamily="34" charset="0"/>
                <a:cs typeface="Arial" panose="020B0604020202020204" pitchFamily="34" charset="0"/>
                <a:sym typeface="Poppins" panose="00000500000000000000"/>
              </a:rPr>
              <a:t> </a:t>
            </a:r>
            <a:r>
              <a:rPr lang="en-US" sz="2000" dirty="0" err="1">
                <a:solidFill>
                  <a:srgbClr val="1F2937"/>
                </a:solidFill>
                <a:latin typeface="Arial" panose="020B0604020202020204" pitchFamily="34" charset="0"/>
                <a:cs typeface="Arial" panose="020B0604020202020204" pitchFamily="34" charset="0"/>
                <a:sym typeface="Poppins" panose="00000500000000000000"/>
              </a:rPr>
              <a:t>hợp</a:t>
            </a:r>
            <a:r>
              <a:rPr lang="en-US" sz="2000" dirty="0">
                <a:solidFill>
                  <a:srgbClr val="1F2937"/>
                </a:solidFill>
                <a:latin typeface="Arial" panose="020B0604020202020204" pitchFamily="34" charset="0"/>
                <a:cs typeface="Arial" panose="020B0604020202020204" pitchFamily="34" charset="0"/>
                <a:sym typeface="Poppins" panose="00000500000000000000"/>
              </a:rPr>
              <a:t> </a:t>
            </a:r>
            <a:r>
              <a:rPr lang="en-US" sz="2000" dirty="0" err="1">
                <a:solidFill>
                  <a:srgbClr val="1F2937"/>
                </a:solidFill>
                <a:latin typeface="Arial" panose="020B0604020202020204" pitchFamily="34" charset="0"/>
                <a:cs typeface="Arial" panose="020B0604020202020204" pitchFamily="34" charset="0"/>
                <a:sym typeface="Poppins" panose="00000500000000000000"/>
              </a:rPr>
              <a:t>lỗi</a:t>
            </a:r>
            <a:r>
              <a:rPr lang="en-US" sz="2000" dirty="0">
                <a:solidFill>
                  <a:srgbClr val="1F2937"/>
                </a:solidFill>
                <a:latin typeface="Arial" panose="020B0604020202020204" pitchFamily="34" charset="0"/>
                <a:cs typeface="Arial" panose="020B0604020202020204" pitchFamily="34" charset="0"/>
                <a:sym typeface="Poppins" panose="00000500000000000000"/>
              </a:rPr>
              <a:t> </a:t>
            </a:r>
            <a:r>
              <a:rPr lang="en-US" sz="2000" dirty="0" err="1">
                <a:solidFill>
                  <a:srgbClr val="1F2937"/>
                </a:solidFill>
                <a:latin typeface="Arial" panose="020B0604020202020204" pitchFamily="34" charset="0"/>
                <a:cs typeface="Arial" panose="020B0604020202020204" pitchFamily="34" charset="0"/>
                <a:sym typeface="Poppins" panose="00000500000000000000"/>
              </a:rPr>
              <a:t>sai</a:t>
            </a:r>
            <a:r>
              <a:rPr lang="vi-VN" sz="2000" dirty="0">
                <a:solidFill>
                  <a:srgbClr val="1F2937"/>
                </a:solidFill>
                <a:latin typeface="Arial" panose="020B0604020202020204" pitchFamily="34" charset="0"/>
                <a:cs typeface="Arial" panose="020B0604020202020204" pitchFamily="34" charset="0"/>
                <a:sym typeface="Poppins" panose="00000500000000000000"/>
              </a:rPr>
              <a:t>, gợi ý lộ trình học theo điểm yếu.</a:t>
            </a:r>
          </a:p>
          <a:p>
            <a:pPr marL="457200" indent="-457200" algn="l">
              <a:lnSpc>
                <a:spcPct val="118000"/>
              </a:lnSpc>
              <a:spcBef>
                <a:spcPts val="500"/>
              </a:spcBef>
              <a:spcAft>
                <a:spcPts val="500"/>
              </a:spcAft>
              <a:buFont typeface="Arial"/>
              <a:buAutoNum type="arabicPeriod"/>
            </a:pPr>
            <a:r>
              <a:rPr lang="vi-VN" sz="2000" dirty="0">
                <a:solidFill>
                  <a:srgbClr val="1F2937"/>
                </a:solidFill>
                <a:latin typeface="Arial" panose="020B0604020202020204" pitchFamily="34" charset="0"/>
                <a:cs typeface="Arial" panose="020B0604020202020204" pitchFamily="34" charset="0"/>
                <a:sym typeface="Poppins" panose="00000500000000000000"/>
              </a:rPr>
              <a:t>Học ngoại tuyến, biểu đồ thống kê cho quản trị</a:t>
            </a:r>
            <a:r>
              <a:rPr lang="en-US" sz="2000" dirty="0">
                <a:solidFill>
                  <a:srgbClr val="1F2937"/>
                </a:solidFill>
                <a:latin typeface="Arial" panose="020B0604020202020204" pitchFamily="34" charset="0"/>
                <a:cs typeface="Arial" panose="020B0604020202020204" pitchFamily="34" charset="0"/>
                <a:sym typeface="Poppins" panose="00000500000000000000"/>
              </a:rPr>
              <a:t>.</a:t>
            </a:r>
            <a:endParaRPr lang="vi-VN" sz="2000" dirty="0">
              <a:solidFill>
                <a:srgbClr val="1F2937"/>
              </a:solidFill>
              <a:latin typeface="Arial" panose="020B0604020202020204" pitchFamily="34" charset="0"/>
              <a:cs typeface="Arial" panose="020B0604020202020204" pitchFamily="34" charset="0"/>
              <a:sym typeface="Poppins" panose="00000500000000000000"/>
            </a:endParaRPr>
          </a:p>
        </p:txBody>
      </p:sp>
      <p:grpSp>
        <p:nvGrpSpPr>
          <p:cNvPr id="2" name="Group 1">
            <a:extLst>
              <a:ext uri="{FF2B5EF4-FFF2-40B4-BE49-F238E27FC236}">
                <a16:creationId xmlns:a16="http://schemas.microsoft.com/office/drawing/2014/main" id="{22DA0C8D-49B1-90F8-1050-26C3E87E965A}"/>
              </a:ext>
            </a:extLst>
          </p:cNvPr>
          <p:cNvGrpSpPr/>
          <p:nvPr/>
        </p:nvGrpSpPr>
        <p:grpSpPr>
          <a:xfrm>
            <a:off x="1056640" y="383540"/>
            <a:ext cx="16846550" cy="782955"/>
            <a:chOff x="1664" y="604"/>
            <a:chExt cx="26530" cy="1233"/>
          </a:xfrm>
        </p:grpSpPr>
        <p:grpSp>
          <p:nvGrpSpPr>
            <p:cNvPr id="4" name="Group 3">
              <a:extLst>
                <a:ext uri="{FF2B5EF4-FFF2-40B4-BE49-F238E27FC236}">
                  <a16:creationId xmlns:a16="http://schemas.microsoft.com/office/drawing/2014/main" id="{510BD7E7-C5B6-4514-1597-BB41DD5A2F4B}"/>
                </a:ext>
              </a:extLst>
            </p:cNvPr>
            <p:cNvGrpSpPr/>
            <p:nvPr/>
          </p:nvGrpSpPr>
          <p:grpSpPr>
            <a:xfrm>
              <a:off x="25800" y="604"/>
              <a:ext cx="2394" cy="1233"/>
              <a:chOff x="8279827" y="265057"/>
              <a:chExt cx="1648297" cy="863121"/>
            </a:xfrm>
          </p:grpSpPr>
          <p:pic>
            <p:nvPicPr>
              <p:cNvPr id="23" name="Picture 22" descr="tvu">
                <a:extLst>
                  <a:ext uri="{FF2B5EF4-FFF2-40B4-BE49-F238E27FC236}">
                    <a16:creationId xmlns:a16="http://schemas.microsoft.com/office/drawing/2014/main" id="{D73EB5D5-DDC4-B0BA-5DD1-1E77D0909FA1}"/>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24" name="Picture 23" descr="A logo with a black background  Description automatically generated">
                <a:extLst>
                  <a:ext uri="{FF2B5EF4-FFF2-40B4-BE49-F238E27FC236}">
                    <a16:creationId xmlns:a16="http://schemas.microsoft.com/office/drawing/2014/main" id="{223D5E62-F3FA-9251-5F99-28F16DE08FF0}"/>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grpSp>
        <p:nvGrpSpPr>
          <p:cNvPr id="70" name="Group 69">
            <a:extLst>
              <a:ext uri="{FF2B5EF4-FFF2-40B4-BE49-F238E27FC236}">
                <a16:creationId xmlns:a16="http://schemas.microsoft.com/office/drawing/2014/main" id="{9A370A93-A8DF-386C-5105-3D5E03DB7006}"/>
              </a:ext>
            </a:extLst>
          </p:cNvPr>
          <p:cNvGrpSpPr/>
          <p:nvPr/>
        </p:nvGrpSpPr>
        <p:grpSpPr>
          <a:xfrm>
            <a:off x="-334645" y="9114790"/>
            <a:ext cx="17593945" cy="1583055"/>
            <a:chOff x="-527" y="14354"/>
            <a:chExt cx="27707" cy="2493"/>
          </a:xfrm>
        </p:grpSpPr>
        <p:grpSp>
          <p:nvGrpSpPr>
            <p:cNvPr id="5" name="Group 23">
              <a:extLst>
                <a:ext uri="{FF2B5EF4-FFF2-40B4-BE49-F238E27FC236}">
                  <a16:creationId xmlns:a16="http://schemas.microsoft.com/office/drawing/2014/main" id="{A7CF8AB7-E846-34ED-E4E3-E5E06ED98D61}"/>
                </a:ext>
              </a:extLst>
            </p:cNvPr>
            <p:cNvGrpSpPr/>
            <p:nvPr/>
          </p:nvGrpSpPr>
          <p:grpSpPr>
            <a:xfrm>
              <a:off x="-527" y="14354"/>
              <a:ext cx="27707" cy="2493"/>
              <a:chOff x="0" y="0"/>
              <a:chExt cx="4633762" cy="416940"/>
            </a:xfrm>
          </p:grpSpPr>
          <p:sp>
            <p:nvSpPr>
              <p:cNvPr id="6" name="Freeform 24">
                <a:extLst>
                  <a:ext uri="{FF2B5EF4-FFF2-40B4-BE49-F238E27FC236}">
                    <a16:creationId xmlns:a16="http://schemas.microsoft.com/office/drawing/2014/main" id="{1646CAB2-5010-0E90-068A-579D435B1E4A}"/>
                  </a:ext>
                </a:extLst>
              </p:cNvPr>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rgbClr val="4F46E5"/>
                </a:solidFill>
                <a:prstDash val="solid"/>
                <a:round/>
              </a:ln>
            </p:spPr>
            <p:txBody>
              <a:bodyPr/>
              <a:lstStyle/>
              <a:p>
                <a:endParaRPr lang="en-US" dirty="0">
                  <a:latin typeface="Arial" panose="020B0604020202020204" pitchFamily="34" charset="0"/>
                </a:endParaRPr>
              </a:p>
            </p:txBody>
          </p:sp>
          <p:sp>
            <p:nvSpPr>
              <p:cNvPr id="7" name="TextBox 25">
                <a:extLst>
                  <a:ext uri="{FF2B5EF4-FFF2-40B4-BE49-F238E27FC236}">
                    <a16:creationId xmlns:a16="http://schemas.microsoft.com/office/drawing/2014/main" id="{F8A309AB-DAA4-8966-C29F-26B8793F9DF0}"/>
                  </a:ext>
                </a:extLst>
              </p:cNvPr>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67" name="TextBox 57">
              <a:extLst>
                <a:ext uri="{FF2B5EF4-FFF2-40B4-BE49-F238E27FC236}">
                  <a16:creationId xmlns:a16="http://schemas.microsoft.com/office/drawing/2014/main" id="{890737C5-6A09-18AB-6498-59D76216A88C}"/>
                </a:ext>
              </a:extLst>
            </p:cNvPr>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68" name="TextBox 40">
              <a:extLst>
                <a:ext uri="{FF2B5EF4-FFF2-40B4-BE49-F238E27FC236}">
                  <a16:creationId xmlns:a16="http://schemas.microsoft.com/office/drawing/2014/main" id="{C08D0A26-C0E7-AB27-7D56-ED8AB8CE35FC}"/>
                </a:ext>
              </a:extLst>
            </p:cNvPr>
            <p:cNvSpPr txBox="1"/>
            <p:nvPr/>
          </p:nvSpPr>
          <p:spPr>
            <a:xfrm>
              <a:off x="24974" y="14951"/>
              <a:ext cx="1384" cy="420"/>
            </a:xfrm>
            <a:prstGeom prst="rect">
              <a:avLst/>
            </a:prstGeom>
          </p:spPr>
          <p:txBody>
            <a:bodyPr lIns="0" tIns="0" rIns="0" bIns="0" rtlCol="0" anchor="t">
              <a:spAutoFit/>
            </a:bodyPr>
            <a:lstStyle/>
            <a:p>
              <a:pPr algn="r">
                <a:lnSpc>
                  <a:spcPts val="2240"/>
                </a:lnSpc>
              </a:pPr>
              <a:r>
                <a:rPr lang="en-US"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14</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spTree>
    <p:extLst>
      <p:ext uri="{BB962C8B-B14F-4D97-AF65-F5344CB8AC3E}">
        <p14:creationId xmlns:p14="http://schemas.microsoft.com/office/powerpoint/2010/main" val="2945771163"/>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grpSp>
        <p:nvGrpSpPr>
          <p:cNvPr id="44" name="Group 43"/>
          <p:cNvGrpSpPr/>
          <p:nvPr/>
        </p:nvGrpSpPr>
        <p:grpSpPr>
          <a:xfrm>
            <a:off x="-334645" y="9114790"/>
            <a:ext cx="17593945" cy="1583055"/>
            <a:chOff x="-527" y="14354"/>
            <a:chExt cx="27707" cy="2493"/>
          </a:xfrm>
        </p:grpSpPr>
        <p:grpSp>
          <p:nvGrpSpPr>
            <p:cNvPr id="45" name="Group 23"/>
            <p:cNvGrpSpPr/>
            <p:nvPr/>
          </p:nvGrpSpPr>
          <p:grpSpPr>
            <a:xfrm>
              <a:off x="-527" y="14354"/>
              <a:ext cx="27707" cy="2493"/>
              <a:chOff x="0" y="0"/>
              <a:chExt cx="4633762" cy="416940"/>
            </a:xfrm>
          </p:grpSpPr>
          <p:sp>
            <p:nvSpPr>
              <p:cNvPr id="46"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chemeClr val="accent1"/>
                </a:solidFill>
                <a:prstDash val="solid"/>
                <a:round/>
              </a:ln>
            </p:spPr>
            <p:txBody>
              <a:bodyPr/>
              <a:lstStyle/>
              <a:p>
                <a:endParaRPr lang="en-US" dirty="0">
                  <a:latin typeface="Arial" panose="020B0604020202020204" pitchFamily="34" charset="0"/>
                </a:endParaRPr>
              </a:p>
            </p:txBody>
          </p:sp>
          <p:sp>
            <p:nvSpPr>
              <p:cNvPr id="47"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48"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49" name="TextBox 40"/>
            <p:cNvSpPr txBox="1"/>
            <p:nvPr/>
          </p:nvSpPr>
          <p:spPr>
            <a:xfrm>
              <a:off x="24974" y="14951"/>
              <a:ext cx="1384" cy="407"/>
            </a:xfrm>
            <a:prstGeom prst="rect">
              <a:avLst/>
            </a:prstGeom>
          </p:spPr>
          <p:txBody>
            <a:bodyPr lIns="0" tIns="0" rIns="0" bIns="0" rtlCol="0" anchor="t">
              <a:spAutoFit/>
            </a:bodyPr>
            <a:lstStyle/>
            <a:p>
              <a:pPr algn="r">
                <a:lnSpc>
                  <a:spcPts val="2240"/>
                </a:lnSpc>
              </a:pPr>
              <a:r>
                <a:rPr lang="en-US"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15</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sp>
        <p:nvSpPr>
          <p:cNvPr id="4" name="Text Box 3"/>
          <p:cNvSpPr txBox="1"/>
          <p:nvPr/>
        </p:nvSpPr>
        <p:spPr>
          <a:xfrm>
            <a:off x="7274560" y="2019300"/>
            <a:ext cx="2374265" cy="862737"/>
          </a:xfrm>
          <a:prstGeom prst="rect">
            <a:avLst/>
          </a:prstGeom>
          <a:noFill/>
        </p:spPr>
        <p:txBody>
          <a:bodyPr wrap="square" rtlCol="0" anchor="t">
            <a:spAutoFit/>
          </a:bodyPr>
          <a:lstStyle/>
          <a:p>
            <a:pPr algn="l">
              <a:lnSpc>
                <a:spcPts val="6365"/>
              </a:lnSpc>
            </a:pPr>
            <a:r>
              <a:rPr lang="vi-VN" altLang="en-GB" sz="5305" b="1" dirty="0">
                <a:solidFill>
                  <a:srgbClr val="242424"/>
                </a:solidFill>
                <a:latin typeface="Arial" panose="020B0604020202020204" pitchFamily="34" charset="0"/>
                <a:ea typeface="Poppins Bold" panose="00000800000000000000"/>
                <a:cs typeface="Arial" panose="020B0604020202020204" pitchFamily="34" charset="0"/>
                <a:sym typeface="Poppins Bold" panose="00000800000000000000"/>
              </a:rPr>
              <a:t>Demo</a:t>
            </a:r>
          </a:p>
        </p:txBody>
      </p:sp>
      <p:sp>
        <p:nvSpPr>
          <p:cNvPr id="39" name="TextBox 39"/>
          <p:cNvSpPr txBox="1"/>
          <p:nvPr/>
        </p:nvSpPr>
        <p:spPr>
          <a:xfrm rot="-5400000">
            <a:off x="7951755" y="6717622"/>
            <a:ext cx="178626" cy="78242"/>
          </a:xfrm>
          <a:prstGeom prst="rect">
            <a:avLst/>
          </a:prstGeom>
        </p:spPr>
        <p:txBody>
          <a:bodyPr lIns="50800" tIns="50800" rIns="50800" bIns="50800" rtlCol="0" anchor="ctr"/>
          <a:lstStyle/>
          <a:p>
            <a:pPr algn="ctr">
              <a:lnSpc>
                <a:spcPts val="2355"/>
              </a:lnSpc>
            </a:pPr>
            <a:r>
              <a:rPr lang="vi-VN"/>
              <a:t> </a:t>
            </a:r>
          </a:p>
        </p:txBody>
      </p:sp>
      <p:sp>
        <p:nvSpPr>
          <p:cNvPr id="8" name="Freeform 8" descr="3d illustration of a computer monitor"/>
          <p:cNvSpPr/>
          <p:nvPr/>
        </p:nvSpPr>
        <p:spPr>
          <a:xfrm>
            <a:off x="6629400" y="3482975"/>
            <a:ext cx="3796665" cy="3362960"/>
          </a:xfrm>
          <a:custGeom>
            <a:avLst/>
            <a:gdLst/>
            <a:ahLst/>
            <a:cxnLst/>
            <a:rect l="l" t="t" r="r" b="b"/>
            <a:pathLst>
              <a:path w="2134233" h="1890228">
                <a:moveTo>
                  <a:pt x="0" y="0"/>
                </a:moveTo>
                <a:lnTo>
                  <a:pt x="2134234" y="0"/>
                </a:lnTo>
                <a:lnTo>
                  <a:pt x="2134234" y="1890228"/>
                </a:lnTo>
                <a:lnTo>
                  <a:pt x="0" y="1890228"/>
                </a:lnTo>
                <a:lnTo>
                  <a:pt x="0" y="0"/>
                </a:lnTo>
                <a:close/>
              </a:path>
            </a:pathLst>
          </a:custGeom>
          <a:blipFill>
            <a:blip r:embed="rId2"/>
            <a:stretch>
              <a:fillRect/>
            </a:stretch>
          </a:blipFill>
        </p:spPr>
        <p:txBody>
          <a:bodyPr/>
          <a:lstStyle/>
          <a:p>
            <a:endParaRPr lang="en-US" dirty="0">
              <a:latin typeface="Arial" panose="020B0604020202020204" pitchFamily="34" charset="0"/>
            </a:endParaRPr>
          </a:p>
        </p:txBody>
      </p:sp>
      <p:grpSp>
        <p:nvGrpSpPr>
          <p:cNvPr id="5" name="Group 4">
            <a:extLst>
              <a:ext uri="{FF2B5EF4-FFF2-40B4-BE49-F238E27FC236}">
                <a16:creationId xmlns:a16="http://schemas.microsoft.com/office/drawing/2014/main" id="{31BAF928-7E9E-321A-B82D-220F147C28D7}"/>
              </a:ext>
            </a:extLst>
          </p:cNvPr>
          <p:cNvGrpSpPr/>
          <p:nvPr/>
        </p:nvGrpSpPr>
        <p:grpSpPr>
          <a:xfrm>
            <a:off x="1056640" y="383540"/>
            <a:ext cx="16846550" cy="782955"/>
            <a:chOff x="1664" y="604"/>
            <a:chExt cx="26530" cy="1233"/>
          </a:xfrm>
        </p:grpSpPr>
        <p:grpSp>
          <p:nvGrpSpPr>
            <p:cNvPr id="7" name="Group 6">
              <a:extLst>
                <a:ext uri="{FF2B5EF4-FFF2-40B4-BE49-F238E27FC236}">
                  <a16:creationId xmlns:a16="http://schemas.microsoft.com/office/drawing/2014/main" id="{9206660A-11CF-C72B-3F80-02629D8CF866}"/>
                </a:ext>
              </a:extLst>
            </p:cNvPr>
            <p:cNvGrpSpPr/>
            <p:nvPr/>
          </p:nvGrpSpPr>
          <p:grpSpPr>
            <a:xfrm>
              <a:off x="25800" y="604"/>
              <a:ext cx="2394" cy="1233"/>
              <a:chOff x="8279827" y="265057"/>
              <a:chExt cx="1648297" cy="863121"/>
            </a:xfrm>
          </p:grpSpPr>
          <p:pic>
            <p:nvPicPr>
              <p:cNvPr id="9" name="Picture 8" descr="tvu">
                <a:extLst>
                  <a:ext uri="{FF2B5EF4-FFF2-40B4-BE49-F238E27FC236}">
                    <a16:creationId xmlns:a16="http://schemas.microsoft.com/office/drawing/2014/main" id="{8BFDC481-7CC0-C8AF-A921-167A0E30C95D}"/>
                  </a:ext>
                </a:extLst>
              </p:cNvPr>
              <p:cNvPicPr>
                <a:picLocks noChangeAspect="1"/>
              </p:cNvPicPr>
              <p:nvPr/>
            </p:nvPicPr>
            <p:blipFill>
              <a:blip r:embed="rId3"/>
              <a:stretch>
                <a:fillRect/>
              </a:stretch>
            </p:blipFill>
            <p:spPr>
              <a:xfrm>
                <a:off x="8279827" y="265057"/>
                <a:ext cx="850479" cy="853652"/>
              </a:xfrm>
              <a:prstGeom prst="rect">
                <a:avLst/>
              </a:prstGeom>
            </p:spPr>
          </p:pic>
          <p:pic>
            <p:nvPicPr>
              <p:cNvPr id="10" name="Picture 9" descr="A logo with a black background  Description automatically generated">
                <a:extLst>
                  <a:ext uri="{FF2B5EF4-FFF2-40B4-BE49-F238E27FC236}">
                    <a16:creationId xmlns:a16="http://schemas.microsoft.com/office/drawing/2014/main" id="{27544C5C-2C5A-4038-0B76-5881F3CC9CEB}"/>
                  </a:ext>
                </a:extLst>
              </p:cNvPr>
              <p:cNvPicPr>
                <a:picLocks noChangeAspect="1"/>
              </p:cNvPicPr>
              <p:nvPr/>
            </p:nvPicPr>
            <p:blipFill rotWithShape="1">
              <a:blip r:embed="rId4">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5" name="TextBox 25"/>
          <p:cNvSpPr txBox="1"/>
          <p:nvPr/>
        </p:nvSpPr>
        <p:spPr>
          <a:xfrm>
            <a:off x="834977" y="3418547"/>
            <a:ext cx="16868861" cy="1204945"/>
          </a:xfrm>
          <a:prstGeom prst="rect">
            <a:avLst/>
          </a:prstGeom>
        </p:spPr>
        <p:txBody>
          <a:bodyPr wrap="square" lIns="0" tIns="0" rIns="0" bIns="0" rtlCol="0" anchor="t">
            <a:spAutoFit/>
          </a:bodyPr>
          <a:lstStyle/>
          <a:p>
            <a:pPr algn="ctr">
              <a:lnSpc>
                <a:spcPts val="10000"/>
              </a:lnSpc>
            </a:pPr>
            <a:r>
              <a:rPr lang="vi-VN" altLang="en-US" sz="8330" b="1" dirty="0">
                <a:solidFill>
                  <a:srgbClr val="242424"/>
                </a:solidFill>
                <a:latin typeface="Arial" panose="020B0604020202020204" pitchFamily="34" charset="0"/>
                <a:ea typeface="Poppins Bold" panose="00000800000000000000"/>
                <a:cs typeface="Arial" panose="020B0604020202020204" pitchFamily="34" charset="0"/>
                <a:sym typeface="Poppins Bold" panose="00000800000000000000"/>
              </a:rPr>
              <a:t>Cảm ơn</a:t>
            </a:r>
          </a:p>
        </p:txBody>
      </p:sp>
      <p:sp>
        <p:nvSpPr>
          <p:cNvPr id="26" name="TextBox 26"/>
          <p:cNvSpPr txBox="1"/>
          <p:nvPr/>
        </p:nvSpPr>
        <p:spPr>
          <a:xfrm>
            <a:off x="927687" y="4856608"/>
            <a:ext cx="16776151" cy="282129"/>
          </a:xfrm>
          <a:prstGeom prst="rect">
            <a:avLst/>
          </a:prstGeom>
        </p:spPr>
        <p:txBody>
          <a:bodyPr wrap="square" lIns="0" tIns="0" rIns="0" bIns="0" rtlCol="0" anchor="t">
            <a:spAutoFit/>
          </a:bodyPr>
          <a:lstStyle/>
          <a:p>
            <a:pPr algn="ctr">
              <a:lnSpc>
                <a:spcPts val="2220"/>
              </a:lnSpc>
            </a:pPr>
            <a:r>
              <a:rPr lang="vi-VN" altLang="en-US" sz="2000" dirty="0">
                <a:solidFill>
                  <a:srgbClr val="242424"/>
                </a:solidFill>
                <a:latin typeface="Arial" panose="020B0604020202020204" pitchFamily="34" charset="0"/>
                <a:ea typeface="Poppins" panose="00000500000000000000"/>
                <a:cs typeface="Arial" panose="020B0604020202020204" pitchFamily="34" charset="0"/>
                <a:sym typeface="Poppins" panose="00000500000000000000"/>
              </a:rPr>
              <a:t>Cảm ơn Thầy và các bạn đã lắng nghe.</a:t>
            </a:r>
          </a:p>
        </p:txBody>
      </p:sp>
      <p:grpSp>
        <p:nvGrpSpPr>
          <p:cNvPr id="59" name="Group 58"/>
          <p:cNvGrpSpPr/>
          <p:nvPr/>
        </p:nvGrpSpPr>
        <p:grpSpPr>
          <a:xfrm>
            <a:off x="-334646" y="9114790"/>
            <a:ext cx="17545051" cy="1583055"/>
            <a:chOff x="-527" y="14354"/>
            <a:chExt cx="27707" cy="2493"/>
          </a:xfrm>
        </p:grpSpPr>
        <p:grpSp>
          <p:nvGrpSpPr>
            <p:cNvPr id="60" name="Group 23"/>
            <p:cNvGrpSpPr/>
            <p:nvPr/>
          </p:nvGrpSpPr>
          <p:grpSpPr>
            <a:xfrm>
              <a:off x="-527" y="14354"/>
              <a:ext cx="27707" cy="2493"/>
              <a:chOff x="0" y="0"/>
              <a:chExt cx="4633762" cy="416940"/>
            </a:xfrm>
          </p:grpSpPr>
          <p:sp>
            <p:nvSpPr>
              <p:cNvPr id="61" name="Freeform 24"/>
              <p:cNvSpPr/>
              <p:nvPr/>
            </p:nvSpPr>
            <p:spPr>
              <a:xfrm>
                <a:off x="0" y="0"/>
                <a:ext cx="4633762" cy="416940"/>
              </a:xfrm>
              <a:custGeom>
                <a:avLst/>
                <a:gdLst/>
                <a:ahLst/>
                <a:cxnLst/>
                <a:rect l="l" t="t" r="r" b="b"/>
                <a:pathLst>
                  <a:path w="4633762" h="416940">
                    <a:moveTo>
                      <a:pt x="14961" y="0"/>
                    </a:moveTo>
                    <a:lnTo>
                      <a:pt x="4618801" y="0"/>
                    </a:lnTo>
                    <a:cubicBezTo>
                      <a:pt x="4627063" y="0"/>
                      <a:pt x="4633762" y="6698"/>
                      <a:pt x="4633762" y="14961"/>
                    </a:cubicBezTo>
                    <a:lnTo>
                      <a:pt x="4633762" y="401979"/>
                    </a:lnTo>
                    <a:cubicBezTo>
                      <a:pt x="4633762" y="405947"/>
                      <a:pt x="4632185" y="409752"/>
                      <a:pt x="4629380" y="412558"/>
                    </a:cubicBezTo>
                    <a:cubicBezTo>
                      <a:pt x="4626574" y="415364"/>
                      <a:pt x="4622769" y="416940"/>
                      <a:pt x="4618801" y="416940"/>
                    </a:cubicBezTo>
                    <a:lnTo>
                      <a:pt x="14961" y="416940"/>
                    </a:lnTo>
                    <a:cubicBezTo>
                      <a:pt x="10993" y="416940"/>
                      <a:pt x="7188" y="415364"/>
                      <a:pt x="4382" y="412558"/>
                    </a:cubicBezTo>
                    <a:cubicBezTo>
                      <a:pt x="1576" y="409752"/>
                      <a:pt x="0" y="405947"/>
                      <a:pt x="0" y="401979"/>
                    </a:cubicBezTo>
                    <a:lnTo>
                      <a:pt x="0" y="14961"/>
                    </a:lnTo>
                    <a:cubicBezTo>
                      <a:pt x="0" y="10993"/>
                      <a:pt x="1576" y="7188"/>
                      <a:pt x="4382" y="4382"/>
                    </a:cubicBezTo>
                    <a:cubicBezTo>
                      <a:pt x="7188" y="1576"/>
                      <a:pt x="10993" y="0"/>
                      <a:pt x="14961" y="0"/>
                    </a:cubicBezTo>
                    <a:close/>
                  </a:path>
                </a:pathLst>
              </a:custGeom>
              <a:solidFill>
                <a:srgbClr val="4F46E5"/>
              </a:solidFill>
              <a:ln w="9525" cap="rnd">
                <a:solidFill>
                  <a:schemeClr val="accent1"/>
                </a:solidFill>
                <a:prstDash val="solid"/>
                <a:round/>
              </a:ln>
            </p:spPr>
            <p:txBody>
              <a:bodyPr/>
              <a:lstStyle/>
              <a:p>
                <a:endParaRPr lang="en-US" dirty="0">
                  <a:latin typeface="Arial" panose="020B0604020202020204" pitchFamily="34" charset="0"/>
                </a:endParaRPr>
              </a:p>
            </p:txBody>
          </p:sp>
          <p:sp>
            <p:nvSpPr>
              <p:cNvPr id="62" name="TextBox 25"/>
              <p:cNvSpPr txBox="1"/>
              <p:nvPr/>
            </p:nvSpPr>
            <p:spPr>
              <a:xfrm>
                <a:off x="0" y="-57150"/>
                <a:ext cx="4633762" cy="474090"/>
              </a:xfrm>
              <a:prstGeom prst="rect">
                <a:avLst/>
              </a:prstGeom>
            </p:spPr>
            <p:txBody>
              <a:bodyPr lIns="50800" tIns="50800" rIns="50800" bIns="50800" rtlCol="0" anchor="ctr"/>
              <a:lstStyle/>
              <a:p>
                <a:pPr algn="ctr">
                  <a:lnSpc>
                    <a:spcPts val="2355"/>
                  </a:lnSpc>
                </a:pPr>
                <a:endParaRPr dirty="0">
                  <a:latin typeface="Arial" panose="020B0604020202020204" pitchFamily="34" charset="0"/>
                </a:endParaRPr>
              </a:p>
            </p:txBody>
          </p:sp>
        </p:grpSp>
        <p:sp>
          <p:nvSpPr>
            <p:cNvPr id="63" name="TextBox 57"/>
            <p:cNvSpPr txBox="1"/>
            <p:nvPr/>
          </p:nvSpPr>
          <p:spPr>
            <a:xfrm>
              <a:off x="1620" y="14951"/>
              <a:ext cx="14675" cy="387"/>
            </a:xfrm>
            <a:prstGeom prst="rect">
              <a:avLst/>
            </a:prstGeom>
          </p:spPr>
          <p:txBody>
            <a:bodyPr wrap="square" lIns="0" tIns="0" rIns="0" bIns="0" rtlCol="0" anchor="t">
              <a:spAutoFit/>
            </a:bodyPr>
            <a:lstStyle/>
            <a:p>
              <a:pPr algn="l">
                <a:lnSpc>
                  <a:spcPct val="100000"/>
                </a:lnSpc>
              </a:pPr>
              <a:r>
                <a:rPr lang="vi-VN" altLang="en-US" sz="1600" dirty="0">
                  <a:solidFill>
                    <a:schemeClr val="bg1"/>
                  </a:solidFill>
                  <a:latin typeface="Arial" panose="020B0604020202020204" pitchFamily="34" charset="0"/>
                  <a:ea typeface="Poppins Bold" panose="00000800000000000000"/>
                  <a:cs typeface="Arial" panose="020B0604020202020204" pitchFamily="34" charset="0"/>
                  <a:sym typeface="Poppins Bold" panose="00000800000000000000"/>
                </a:rPr>
                <a:t>Ứng dụng hỗ trợ dạy học tiếng Việt với trí tuệ nhân tạo</a:t>
              </a:r>
            </a:p>
          </p:txBody>
        </p:sp>
        <p:sp>
          <p:nvSpPr>
            <p:cNvPr id="64" name="TextBox 40"/>
            <p:cNvSpPr txBox="1"/>
            <p:nvPr/>
          </p:nvSpPr>
          <p:spPr>
            <a:xfrm>
              <a:off x="24974" y="14951"/>
              <a:ext cx="1384" cy="407"/>
            </a:xfrm>
            <a:prstGeom prst="rect">
              <a:avLst/>
            </a:prstGeom>
          </p:spPr>
          <p:txBody>
            <a:bodyPr lIns="0" tIns="0" rIns="0" bIns="0" rtlCol="0" anchor="t">
              <a:spAutoFit/>
            </a:bodyPr>
            <a:lstStyle/>
            <a:p>
              <a:pPr algn="r">
                <a:lnSpc>
                  <a:spcPts val="2240"/>
                </a:lnSpc>
              </a:pPr>
              <a:r>
                <a:rPr lang="en-US"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rPr>
                <a:t>16</a:t>
              </a:r>
              <a:endParaRPr lang="vi-VN" altLang="en-US" sz="1600" dirty="0">
                <a:solidFill>
                  <a:schemeClr val="bg1"/>
                </a:solidFill>
                <a:latin typeface="Arial" panose="020B0604020202020204" pitchFamily="34" charset="0"/>
                <a:ea typeface="Poppins" panose="00000500000000000000"/>
                <a:cs typeface="Arial" panose="020B0604020202020204" pitchFamily="34" charset="0"/>
                <a:sym typeface="Poppins" panose="00000500000000000000"/>
              </a:endParaRPr>
            </a:p>
          </p:txBody>
        </p:sp>
      </p:grpSp>
      <p:grpSp>
        <p:nvGrpSpPr>
          <p:cNvPr id="2" name="Group 1">
            <a:extLst>
              <a:ext uri="{FF2B5EF4-FFF2-40B4-BE49-F238E27FC236}">
                <a16:creationId xmlns:a16="http://schemas.microsoft.com/office/drawing/2014/main" id="{A104C16C-5B43-2A00-24F2-EA42292D9D39}"/>
              </a:ext>
            </a:extLst>
          </p:cNvPr>
          <p:cNvGrpSpPr/>
          <p:nvPr/>
        </p:nvGrpSpPr>
        <p:grpSpPr>
          <a:xfrm>
            <a:off x="1056640" y="383540"/>
            <a:ext cx="16846550" cy="782955"/>
            <a:chOff x="1664" y="604"/>
            <a:chExt cx="26530" cy="1233"/>
          </a:xfrm>
        </p:grpSpPr>
        <p:grpSp>
          <p:nvGrpSpPr>
            <p:cNvPr id="4" name="Group 3">
              <a:extLst>
                <a:ext uri="{FF2B5EF4-FFF2-40B4-BE49-F238E27FC236}">
                  <a16:creationId xmlns:a16="http://schemas.microsoft.com/office/drawing/2014/main" id="{6321CAE9-9B0F-CD26-A55E-3A93D6884C92}"/>
                </a:ext>
              </a:extLst>
            </p:cNvPr>
            <p:cNvGrpSpPr/>
            <p:nvPr/>
          </p:nvGrpSpPr>
          <p:grpSpPr>
            <a:xfrm>
              <a:off x="25800" y="604"/>
              <a:ext cx="2394" cy="1233"/>
              <a:chOff x="8279827" y="265057"/>
              <a:chExt cx="1648297" cy="863121"/>
            </a:xfrm>
          </p:grpSpPr>
          <p:pic>
            <p:nvPicPr>
              <p:cNvPr id="5" name="Picture 4" descr="tvu">
                <a:extLst>
                  <a:ext uri="{FF2B5EF4-FFF2-40B4-BE49-F238E27FC236}">
                    <a16:creationId xmlns:a16="http://schemas.microsoft.com/office/drawing/2014/main" id="{BEB51FDA-44AE-D097-BE14-621806F65B9C}"/>
                  </a:ext>
                </a:extLst>
              </p:cNvPr>
              <p:cNvPicPr>
                <a:picLocks noChangeAspect="1"/>
              </p:cNvPicPr>
              <p:nvPr/>
            </p:nvPicPr>
            <p:blipFill>
              <a:blip r:embed="rId2"/>
              <a:stretch>
                <a:fillRect/>
              </a:stretch>
            </p:blipFill>
            <p:spPr>
              <a:xfrm>
                <a:off x="8279827" y="265057"/>
                <a:ext cx="850479" cy="853652"/>
              </a:xfrm>
              <a:prstGeom prst="rect">
                <a:avLst/>
              </a:prstGeom>
            </p:spPr>
          </p:pic>
          <p:pic>
            <p:nvPicPr>
              <p:cNvPr id="6" name="Picture 5" descr="A logo with a black background  Description automatically generated">
                <a:extLst>
                  <a:ext uri="{FF2B5EF4-FFF2-40B4-BE49-F238E27FC236}">
                    <a16:creationId xmlns:a16="http://schemas.microsoft.com/office/drawing/2014/main" id="{C4E192E2-8875-0524-512A-C70A7F5AA6D1}"/>
                  </a:ext>
                </a:extLst>
              </p:cNvPr>
              <p:cNvPicPr>
                <a:picLocks noChangeAspect="1"/>
              </p:cNvPicPr>
              <p:nvPr/>
            </p:nvPicPr>
            <p:blipFill rotWithShape="1">
              <a:blip r:embed="rId3">
                <a:extLst>
                  <a:ext uri="{28A0092B-C50C-407E-A947-70E740481C1C}">
                    <a14:useLocalDpi xmlns:a14="http://schemas.microsoft.com/office/drawing/2010/main" val="0"/>
                  </a:ext>
                </a:extLst>
              </a:blip>
              <a:srcRect t="7017" b="4852"/>
              <a:stretch>
                <a:fillRect/>
              </a:stretch>
            </p:blipFill>
            <p:spPr>
              <a:xfrm>
                <a:off x="9144000" y="274526"/>
                <a:ext cx="784124" cy="853652"/>
              </a:xfrm>
              <a:prstGeom prst="rect">
                <a:avLst/>
              </a:prstGeom>
            </p:spPr>
          </p:pic>
        </p:grpSp>
      </p:gr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F46E5"/>
      </a:accent1>
      <a:accent2>
        <a:srgbClr val="ED7D31"/>
      </a:accent2>
      <a:accent3>
        <a:srgbClr val="A5A5A5"/>
      </a:accent3>
      <a:accent4>
        <a:srgbClr val="FFC000"/>
      </a:accent4>
      <a:accent5>
        <a:srgbClr val="4F46E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F46E5"/>
      </a:accent1>
      <a:accent2>
        <a:srgbClr val="ED7D31"/>
      </a:accent2>
      <a:accent3>
        <a:srgbClr val="A5A5A5"/>
      </a:accent3>
      <a:accent4>
        <a:srgbClr val="FFC000"/>
      </a:accent4>
      <a:accent5>
        <a:srgbClr val="4F46E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320</TotalTime>
  <Words>1812</Words>
  <Application>Microsoft Office PowerPoint</Application>
  <PresentationFormat>Custom</PresentationFormat>
  <Paragraphs>136</Paragraphs>
  <Slides>16</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Tomi Sakae</cp:lastModifiedBy>
  <cp:revision>342</cp:revision>
  <dcterms:created xsi:type="dcterms:W3CDTF">2006-08-16T00:00:00Z</dcterms:created>
  <dcterms:modified xsi:type="dcterms:W3CDTF">2026-07-07T03:51:48Z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A74E385F96EA4A34BC3B6B617110F23A_13</vt:lpwstr>
  </property>
  <property fmtid="{D5CDD505-2E9C-101B-9397-08002B2CF9AE}" pid="3" name="KSOProductBuildVer">
    <vt:lpwstr>2057-12.2.0.19805</vt:lpwstr>
  </property>
</Properties>
</file>